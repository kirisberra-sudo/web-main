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9"/>
  </p:notesMasterIdLst>
  <p:handoutMasterIdLst>
    <p:handoutMasterId r:id="rId30"/>
  </p:handoutMasterIdLst>
  <p:sldIdLst>
    <p:sldId id="534" r:id="rId2"/>
    <p:sldId id="629" r:id="rId3"/>
    <p:sldId id="665" r:id="rId4"/>
    <p:sldId id="666" r:id="rId5"/>
    <p:sldId id="630" r:id="rId6"/>
    <p:sldId id="667" r:id="rId7"/>
    <p:sldId id="668" r:id="rId8"/>
    <p:sldId id="631" r:id="rId9"/>
    <p:sldId id="632" r:id="rId10"/>
    <p:sldId id="633" r:id="rId11"/>
    <p:sldId id="669" r:id="rId12"/>
    <p:sldId id="670" r:id="rId13"/>
    <p:sldId id="634" r:id="rId14"/>
    <p:sldId id="635" r:id="rId15"/>
    <p:sldId id="636" r:id="rId16"/>
    <p:sldId id="637" r:id="rId17"/>
    <p:sldId id="638" r:id="rId18"/>
    <p:sldId id="639" r:id="rId19"/>
    <p:sldId id="671" r:id="rId20"/>
    <p:sldId id="683" r:id="rId21"/>
    <p:sldId id="684" r:id="rId22"/>
    <p:sldId id="688" r:id="rId23"/>
    <p:sldId id="689" r:id="rId24"/>
    <p:sldId id="685" r:id="rId25"/>
    <p:sldId id="690" r:id="rId26"/>
    <p:sldId id="691" r:id="rId27"/>
    <p:sldId id="692" r:id="rId28"/>
  </p:sldIdLst>
  <p:sldSz cx="9144000" cy="6858000" type="screen4x3"/>
  <p:notesSz cx="6858000" cy="9296400"/>
  <p:defaultTextStyle>
    <a:defPPr>
      <a:defRPr lang="en-US"/>
    </a:defPPr>
    <a:lvl1pPr algn="ctr" rtl="0" eaLnBrk="0" fontAlgn="base" hangingPunct="0">
      <a:spcBef>
        <a:spcPct val="50000"/>
      </a:spcBef>
      <a:spcAft>
        <a:spcPct val="0"/>
      </a:spcAft>
      <a:defRPr sz="4000" kern="1200">
        <a:solidFill>
          <a:schemeClr val="bg1"/>
        </a:solidFill>
        <a:latin typeface="Arial" charset="-94"/>
        <a:ea typeface="ＭＳ Ｐゴシック" charset="-128"/>
        <a:cs typeface="+mn-cs"/>
      </a:defRPr>
    </a:lvl1pPr>
    <a:lvl2pPr marL="457200" algn="ctr" rtl="0" eaLnBrk="0" fontAlgn="base" hangingPunct="0">
      <a:spcBef>
        <a:spcPct val="50000"/>
      </a:spcBef>
      <a:spcAft>
        <a:spcPct val="0"/>
      </a:spcAft>
      <a:defRPr sz="4000" kern="1200">
        <a:solidFill>
          <a:schemeClr val="bg1"/>
        </a:solidFill>
        <a:latin typeface="Arial" charset="-94"/>
        <a:ea typeface="ＭＳ Ｐゴシック" charset="-128"/>
        <a:cs typeface="+mn-cs"/>
      </a:defRPr>
    </a:lvl2pPr>
    <a:lvl3pPr marL="914400" algn="ctr" rtl="0" eaLnBrk="0" fontAlgn="base" hangingPunct="0">
      <a:spcBef>
        <a:spcPct val="50000"/>
      </a:spcBef>
      <a:spcAft>
        <a:spcPct val="0"/>
      </a:spcAft>
      <a:defRPr sz="4000" kern="1200">
        <a:solidFill>
          <a:schemeClr val="bg1"/>
        </a:solidFill>
        <a:latin typeface="Arial" charset="-94"/>
        <a:ea typeface="ＭＳ Ｐゴシック" charset="-128"/>
        <a:cs typeface="+mn-cs"/>
      </a:defRPr>
    </a:lvl3pPr>
    <a:lvl4pPr marL="1371600" algn="ctr" rtl="0" eaLnBrk="0" fontAlgn="base" hangingPunct="0">
      <a:spcBef>
        <a:spcPct val="50000"/>
      </a:spcBef>
      <a:spcAft>
        <a:spcPct val="0"/>
      </a:spcAft>
      <a:defRPr sz="4000" kern="1200">
        <a:solidFill>
          <a:schemeClr val="bg1"/>
        </a:solidFill>
        <a:latin typeface="Arial" charset="-94"/>
        <a:ea typeface="ＭＳ Ｐゴシック" charset="-128"/>
        <a:cs typeface="+mn-cs"/>
      </a:defRPr>
    </a:lvl4pPr>
    <a:lvl5pPr marL="1828800" algn="ctr" rtl="0" eaLnBrk="0" fontAlgn="base" hangingPunct="0">
      <a:spcBef>
        <a:spcPct val="50000"/>
      </a:spcBef>
      <a:spcAft>
        <a:spcPct val="0"/>
      </a:spcAft>
      <a:defRPr sz="4000" kern="1200">
        <a:solidFill>
          <a:schemeClr val="bg1"/>
        </a:solidFill>
        <a:latin typeface="Arial" charset="-94"/>
        <a:ea typeface="ＭＳ Ｐゴシック" charset="-128"/>
        <a:cs typeface="+mn-cs"/>
      </a:defRPr>
    </a:lvl5pPr>
    <a:lvl6pPr marL="2286000" algn="l" defTabSz="914400" rtl="0" eaLnBrk="1" latinLnBrk="0" hangingPunct="1">
      <a:defRPr sz="4000" kern="1200">
        <a:solidFill>
          <a:schemeClr val="bg1"/>
        </a:solidFill>
        <a:latin typeface="Arial" charset="-94"/>
        <a:ea typeface="ＭＳ Ｐゴシック" charset="-128"/>
        <a:cs typeface="+mn-cs"/>
      </a:defRPr>
    </a:lvl6pPr>
    <a:lvl7pPr marL="2743200" algn="l" defTabSz="914400" rtl="0" eaLnBrk="1" latinLnBrk="0" hangingPunct="1">
      <a:defRPr sz="4000" kern="1200">
        <a:solidFill>
          <a:schemeClr val="bg1"/>
        </a:solidFill>
        <a:latin typeface="Arial" charset="-94"/>
        <a:ea typeface="ＭＳ Ｐゴシック" charset="-128"/>
        <a:cs typeface="+mn-cs"/>
      </a:defRPr>
    </a:lvl7pPr>
    <a:lvl8pPr marL="3200400" algn="l" defTabSz="914400" rtl="0" eaLnBrk="1" latinLnBrk="0" hangingPunct="1">
      <a:defRPr sz="4000" kern="1200">
        <a:solidFill>
          <a:schemeClr val="bg1"/>
        </a:solidFill>
        <a:latin typeface="Arial" charset="-94"/>
        <a:ea typeface="ＭＳ Ｐゴシック" charset="-128"/>
        <a:cs typeface="+mn-cs"/>
      </a:defRPr>
    </a:lvl8pPr>
    <a:lvl9pPr marL="3657600" algn="l" defTabSz="914400" rtl="0" eaLnBrk="1" latinLnBrk="0" hangingPunct="1">
      <a:defRPr sz="4000" kern="1200">
        <a:solidFill>
          <a:schemeClr val="bg1"/>
        </a:solidFill>
        <a:latin typeface="Arial" charset="-94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12">
          <p15:clr>
            <a:srgbClr val="A4A3A4"/>
          </p15:clr>
        </p15:guide>
        <p15:guide id="2" orient="horz" pos="2880">
          <p15:clr>
            <a:srgbClr val="A4A3A4"/>
          </p15:clr>
        </p15:guide>
        <p15:guide id="3" orient="horz" pos="2256">
          <p15:clr>
            <a:srgbClr val="A4A3A4"/>
          </p15:clr>
        </p15:guide>
        <p15:guide id="4" pos="1920">
          <p15:clr>
            <a:srgbClr val="A4A3A4"/>
          </p15:clr>
        </p15:guide>
        <p15:guide id="5" pos="144">
          <p15:clr>
            <a:srgbClr val="A4A3A4"/>
          </p15:clr>
        </p15:guide>
        <p15:guide id="6" pos="556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E0C4"/>
    <a:srgbClr val="E5F0F7"/>
    <a:srgbClr val="C6D4DD"/>
    <a:srgbClr val="FFFFFF"/>
    <a:srgbClr val="FF6846"/>
    <a:srgbClr val="13F0B6"/>
    <a:srgbClr val="39FF4F"/>
    <a:srgbClr val="003366"/>
    <a:srgbClr val="FF204A"/>
    <a:srgbClr val="17FF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3296810-A885-4BE3-A3E7-6D5BEEA58F35}" styleName="Orta Stil 2 - Vurgu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Orta Stil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9641"/>
    <p:restoredTop sz="92561"/>
  </p:normalViewPr>
  <p:slideViewPr>
    <p:cSldViewPr>
      <p:cViewPr varScale="1">
        <p:scale>
          <a:sx n="104" d="100"/>
          <a:sy n="104" d="100"/>
        </p:scale>
        <p:origin x="1264" y="192"/>
      </p:cViewPr>
      <p:guideLst>
        <p:guide orient="horz" pos="912"/>
        <p:guide orient="horz" pos="2880"/>
        <p:guide orient="horz" pos="2256"/>
        <p:guide pos="1920"/>
        <p:guide pos="144"/>
        <p:guide pos="55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>
        <p:scale>
          <a:sx n="100" d="100"/>
          <a:sy n="100" d="100"/>
        </p:scale>
        <p:origin x="1752" y="-728"/>
      </p:cViewPr>
      <p:guideLst>
        <p:guide orient="horz" pos="2928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55" tIns="46477" rIns="92955" bIns="46477" numCol="1" anchor="t" anchorCtr="0" compatLnSpc="1">
            <a:prstTxWarp prst="textNoShape">
              <a:avLst/>
            </a:prstTxWarp>
          </a:bodyPr>
          <a:lstStyle>
            <a:lvl1pPr algn="l" defTabSz="928688">
              <a:defRPr sz="1200" b="1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9184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55" tIns="46477" rIns="92955" bIns="46477" numCol="1" anchor="t" anchorCtr="0" compatLnSpc="1">
            <a:prstTxWarp prst="textNoShape">
              <a:avLst/>
            </a:prstTxWarp>
          </a:bodyPr>
          <a:lstStyle>
            <a:lvl1pPr algn="r" defTabSz="928688">
              <a:defRPr sz="1200" b="1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9184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1263"/>
            <a:ext cx="2971800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55" tIns="46477" rIns="92955" bIns="46477" numCol="1" anchor="b" anchorCtr="0" compatLnSpc="1">
            <a:prstTxWarp prst="textNoShape">
              <a:avLst/>
            </a:prstTxWarp>
          </a:bodyPr>
          <a:lstStyle>
            <a:lvl1pPr algn="l" defTabSz="928688">
              <a:defRPr sz="1200" b="1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9184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831263"/>
            <a:ext cx="2971800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55" tIns="46477" rIns="92955" bIns="46477" numCol="1" anchor="b" anchorCtr="0" compatLnSpc="1">
            <a:prstTxWarp prst="textNoShape">
              <a:avLst/>
            </a:prstTxWarp>
          </a:bodyPr>
          <a:lstStyle>
            <a:lvl1pPr algn="r" defTabSz="928688">
              <a:defRPr sz="1200" b="1"/>
            </a:lvl1pPr>
          </a:lstStyle>
          <a:p>
            <a:fld id="{91518750-F457-B341-9F07-6B957F51EBDC}" type="slidenum">
              <a:rPr lang="en-US" altLang="tr-TR"/>
              <a:pPr/>
              <a:t>‹#›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54632613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55" tIns="46477" rIns="92955" bIns="46477" numCol="1" anchor="t" anchorCtr="0" compatLnSpc="1">
            <a:prstTxWarp prst="textNoShape">
              <a:avLst/>
            </a:prstTxWarp>
          </a:bodyPr>
          <a:lstStyle>
            <a:lvl1pPr algn="l" defTabSz="928688">
              <a:defRPr sz="1200" b="1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48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55" tIns="46477" rIns="92955" bIns="46477" numCol="1" anchor="t" anchorCtr="0" compatLnSpc="1">
            <a:prstTxWarp prst="textNoShape">
              <a:avLst/>
            </a:prstTxWarp>
          </a:bodyPr>
          <a:lstStyle>
            <a:lvl1pPr algn="r" defTabSz="928688">
              <a:defRPr sz="1200" b="1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049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648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2813" y="4416425"/>
            <a:ext cx="5032375" cy="418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55" tIns="46477" rIns="92955" bIns="4647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648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1263"/>
            <a:ext cx="2971800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55" tIns="46477" rIns="92955" bIns="46477" numCol="1" anchor="b" anchorCtr="0" compatLnSpc="1">
            <a:prstTxWarp prst="textNoShape">
              <a:avLst/>
            </a:prstTxWarp>
          </a:bodyPr>
          <a:lstStyle>
            <a:lvl1pPr algn="l" defTabSz="928688">
              <a:defRPr sz="1200" b="1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48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831263"/>
            <a:ext cx="2971800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55" tIns="46477" rIns="92955" bIns="46477" numCol="1" anchor="b" anchorCtr="0" compatLnSpc="1">
            <a:prstTxWarp prst="textNoShape">
              <a:avLst/>
            </a:prstTxWarp>
          </a:bodyPr>
          <a:lstStyle>
            <a:lvl1pPr algn="r" defTabSz="928688">
              <a:defRPr sz="1200" b="1"/>
            </a:lvl1pPr>
          </a:lstStyle>
          <a:p>
            <a:fld id="{5AD73B75-5514-634D-93C0-7FBBD93E1B6E}" type="slidenum">
              <a:rPr lang="en-US" altLang="tr-TR"/>
              <a:pPr/>
              <a:t>‹#›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200147142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-110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-110" charset="0"/>
        <a:ea typeface="ＭＳ Ｐゴシック" pitchFamily="-110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-110" charset="0"/>
        <a:ea typeface="ＭＳ Ｐゴシック" pitchFamily="-110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-110" charset="0"/>
        <a:ea typeface="ＭＳ Ｐゴシック" pitchFamily="-110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-110" charset="0"/>
        <a:ea typeface="ＭＳ Ｐゴシック" pitchFamily="-110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>
              <a:defRPr sz="4000">
                <a:solidFill>
                  <a:schemeClr val="bg1"/>
                </a:solidFill>
                <a:latin typeface="Arial" charset="-94"/>
                <a:ea typeface="ＭＳ Ｐゴシック" charset="-128"/>
              </a:defRPr>
            </a:lvl1pPr>
            <a:lvl2pPr marL="742950" indent="-285750" defTabSz="928688">
              <a:defRPr sz="4000">
                <a:solidFill>
                  <a:schemeClr val="bg1"/>
                </a:solidFill>
                <a:latin typeface="Arial" charset="-94"/>
                <a:ea typeface="ＭＳ Ｐゴシック" charset="-128"/>
              </a:defRPr>
            </a:lvl2pPr>
            <a:lvl3pPr marL="1143000" indent="-228600" defTabSz="928688">
              <a:defRPr sz="4000">
                <a:solidFill>
                  <a:schemeClr val="bg1"/>
                </a:solidFill>
                <a:latin typeface="Arial" charset="-94"/>
                <a:ea typeface="ＭＳ Ｐゴシック" charset="-128"/>
              </a:defRPr>
            </a:lvl3pPr>
            <a:lvl4pPr marL="1600200" indent="-228600" defTabSz="928688">
              <a:defRPr sz="4000">
                <a:solidFill>
                  <a:schemeClr val="bg1"/>
                </a:solidFill>
                <a:latin typeface="Arial" charset="-94"/>
                <a:ea typeface="ＭＳ Ｐゴシック" charset="-128"/>
              </a:defRPr>
            </a:lvl4pPr>
            <a:lvl5pPr marL="2057400" indent="-228600" defTabSz="928688">
              <a:defRPr sz="4000">
                <a:solidFill>
                  <a:schemeClr val="bg1"/>
                </a:solidFill>
                <a:latin typeface="Arial" charset="-94"/>
                <a:ea typeface="ＭＳ Ｐゴシック" charset="-128"/>
              </a:defRPr>
            </a:lvl5pPr>
            <a:lvl6pPr marL="2514600" indent="-228600" algn="ctr" defTabSz="928688" eaLnBrk="0" fontAlgn="base" hangingPunct="0">
              <a:spcBef>
                <a:spcPct val="5000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Arial" charset="-94"/>
                <a:ea typeface="ＭＳ Ｐゴシック" charset="-128"/>
              </a:defRPr>
            </a:lvl6pPr>
            <a:lvl7pPr marL="2971800" indent="-228600" algn="ctr" defTabSz="928688" eaLnBrk="0" fontAlgn="base" hangingPunct="0">
              <a:spcBef>
                <a:spcPct val="5000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Arial" charset="-94"/>
                <a:ea typeface="ＭＳ Ｐゴシック" charset="-128"/>
              </a:defRPr>
            </a:lvl7pPr>
            <a:lvl8pPr marL="3429000" indent="-228600" algn="ctr" defTabSz="928688" eaLnBrk="0" fontAlgn="base" hangingPunct="0">
              <a:spcBef>
                <a:spcPct val="5000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Arial" charset="-94"/>
                <a:ea typeface="ＭＳ Ｐゴシック" charset="-128"/>
              </a:defRPr>
            </a:lvl8pPr>
            <a:lvl9pPr marL="3886200" indent="-228600" algn="ctr" defTabSz="928688" eaLnBrk="0" fontAlgn="base" hangingPunct="0">
              <a:spcBef>
                <a:spcPct val="5000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Arial" charset="-94"/>
                <a:ea typeface="ＭＳ Ｐゴシック" charset="-128"/>
              </a:defRPr>
            </a:lvl9pPr>
          </a:lstStyle>
          <a:p>
            <a:fld id="{16030AE9-2274-E442-908D-5F5AD7F6653C}" type="slidenum">
              <a:rPr lang="en-US" altLang="tr-TR" sz="1200"/>
              <a:pPr/>
              <a:t>1</a:t>
            </a:fld>
            <a:endParaRPr lang="en-US" altLang="tr-TR" sz="1200"/>
          </a:p>
        </p:txBody>
      </p:sp>
      <p:sp>
        <p:nvSpPr>
          <p:cNvPr id="51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89025" y="682625"/>
            <a:ext cx="4667250" cy="3500438"/>
          </a:xfrm>
          <a:ln/>
        </p:spPr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3763" y="4413250"/>
            <a:ext cx="5059362" cy="41878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tr-TR" altLang="tr-TR">
              <a:latin typeface="Times" charset="-94"/>
            </a:endParaRPr>
          </a:p>
        </p:txBody>
      </p:sp>
    </p:spTree>
    <p:extLst>
      <p:ext uri="{BB962C8B-B14F-4D97-AF65-F5344CB8AC3E}">
        <p14:creationId xmlns:p14="http://schemas.microsoft.com/office/powerpoint/2010/main" val="16108272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D73B75-5514-634D-93C0-7FBBD93E1B6E}" type="slidenum">
              <a:rPr lang="en-US" altLang="tr-TR" smtClean="0"/>
              <a:pPr/>
              <a:t>2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41062716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D73B75-5514-634D-93C0-7FBBD93E1B6E}" type="slidenum">
              <a:rPr lang="en-US" altLang="tr-TR" smtClean="0"/>
              <a:pPr/>
              <a:t>3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30542002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D73B75-5514-634D-93C0-7FBBD93E1B6E}" type="slidenum">
              <a:rPr lang="en-US" altLang="tr-TR" smtClean="0"/>
              <a:pPr/>
              <a:t>4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36249727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D73B75-5514-634D-93C0-7FBBD93E1B6E}" type="slidenum">
              <a:rPr lang="en-US" altLang="tr-TR" smtClean="0"/>
              <a:pPr/>
              <a:t>5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19785703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D73B75-5514-634D-93C0-7FBBD93E1B6E}" type="slidenum">
              <a:rPr lang="en-US" altLang="tr-TR" smtClean="0"/>
              <a:pPr/>
              <a:t>6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15957349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D73B75-5514-634D-93C0-7FBBD93E1B6E}" type="slidenum">
              <a:rPr lang="en-US" altLang="tr-TR" smtClean="0"/>
              <a:pPr/>
              <a:t>7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4342447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D73B75-5514-634D-93C0-7FBBD93E1B6E}" type="slidenum">
              <a:rPr lang="en-US" altLang="tr-TR" smtClean="0"/>
              <a:pPr/>
              <a:t>8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41874983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D73B75-5514-634D-93C0-7FBBD93E1B6E}" type="slidenum">
              <a:rPr lang="en-US" altLang="tr-TR" smtClean="0"/>
              <a:pPr/>
              <a:t>9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29213915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D73B75-5514-634D-93C0-7FBBD93E1B6E}" type="slidenum">
              <a:rPr lang="en-US" altLang="tr-TR" smtClean="0"/>
              <a:pPr/>
              <a:t>10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24508158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D73B75-5514-634D-93C0-7FBBD93E1B6E}" type="slidenum">
              <a:rPr lang="en-US" altLang="tr-TR" smtClean="0"/>
              <a:pPr/>
              <a:t>11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34959446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D73B75-5514-634D-93C0-7FBBD93E1B6E}" type="slidenum">
              <a:rPr lang="en-US" altLang="tr-TR" smtClean="0"/>
              <a:pPr/>
              <a:t>12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6077415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D73B75-5514-634D-93C0-7FBBD93E1B6E}" type="slidenum">
              <a:rPr lang="en-US" altLang="tr-TR" smtClean="0"/>
              <a:pPr/>
              <a:t>13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84800271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D73B75-5514-634D-93C0-7FBBD93E1B6E}" type="slidenum">
              <a:rPr lang="en-US" altLang="tr-TR" smtClean="0"/>
              <a:pPr/>
              <a:t>14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193272148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D73B75-5514-634D-93C0-7FBBD93E1B6E}" type="slidenum">
              <a:rPr lang="en-US" altLang="tr-TR" smtClean="0"/>
              <a:pPr/>
              <a:t>15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389654418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D73B75-5514-634D-93C0-7FBBD93E1B6E}" type="slidenum">
              <a:rPr lang="en-US" altLang="tr-TR" smtClean="0"/>
              <a:pPr/>
              <a:t>16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398479435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D73B75-5514-634D-93C0-7FBBD93E1B6E}" type="slidenum">
              <a:rPr lang="en-US" altLang="tr-TR" smtClean="0"/>
              <a:pPr/>
              <a:t>17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186763684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D73B75-5514-634D-93C0-7FBBD93E1B6E}" type="slidenum">
              <a:rPr lang="en-US" altLang="tr-TR" smtClean="0"/>
              <a:pPr/>
              <a:t>18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176932140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D73B75-5514-634D-93C0-7FBBD93E1B6E}" type="slidenum">
              <a:rPr lang="en-US" altLang="tr-TR" smtClean="0"/>
              <a:pPr/>
              <a:t>19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36082307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D73B75-5514-634D-93C0-7FBBD93E1B6E}" type="slidenum">
              <a:rPr lang="en-US" altLang="tr-TR" smtClean="0"/>
              <a:pPr/>
              <a:t>20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87504698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D73B75-5514-634D-93C0-7FBBD93E1B6E}" type="slidenum">
              <a:rPr lang="en-US" altLang="tr-TR" smtClean="0"/>
              <a:pPr/>
              <a:t>21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299875623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FDE504-E1D7-D7E2-BEE4-4DBBDDB20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E326FB-B0FF-68CD-CB63-086EC0FBF9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5ECC40-10D9-B58B-DCD6-67A027A167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22B022-B161-4AAE-D768-D1EDAE441E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D73B75-5514-634D-93C0-7FBBD93E1B6E}" type="slidenum">
              <a:rPr lang="en-US" altLang="tr-TR" smtClean="0"/>
              <a:pPr/>
              <a:t>22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351150588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44693C-F2B0-A119-C512-2B8AF6A68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EB3C2B-8780-63C4-75CE-8FDA908E31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8D5AB3-2B07-7B12-579E-6AAC863B0A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749BB8-1C23-CB90-4A76-DAC2BEB386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D73B75-5514-634D-93C0-7FBBD93E1B6E}" type="slidenum">
              <a:rPr lang="en-US" altLang="tr-TR" smtClean="0"/>
              <a:pPr/>
              <a:t>23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14698162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D73B75-5514-634D-93C0-7FBBD93E1B6E}" type="slidenum">
              <a:rPr lang="en-US" altLang="tr-TR" smtClean="0"/>
              <a:pPr/>
              <a:t>24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78718253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7CFCAA-AF34-39C4-A451-DACAF8F5C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E859B3-F13C-28EC-2CDC-150C1C1F87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103DBA-DA3A-B755-0BE7-94ACE41492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32F4BC-221C-A278-16A7-19DCC4EB96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D73B75-5514-634D-93C0-7FBBD93E1B6E}" type="slidenum">
              <a:rPr lang="en-US" altLang="tr-TR" smtClean="0"/>
              <a:pPr/>
              <a:t>25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367202760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42D9F0-AFA0-8DD8-1AC4-C625F5BB6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31080C-0C01-4E4C-A548-3088FE960A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A7A73E-87D6-3F45-97B1-489B79A657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C1CBAE-2956-8FB6-5253-40DED3ADCD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D73B75-5514-634D-93C0-7FBBD93E1B6E}" type="slidenum">
              <a:rPr lang="en-US" altLang="tr-TR" smtClean="0"/>
              <a:pPr/>
              <a:t>26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318971510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D068F0-09ED-85F1-D583-E1E88FA2C6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A3116A-7AF4-1227-099E-ACF8CEAF97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D6E928-A0E0-A18B-AF42-025FFA8075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9FFD1D-73C3-E037-4AA1-2280B37DBC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D73B75-5514-634D-93C0-7FBBD93E1B6E}" type="slidenum">
              <a:rPr lang="en-US" altLang="tr-TR" smtClean="0"/>
              <a:pPr/>
              <a:t>27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28220591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046452"/>
            <a:ext cx="7772400" cy="553998"/>
          </a:xfrm>
        </p:spPr>
        <p:txBody>
          <a:bodyPr/>
          <a:lstStyle>
            <a:lvl1pPr>
              <a:defRPr>
                <a:solidFill>
                  <a:srgbClr val="FF4342"/>
                </a:solidFill>
                <a:latin typeface="Tahoma" charset="0"/>
                <a:ea typeface="Tahoma" charset="0"/>
                <a:cs typeface="Tahoma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  <a:latin typeface="Tahoma" charset="0"/>
                <a:ea typeface="Tahoma" charset="0"/>
                <a:cs typeface="Tahoma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9947030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204A"/>
                </a:solidFill>
                <a:latin typeface="Tahoma" charset="0"/>
                <a:ea typeface="Tahoma" charset="0"/>
                <a:cs typeface="Tahoma" charset="0"/>
              </a:defRPr>
            </a:lvl1pPr>
          </a:lstStyle>
          <a:p>
            <a:r>
              <a:rPr lang="tr-TR" dirty="0" err="1"/>
              <a:t>Click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edit</a:t>
            </a:r>
            <a:r>
              <a:rPr lang="tr-TR" dirty="0"/>
              <a:t> Master </a:t>
            </a:r>
            <a:r>
              <a:rPr lang="tr-TR" dirty="0" err="1"/>
              <a:t>title</a:t>
            </a:r>
            <a:r>
              <a:rPr lang="tr-TR" dirty="0"/>
              <a:t> </a:t>
            </a:r>
            <a:r>
              <a:rPr lang="tr-TR" dirty="0" err="1"/>
              <a:t>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371600"/>
            <a:ext cx="8839200" cy="5181600"/>
          </a:xfrm>
        </p:spPr>
        <p:txBody>
          <a:bodyPr/>
          <a:lstStyle>
            <a:lvl1pPr>
              <a:defRPr sz="2200">
                <a:solidFill>
                  <a:srgbClr val="000000"/>
                </a:solidFill>
                <a:latin typeface="Tahoma" charset="0"/>
                <a:ea typeface="Tahoma" charset="0"/>
                <a:cs typeface="Tahoma" charset="0"/>
              </a:defRPr>
            </a:lvl1pPr>
            <a:lvl2pPr>
              <a:defRPr sz="1800">
                <a:solidFill>
                  <a:srgbClr val="000000"/>
                </a:solidFill>
                <a:latin typeface="Tahoma" charset="0"/>
                <a:ea typeface="Tahoma" charset="0"/>
                <a:cs typeface="Tahoma" charset="0"/>
              </a:defRPr>
            </a:lvl2pPr>
            <a:lvl3pPr>
              <a:defRPr sz="1600">
                <a:solidFill>
                  <a:srgbClr val="000000"/>
                </a:solidFill>
                <a:latin typeface="Tahoma" charset="0"/>
                <a:ea typeface="Tahoma" charset="0"/>
                <a:cs typeface="Tahoma" charset="0"/>
              </a:defRPr>
            </a:lvl3pPr>
            <a:lvl4pPr>
              <a:defRPr sz="1400">
                <a:solidFill>
                  <a:srgbClr val="000000"/>
                </a:solidFill>
                <a:latin typeface="Tahoma" charset="0"/>
                <a:ea typeface="Tahoma" charset="0"/>
                <a:cs typeface="Tahoma" charset="0"/>
              </a:defRPr>
            </a:lvl4pPr>
            <a:lvl5pPr>
              <a:defRPr sz="1400" baseline="0">
                <a:solidFill>
                  <a:srgbClr val="000000"/>
                </a:solidFill>
                <a:latin typeface="Tahoma" charset="0"/>
                <a:ea typeface="Tahoma" charset="0"/>
                <a:cs typeface="Tahoma" charset="0"/>
              </a:defRPr>
            </a:lvl5pPr>
          </a:lstStyle>
          <a:p>
            <a:pPr lvl="0"/>
            <a:r>
              <a:rPr lang="tr-TR" dirty="0"/>
              <a:t>Click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edit</a:t>
            </a:r>
            <a:r>
              <a:rPr lang="tr-TR" dirty="0"/>
              <a:t> Master </a:t>
            </a:r>
            <a:r>
              <a:rPr lang="tr-TR" dirty="0" err="1"/>
              <a:t>text</a:t>
            </a:r>
            <a:r>
              <a:rPr lang="tr-TR" dirty="0"/>
              <a:t> </a:t>
            </a:r>
            <a:r>
              <a:rPr lang="tr-TR" dirty="0" err="1"/>
              <a:t>styles</a:t>
            </a:r>
            <a:endParaRPr lang="tr-TR" dirty="0"/>
          </a:p>
          <a:p>
            <a:pPr lvl="1"/>
            <a:r>
              <a:rPr lang="tr-TR" dirty="0"/>
              <a:t>Second </a:t>
            </a:r>
            <a:r>
              <a:rPr lang="tr-TR" dirty="0" err="1"/>
              <a:t>level</a:t>
            </a:r>
            <a:endParaRPr lang="tr-TR" dirty="0"/>
          </a:p>
          <a:p>
            <a:pPr lvl="2"/>
            <a:r>
              <a:rPr lang="tr-TR" dirty="0"/>
              <a:t>Third </a:t>
            </a:r>
            <a:r>
              <a:rPr lang="tr-TR" dirty="0" err="1"/>
              <a:t>level</a:t>
            </a:r>
            <a:endParaRPr lang="tr-TR" dirty="0"/>
          </a:p>
          <a:p>
            <a:pPr lvl="3"/>
            <a:r>
              <a:rPr lang="tr-TR" dirty="0" err="1"/>
              <a:t>Fourth</a:t>
            </a:r>
            <a:r>
              <a:rPr lang="tr-TR" dirty="0"/>
              <a:t> </a:t>
            </a:r>
            <a:r>
              <a:rPr lang="tr-TR" dirty="0" err="1"/>
              <a:t>level</a:t>
            </a:r>
            <a:endParaRPr lang="tr-TR" dirty="0"/>
          </a:p>
          <a:p>
            <a:pPr lvl="4"/>
            <a:r>
              <a:rPr lang="tr-TR" dirty="0" err="1"/>
              <a:t>Fifth</a:t>
            </a:r>
            <a:r>
              <a:rPr lang="tr-TR" dirty="0"/>
              <a:t> </a:t>
            </a:r>
            <a:r>
              <a:rPr lang="tr-TR" dirty="0" err="1"/>
              <a:t>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70152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683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203207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580182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53621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88073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685771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261830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303159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38900" y="685800"/>
            <a:ext cx="20193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685800"/>
            <a:ext cx="59055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31225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0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685800"/>
            <a:ext cx="609600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tr-TR"/>
              <a:t>Click to edit Master title style</a:t>
            </a:r>
          </a:p>
        </p:txBody>
      </p:sp>
      <p:sp>
        <p:nvSpPr>
          <p:cNvPr id="1027" name="Rectangle 3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tr-TR"/>
              <a:t>Click to edit Master text styles</a:t>
            </a:r>
          </a:p>
          <a:p>
            <a:pPr lvl="1"/>
            <a:r>
              <a:rPr lang="en-US" altLang="tr-TR"/>
              <a:t>Second level</a:t>
            </a:r>
          </a:p>
          <a:p>
            <a:pPr lvl="2"/>
            <a:r>
              <a:rPr lang="en-US" altLang="tr-TR"/>
              <a:t>Third level</a:t>
            </a:r>
          </a:p>
          <a:p>
            <a:pPr lvl="3"/>
            <a:r>
              <a:rPr lang="en-US" altLang="tr-TR"/>
              <a:t>Fourth level</a:t>
            </a:r>
          </a:p>
          <a:p>
            <a:pPr lvl="4"/>
            <a:r>
              <a:rPr lang="en-US" altLang="tr-TR"/>
              <a:t>Fifth level</a:t>
            </a:r>
          </a:p>
        </p:txBody>
      </p:sp>
      <p:pic>
        <p:nvPicPr>
          <p:cNvPr id="1028" name="Picture 5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" y="0"/>
            <a:ext cx="9137650" cy="6859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9" name="TextBox 4"/>
          <p:cNvSpPr txBox="1">
            <a:spLocks noChangeArrowheads="1"/>
          </p:cNvSpPr>
          <p:nvPr userDrawn="1"/>
        </p:nvSpPr>
        <p:spPr bwMode="auto">
          <a:xfrm>
            <a:off x="6451442" y="6611938"/>
            <a:ext cx="2491388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4000">
                <a:solidFill>
                  <a:schemeClr val="bg1"/>
                </a:solidFill>
                <a:latin typeface="Arial" charset="-94"/>
                <a:ea typeface="ＭＳ Ｐゴシック" charset="-128"/>
              </a:defRPr>
            </a:lvl1pPr>
            <a:lvl2pPr marL="742950" indent="-285750">
              <a:defRPr sz="4000">
                <a:solidFill>
                  <a:schemeClr val="bg1"/>
                </a:solidFill>
                <a:latin typeface="Arial" charset="-94"/>
                <a:ea typeface="ＭＳ Ｐゴシック" charset="-128"/>
              </a:defRPr>
            </a:lvl2pPr>
            <a:lvl3pPr marL="1143000" indent="-228600">
              <a:defRPr sz="4000">
                <a:solidFill>
                  <a:schemeClr val="bg1"/>
                </a:solidFill>
                <a:latin typeface="Arial" charset="-94"/>
                <a:ea typeface="ＭＳ Ｐゴシック" charset="-128"/>
              </a:defRPr>
            </a:lvl3pPr>
            <a:lvl4pPr marL="1600200" indent="-228600">
              <a:defRPr sz="4000">
                <a:solidFill>
                  <a:schemeClr val="bg1"/>
                </a:solidFill>
                <a:latin typeface="Arial" charset="-94"/>
                <a:ea typeface="ＭＳ Ｐゴシック" charset="-128"/>
              </a:defRPr>
            </a:lvl4pPr>
            <a:lvl5pPr marL="2057400" indent="-228600">
              <a:defRPr sz="4000">
                <a:solidFill>
                  <a:schemeClr val="bg1"/>
                </a:solidFill>
                <a:latin typeface="Arial" charset="-94"/>
                <a:ea typeface="ＭＳ Ｐゴシック" charset="-128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Arial" charset="-94"/>
                <a:ea typeface="ＭＳ Ｐゴシック" charset="-128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Arial" charset="-94"/>
                <a:ea typeface="ＭＳ Ｐゴシック" charset="-128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Arial" charset="-94"/>
                <a:ea typeface="ＭＳ Ｐゴシック" charset="-128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Arial" charset="-94"/>
                <a:ea typeface="ＭＳ Ｐゴシック" charset="-128"/>
              </a:defRPr>
            </a:lvl9pPr>
          </a:lstStyle>
          <a:p>
            <a:r>
              <a:rPr lang="en-US" altLang="tr-TR" sz="1000" i="1" dirty="0">
                <a:solidFill>
                  <a:srgbClr val="590000"/>
                </a:solidFill>
              </a:rPr>
              <a:t>Web</a:t>
            </a:r>
            <a:r>
              <a:rPr lang="en-US" altLang="tr-TR" sz="1000" i="1" baseline="0" dirty="0">
                <a:solidFill>
                  <a:srgbClr val="590000"/>
                </a:solidFill>
              </a:rPr>
              <a:t> </a:t>
            </a:r>
            <a:r>
              <a:rPr lang="en-US" altLang="tr-TR" sz="1000" i="1" baseline="0" dirty="0" err="1">
                <a:solidFill>
                  <a:srgbClr val="590000"/>
                </a:solidFill>
              </a:rPr>
              <a:t>Teknolojileri</a:t>
            </a:r>
            <a:r>
              <a:rPr lang="en-US" altLang="tr-TR" sz="1000" i="1" baseline="0" dirty="0">
                <a:solidFill>
                  <a:srgbClr val="590000"/>
                </a:solidFill>
              </a:rPr>
              <a:t> </a:t>
            </a:r>
            <a:r>
              <a:rPr lang="en-US" altLang="tr-TR" sz="1000" i="1" baseline="0" dirty="0" err="1">
                <a:solidFill>
                  <a:srgbClr val="590000"/>
                </a:solidFill>
              </a:rPr>
              <a:t>ve</a:t>
            </a:r>
            <a:r>
              <a:rPr lang="en-US" altLang="tr-TR" sz="1000" i="1" baseline="0" dirty="0">
                <a:solidFill>
                  <a:srgbClr val="590000"/>
                </a:solidFill>
              </a:rPr>
              <a:t> </a:t>
            </a:r>
            <a:r>
              <a:rPr lang="en-US" altLang="tr-TR" sz="1000" i="1" baseline="0" dirty="0" err="1">
                <a:solidFill>
                  <a:srgbClr val="590000"/>
                </a:solidFill>
              </a:rPr>
              <a:t>Programlama</a:t>
            </a:r>
            <a:r>
              <a:rPr lang="en-US" altLang="tr-TR" sz="1000" i="1" dirty="0">
                <a:solidFill>
                  <a:srgbClr val="590000"/>
                </a:solidFill>
              </a:rPr>
              <a:t>, 2016</a:t>
            </a:r>
          </a:p>
        </p:txBody>
      </p:sp>
      <p:sp>
        <p:nvSpPr>
          <p:cNvPr id="1030" name="TextBox 5"/>
          <p:cNvSpPr txBox="1">
            <a:spLocks noChangeArrowheads="1"/>
          </p:cNvSpPr>
          <p:nvPr userDrawn="1"/>
        </p:nvSpPr>
        <p:spPr bwMode="auto">
          <a:xfrm>
            <a:off x="0" y="6611938"/>
            <a:ext cx="3147015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4000">
                <a:solidFill>
                  <a:schemeClr val="bg1"/>
                </a:solidFill>
                <a:latin typeface="Arial" charset="-94"/>
                <a:ea typeface="ＭＳ Ｐゴシック" charset="-128"/>
              </a:defRPr>
            </a:lvl1pPr>
            <a:lvl2pPr marL="742950" indent="-285750">
              <a:defRPr sz="4000">
                <a:solidFill>
                  <a:schemeClr val="bg1"/>
                </a:solidFill>
                <a:latin typeface="Arial" charset="-94"/>
                <a:ea typeface="ＭＳ Ｐゴシック" charset="-128"/>
              </a:defRPr>
            </a:lvl2pPr>
            <a:lvl3pPr marL="1143000" indent="-228600">
              <a:defRPr sz="4000">
                <a:solidFill>
                  <a:schemeClr val="bg1"/>
                </a:solidFill>
                <a:latin typeface="Arial" charset="-94"/>
                <a:ea typeface="ＭＳ Ｐゴシック" charset="-128"/>
              </a:defRPr>
            </a:lvl3pPr>
            <a:lvl4pPr marL="1600200" indent="-228600">
              <a:defRPr sz="4000">
                <a:solidFill>
                  <a:schemeClr val="bg1"/>
                </a:solidFill>
                <a:latin typeface="Arial" charset="-94"/>
                <a:ea typeface="ＭＳ Ｐゴシック" charset="-128"/>
              </a:defRPr>
            </a:lvl4pPr>
            <a:lvl5pPr marL="2057400" indent="-228600">
              <a:defRPr sz="4000">
                <a:solidFill>
                  <a:schemeClr val="bg1"/>
                </a:solidFill>
                <a:latin typeface="Arial" charset="-94"/>
                <a:ea typeface="ＭＳ Ｐゴシック" charset="-128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Arial" charset="-94"/>
                <a:ea typeface="ＭＳ Ｐゴシック" charset="-128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Arial" charset="-94"/>
                <a:ea typeface="ＭＳ Ｐゴシック" charset="-128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Arial" charset="-94"/>
                <a:ea typeface="ＭＳ Ｐゴシック" charset="-128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Arial" charset="-94"/>
                <a:ea typeface="ＭＳ Ｐゴシック" charset="-128"/>
              </a:defRPr>
            </a:lvl9pPr>
          </a:lstStyle>
          <a:p>
            <a:r>
              <a:rPr lang="en-US" altLang="tr-TR" sz="1000" b="1" i="1" dirty="0" err="1">
                <a:solidFill>
                  <a:srgbClr val="590000"/>
                </a:solidFill>
              </a:rPr>
              <a:t>Ders</a:t>
            </a:r>
            <a:r>
              <a:rPr lang="en-US" altLang="tr-TR" sz="1000" b="1" i="1" dirty="0">
                <a:solidFill>
                  <a:srgbClr val="590000"/>
                </a:solidFill>
              </a:rPr>
              <a:t> </a:t>
            </a:r>
            <a:r>
              <a:rPr lang="en-US" altLang="tr-TR" sz="1000" b="1" i="1" dirty="0" err="1">
                <a:solidFill>
                  <a:srgbClr val="590000"/>
                </a:solidFill>
              </a:rPr>
              <a:t>Sunumu</a:t>
            </a:r>
            <a:r>
              <a:rPr lang="en-US" altLang="tr-TR" sz="1000" b="1" i="1" dirty="0">
                <a:solidFill>
                  <a:srgbClr val="590000"/>
                </a:solidFill>
              </a:rPr>
              <a:t>, </a:t>
            </a:r>
            <a:r>
              <a:rPr lang="en-US" altLang="tr-TR" sz="1000" b="1" i="1" dirty="0" err="1">
                <a:solidFill>
                  <a:srgbClr val="590000"/>
                </a:solidFill>
              </a:rPr>
              <a:t>Yrd</a:t>
            </a:r>
            <a:r>
              <a:rPr lang="en-US" altLang="tr-TR" sz="1000" b="1" i="1" dirty="0">
                <a:solidFill>
                  <a:srgbClr val="590000"/>
                </a:solidFill>
              </a:rPr>
              <a:t>. </a:t>
            </a:r>
            <a:r>
              <a:rPr lang="en-US" altLang="tr-TR" sz="1000" b="1" i="1" dirty="0" err="1">
                <a:solidFill>
                  <a:srgbClr val="590000"/>
                </a:solidFill>
              </a:rPr>
              <a:t>Doç</a:t>
            </a:r>
            <a:r>
              <a:rPr lang="en-US" altLang="tr-TR" sz="1000" b="1" i="1" dirty="0">
                <a:solidFill>
                  <a:srgbClr val="590000"/>
                </a:solidFill>
              </a:rPr>
              <a:t>.</a:t>
            </a:r>
            <a:r>
              <a:rPr lang="en-US" altLang="tr-TR" sz="1000" b="1" i="1" baseline="0" dirty="0">
                <a:solidFill>
                  <a:srgbClr val="590000"/>
                </a:solidFill>
              </a:rPr>
              <a:t> Dr. </a:t>
            </a:r>
            <a:r>
              <a:rPr lang="en-US" altLang="tr-TR" sz="1000" b="1" i="1" dirty="0" err="1">
                <a:solidFill>
                  <a:srgbClr val="590000"/>
                </a:solidFill>
              </a:rPr>
              <a:t>Asım</a:t>
            </a:r>
            <a:r>
              <a:rPr lang="en-US" altLang="tr-TR" sz="1000" b="1" i="1" dirty="0">
                <a:solidFill>
                  <a:srgbClr val="590000"/>
                </a:solidFill>
              </a:rPr>
              <a:t> Sinan YÜKSEL</a:t>
            </a:r>
          </a:p>
        </p:txBody>
      </p:sp>
      <p:pic>
        <p:nvPicPr>
          <p:cNvPr id="1031" name="Picture 2" descr="S__leyman_Demirel___niversitesi-logo-034BCFD506-seeklogo.com.png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8600" y="28575"/>
            <a:ext cx="12192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rgbClr val="590000"/>
          </a:solidFill>
          <a:latin typeface="+mj-lt"/>
          <a:ea typeface="ＭＳ Ｐゴシック" charset="-128"/>
          <a:cs typeface="ＭＳ Ｐゴシック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rgbClr val="590000"/>
          </a:solidFill>
          <a:latin typeface="Arial" pitchFamily="-110" charset="0"/>
          <a:ea typeface="ＭＳ Ｐゴシック" charset="-128"/>
          <a:cs typeface="ＭＳ Ｐゴシック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rgbClr val="590000"/>
          </a:solidFill>
          <a:latin typeface="Arial" pitchFamily="-110" charset="0"/>
          <a:ea typeface="ＭＳ Ｐゴシック" charset="-128"/>
          <a:cs typeface="ＭＳ Ｐゴシック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rgbClr val="590000"/>
          </a:solidFill>
          <a:latin typeface="Arial" pitchFamily="-110" charset="0"/>
          <a:ea typeface="ＭＳ Ｐゴシック" charset="-128"/>
          <a:cs typeface="ＭＳ Ｐゴシック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rgbClr val="590000"/>
          </a:solidFill>
          <a:latin typeface="Arial" pitchFamily="-110" charset="0"/>
          <a:ea typeface="ＭＳ Ｐゴシック" charset="-128"/>
          <a:cs typeface="ＭＳ Ｐゴシック" charset="-128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3000" b="1">
          <a:solidFill>
            <a:srgbClr val="590000"/>
          </a:solidFill>
          <a:latin typeface="Arial" pitchFamily="-110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3000" b="1">
          <a:solidFill>
            <a:srgbClr val="590000"/>
          </a:solidFill>
          <a:latin typeface="Arial" pitchFamily="-110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3000" b="1">
          <a:solidFill>
            <a:srgbClr val="590000"/>
          </a:solidFill>
          <a:latin typeface="Arial" pitchFamily="-110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3000" b="1">
          <a:solidFill>
            <a:srgbClr val="590000"/>
          </a:solidFill>
          <a:latin typeface="Arial" pitchFamily="-110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hlink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hlink"/>
          </a:solidFill>
          <a:latin typeface="+mn-lt"/>
          <a:ea typeface="ＭＳ Ｐゴシック" pitchFamily="-110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hlink"/>
          </a:solidFill>
          <a:latin typeface="+mn-lt"/>
          <a:ea typeface="ＭＳ Ｐゴシック" pitchFamily="-110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hlink"/>
          </a:solidFill>
          <a:latin typeface="+mn-lt"/>
          <a:ea typeface="ＭＳ Ｐゴシック" pitchFamily="-110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hlink"/>
          </a:solidFill>
          <a:latin typeface="+mn-lt"/>
          <a:ea typeface="ＭＳ Ｐゴシック" pitchFamily="-110" charset="-128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hlink"/>
          </a:solidFill>
          <a:latin typeface="+mn-lt"/>
          <a:ea typeface="ＭＳ Ｐゴシック" pitchFamily="-110" charset="-128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hlink"/>
          </a:solidFill>
          <a:latin typeface="+mn-lt"/>
          <a:ea typeface="ＭＳ Ｐゴシック" pitchFamily="-110" charset="-128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hlink"/>
          </a:solidFill>
          <a:latin typeface="+mn-lt"/>
          <a:ea typeface="ＭＳ Ｐゴシック" pitchFamily="-110" charset="-128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hlink"/>
          </a:solidFill>
          <a:latin typeface="+mn-lt"/>
          <a:ea typeface="ＭＳ Ｐゴシック" pitchFamily="-110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odesandbox.io/s/quirky-sky-cn7dhk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odesandbox.io/s/romantic-wind-rgjhwn" TargetMode="Externa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odesandbox.io/s/affectionate-driscoll-5lhvzf" TargetMode="Externa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my-json-server.typicode.com/asimsinan/mockapi/dersler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odesandbox.io/s/affectionate-driscoll-5lhvzf" TargetMode="Externa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sandbox.io/s/affectionate-driscoll-5lhvzf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sandbox.io/s/quirky-edison-8wkrn2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odesandbox.io/s/charming-kalam-6crjmj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redux.js.org/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mobx.js.org/README.html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TextBox 2"/>
          <p:cNvSpPr txBox="1">
            <a:spLocks noChangeArrowheads="1"/>
          </p:cNvSpPr>
          <p:nvPr/>
        </p:nvSpPr>
        <p:spPr bwMode="auto">
          <a:xfrm>
            <a:off x="396875" y="6683375"/>
            <a:ext cx="18415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4000">
                <a:solidFill>
                  <a:schemeClr val="bg1"/>
                </a:solidFill>
                <a:latin typeface="Arial" charset="-94"/>
                <a:ea typeface="ＭＳ Ｐゴシック" charset="-128"/>
              </a:defRPr>
            </a:lvl1pPr>
            <a:lvl2pPr marL="742950" indent="-285750">
              <a:defRPr sz="4000">
                <a:solidFill>
                  <a:schemeClr val="bg1"/>
                </a:solidFill>
                <a:latin typeface="Arial" charset="-94"/>
                <a:ea typeface="ＭＳ Ｐゴシック" charset="-128"/>
              </a:defRPr>
            </a:lvl2pPr>
            <a:lvl3pPr marL="1143000" indent="-228600">
              <a:defRPr sz="4000">
                <a:solidFill>
                  <a:schemeClr val="bg1"/>
                </a:solidFill>
                <a:latin typeface="Arial" charset="-94"/>
                <a:ea typeface="ＭＳ Ｐゴシック" charset="-128"/>
              </a:defRPr>
            </a:lvl3pPr>
            <a:lvl4pPr marL="1600200" indent="-228600">
              <a:defRPr sz="4000">
                <a:solidFill>
                  <a:schemeClr val="bg1"/>
                </a:solidFill>
                <a:latin typeface="Arial" charset="-94"/>
                <a:ea typeface="ＭＳ Ｐゴシック" charset="-128"/>
              </a:defRPr>
            </a:lvl4pPr>
            <a:lvl5pPr marL="2057400" indent="-228600">
              <a:defRPr sz="4000">
                <a:solidFill>
                  <a:schemeClr val="bg1"/>
                </a:solidFill>
                <a:latin typeface="Arial" charset="-94"/>
                <a:ea typeface="ＭＳ Ｐゴシック" charset="-128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Arial" charset="-94"/>
                <a:ea typeface="ＭＳ Ｐゴシック" charset="-128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Arial" charset="-94"/>
                <a:ea typeface="ＭＳ Ｐゴシック" charset="-128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Arial" charset="-94"/>
                <a:ea typeface="ＭＳ Ｐゴシック" charset="-128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Arial" charset="-94"/>
                <a:ea typeface="ＭＳ Ｐゴシック" charset="-128"/>
              </a:defRPr>
            </a:lvl9pPr>
          </a:lstStyle>
          <a:p>
            <a:endParaRPr lang="tr-TR" altLang="tr-TR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-11997" y="4776"/>
            <a:ext cx="9200114" cy="68653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914400" y="681077"/>
            <a:ext cx="8153400" cy="553998"/>
          </a:xfrm>
        </p:spPr>
        <p:txBody>
          <a:bodyPr/>
          <a:lstStyle/>
          <a:p>
            <a:r>
              <a:rPr lang="tr-TR" dirty="0" err="1"/>
              <a:t>Asynchronous</a:t>
            </a:r>
            <a:r>
              <a:rPr lang="tr-TR" dirty="0"/>
              <a:t> Data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52400" y="1371600"/>
            <a:ext cx="8839200" cy="5105400"/>
          </a:xfrm>
        </p:spPr>
        <p:txBody>
          <a:bodyPr/>
          <a:lstStyle/>
          <a:p>
            <a:r>
              <a:rPr lang="en-US" sz="2100" dirty="0" err="1"/>
              <a:t>Uygulamamızda</a:t>
            </a:r>
            <a:r>
              <a:rPr lang="en-US" sz="2100" dirty="0"/>
              <a:t> </a:t>
            </a:r>
            <a:r>
              <a:rPr lang="en-US" sz="2100" dirty="0" err="1"/>
              <a:t>iki</a:t>
            </a:r>
            <a:r>
              <a:rPr lang="en-US" sz="2100" dirty="0"/>
              <a:t> </a:t>
            </a:r>
            <a:r>
              <a:rPr lang="en-US" sz="2100" dirty="0" err="1"/>
              <a:t>etkileşimimiz</a:t>
            </a:r>
            <a:r>
              <a:rPr lang="en-US" sz="2100" dirty="0"/>
              <a:t> var: </a:t>
            </a:r>
            <a:r>
              <a:rPr lang="en-US" sz="2100" dirty="0" err="1"/>
              <a:t>yazılarda</a:t>
            </a:r>
            <a:r>
              <a:rPr lang="en-US" sz="2100" dirty="0"/>
              <a:t> </a:t>
            </a:r>
            <a:r>
              <a:rPr lang="en-US" sz="2100" dirty="0" err="1"/>
              <a:t>arama</a:t>
            </a:r>
            <a:r>
              <a:rPr lang="en-US" sz="2100" dirty="0"/>
              <a:t> </a:t>
            </a:r>
            <a:r>
              <a:rPr lang="en-US" sz="2100" dirty="0" err="1"/>
              <a:t>yapma</a:t>
            </a:r>
            <a:r>
              <a:rPr lang="en-US" sz="2100" dirty="0"/>
              <a:t> </a:t>
            </a:r>
            <a:r>
              <a:rPr lang="en-US" sz="2100" dirty="0" err="1"/>
              <a:t>ve</a:t>
            </a:r>
            <a:r>
              <a:rPr lang="en-US" sz="2100" dirty="0"/>
              <a:t> </a:t>
            </a:r>
            <a:r>
              <a:rPr lang="en-US" sz="2100" dirty="0" err="1"/>
              <a:t>yazı</a:t>
            </a:r>
            <a:r>
              <a:rPr lang="en-US" sz="2100" dirty="0"/>
              <a:t> </a:t>
            </a:r>
            <a:r>
              <a:rPr lang="en-US" sz="2100" dirty="0" err="1"/>
              <a:t>silme</a:t>
            </a:r>
            <a:r>
              <a:rPr lang="en-US" sz="2100" dirty="0"/>
              <a:t>. İlk </a:t>
            </a:r>
            <a:r>
              <a:rPr lang="en-US" sz="2100" dirty="0" err="1"/>
              <a:t>etkileşim</a:t>
            </a:r>
            <a:r>
              <a:rPr lang="en-US" sz="2100" dirty="0"/>
              <a:t> </a:t>
            </a:r>
            <a:r>
              <a:rPr lang="en-US" sz="2100" dirty="0" err="1"/>
              <a:t>arama</a:t>
            </a:r>
            <a:r>
              <a:rPr lang="en-US" sz="2100" dirty="0"/>
              <a:t> </a:t>
            </a:r>
            <a:r>
              <a:rPr lang="en-US" sz="2100" dirty="0" err="1"/>
              <a:t>metniyle</a:t>
            </a:r>
            <a:r>
              <a:rPr lang="en-US" sz="2100" dirty="0"/>
              <a:t> </a:t>
            </a:r>
            <a:r>
              <a:rPr lang="en-US" sz="2100" dirty="0" err="1"/>
              <a:t>başlar</a:t>
            </a:r>
            <a:r>
              <a:rPr lang="en-US" sz="2100" dirty="0"/>
              <a:t> </a:t>
            </a:r>
            <a:r>
              <a:rPr lang="en-US" sz="2100" dirty="0" err="1"/>
              <a:t>ve</a:t>
            </a:r>
            <a:r>
              <a:rPr lang="en-US" sz="2100" dirty="0"/>
              <a:t> </a:t>
            </a:r>
            <a:r>
              <a:rPr lang="en-US" sz="2100" dirty="0" err="1"/>
              <a:t>ona</a:t>
            </a:r>
            <a:r>
              <a:rPr lang="en-US" sz="2100" dirty="0"/>
              <a:t> </a:t>
            </a:r>
            <a:r>
              <a:rPr lang="en-US" sz="2100" dirty="0" err="1"/>
              <a:t>göre</a:t>
            </a:r>
            <a:r>
              <a:rPr lang="en-US" sz="2100" dirty="0"/>
              <a:t> </a:t>
            </a:r>
            <a:r>
              <a:rPr lang="en-US" sz="2100" dirty="0" err="1"/>
              <a:t>sonuç</a:t>
            </a:r>
            <a:r>
              <a:rPr lang="en-US" sz="2100" dirty="0"/>
              <a:t> </a:t>
            </a:r>
            <a:r>
              <a:rPr lang="en-US" sz="2100" dirty="0" err="1"/>
              <a:t>döndürür</a:t>
            </a:r>
            <a:r>
              <a:rPr lang="en-US" sz="2100" dirty="0"/>
              <a:t>. </a:t>
            </a:r>
            <a:r>
              <a:rPr lang="en-US" sz="2100" dirty="0" err="1"/>
              <a:t>ikinci</a:t>
            </a:r>
            <a:r>
              <a:rPr lang="en-US" sz="2100" dirty="0"/>
              <a:t> </a:t>
            </a:r>
            <a:r>
              <a:rPr lang="en-US" sz="2100" dirty="0" err="1"/>
              <a:t>etkileşim</a:t>
            </a:r>
            <a:r>
              <a:rPr lang="en-US" sz="2100" dirty="0"/>
              <a:t>, </a:t>
            </a:r>
            <a:r>
              <a:rPr lang="en-US" sz="2100" dirty="0" err="1"/>
              <a:t>bir</a:t>
            </a:r>
            <a:r>
              <a:rPr lang="en-US" sz="2100" dirty="0"/>
              <a:t> </a:t>
            </a:r>
            <a:r>
              <a:rPr lang="en-US" sz="2100" dirty="0" err="1"/>
              <a:t>yazının</a:t>
            </a:r>
            <a:r>
              <a:rPr lang="en-US" sz="2100" dirty="0"/>
              <a:t> </a:t>
            </a:r>
            <a:r>
              <a:rPr lang="en-US" sz="2100" dirty="0" err="1"/>
              <a:t>listeden</a:t>
            </a:r>
            <a:r>
              <a:rPr lang="en-US" sz="2100" dirty="0"/>
              <a:t> </a:t>
            </a:r>
            <a:r>
              <a:rPr lang="en-US" sz="2100" dirty="0" err="1"/>
              <a:t>geri</a:t>
            </a:r>
            <a:r>
              <a:rPr lang="en-US" sz="2100" dirty="0"/>
              <a:t> </a:t>
            </a:r>
            <a:r>
              <a:rPr lang="en-US" sz="2100" dirty="0" err="1"/>
              <a:t>alınamaz</a:t>
            </a:r>
            <a:r>
              <a:rPr lang="en-US" sz="2100" dirty="0"/>
              <a:t> </a:t>
            </a:r>
            <a:r>
              <a:rPr lang="en-US" sz="2100" dirty="0" err="1"/>
              <a:t>bir</a:t>
            </a:r>
            <a:r>
              <a:rPr lang="en-US" sz="2100" dirty="0"/>
              <a:t> </a:t>
            </a:r>
            <a:r>
              <a:rPr lang="en-US" sz="2100" dirty="0" err="1"/>
              <a:t>şekilde</a:t>
            </a:r>
            <a:r>
              <a:rPr lang="en-US" sz="2100" dirty="0"/>
              <a:t> </a:t>
            </a:r>
            <a:r>
              <a:rPr lang="en-US" sz="2100" dirty="0" err="1"/>
              <a:t>silinmesidir</a:t>
            </a:r>
            <a:r>
              <a:rPr lang="en-US" sz="2100" dirty="0"/>
              <a:t>. </a:t>
            </a:r>
          </a:p>
          <a:p>
            <a:r>
              <a:rPr lang="en-US" sz="2100" dirty="0" err="1"/>
              <a:t>Ancak</a:t>
            </a:r>
            <a:r>
              <a:rPr lang="en-US" sz="2100" dirty="0"/>
              <a:t>, </a:t>
            </a:r>
            <a:r>
              <a:rPr lang="en-US" sz="2100" dirty="0" err="1"/>
              <a:t>yazı</a:t>
            </a:r>
            <a:r>
              <a:rPr lang="en-US" sz="2100" dirty="0"/>
              <a:t> </a:t>
            </a:r>
            <a:r>
              <a:rPr lang="en-US" sz="2100" dirty="0" err="1"/>
              <a:t>listemizde</a:t>
            </a:r>
            <a:r>
              <a:rPr lang="en-US" sz="2100" dirty="0"/>
              <a:t> </a:t>
            </a:r>
            <a:r>
              <a:rPr lang="en-US" sz="2100" dirty="0" err="1"/>
              <a:t>sadece</a:t>
            </a:r>
            <a:r>
              <a:rPr lang="en-US" sz="2100" dirty="0"/>
              <a:t> </a:t>
            </a:r>
            <a:r>
              <a:rPr lang="en-US" sz="2100" dirty="0" err="1"/>
              <a:t>örnek</a:t>
            </a:r>
            <a:r>
              <a:rPr lang="en-US" sz="2100" dirty="0"/>
              <a:t> </a:t>
            </a:r>
            <a:r>
              <a:rPr lang="en-US" sz="2100" dirty="0" err="1"/>
              <a:t>veriler</a:t>
            </a:r>
            <a:r>
              <a:rPr lang="en-US" sz="2100" dirty="0"/>
              <a:t> var. Bunun </a:t>
            </a:r>
            <a:r>
              <a:rPr lang="en-US" sz="2100" dirty="0" err="1"/>
              <a:t>yerine</a:t>
            </a:r>
            <a:r>
              <a:rPr lang="en-US" sz="2100" dirty="0"/>
              <a:t> </a:t>
            </a:r>
            <a:r>
              <a:rPr lang="en-US" sz="2100" dirty="0" err="1"/>
              <a:t>uygulamamızı</a:t>
            </a:r>
            <a:r>
              <a:rPr lang="en-US" sz="2100" dirty="0"/>
              <a:t> </a:t>
            </a:r>
            <a:r>
              <a:rPr lang="en-US" sz="2100" dirty="0" err="1"/>
              <a:t>gerçek</a:t>
            </a:r>
            <a:r>
              <a:rPr lang="en-US" sz="2100" dirty="0"/>
              <a:t> </a:t>
            </a:r>
            <a:r>
              <a:rPr lang="en-US" sz="2100" dirty="0" err="1"/>
              <a:t>verilerle</a:t>
            </a:r>
            <a:r>
              <a:rPr lang="en-US" sz="2100" dirty="0"/>
              <a:t> </a:t>
            </a:r>
            <a:r>
              <a:rPr lang="en-US" sz="2100" dirty="0" err="1"/>
              <a:t>çalışacak</a:t>
            </a:r>
            <a:r>
              <a:rPr lang="en-US" sz="2100" dirty="0"/>
              <a:t> </a:t>
            </a:r>
            <a:r>
              <a:rPr lang="en-US" sz="2100" dirty="0" err="1"/>
              <a:t>şekilde</a:t>
            </a:r>
            <a:r>
              <a:rPr lang="en-US" sz="2100" dirty="0"/>
              <a:t> </a:t>
            </a:r>
            <a:r>
              <a:rPr lang="en-US" sz="2100" dirty="0" err="1"/>
              <a:t>nasıl</a:t>
            </a:r>
            <a:r>
              <a:rPr lang="en-US" sz="2100" dirty="0"/>
              <a:t> </a:t>
            </a:r>
            <a:r>
              <a:rPr lang="en-US" sz="2100" dirty="0" err="1"/>
              <a:t>hazırlayabiliriz</a:t>
            </a:r>
            <a:r>
              <a:rPr lang="en-US" sz="2100" dirty="0"/>
              <a:t>?</a:t>
            </a:r>
          </a:p>
          <a:p>
            <a:r>
              <a:rPr lang="en-US" sz="2100" dirty="0" err="1"/>
              <a:t>Genellikle</a:t>
            </a:r>
            <a:r>
              <a:rPr lang="en-US" sz="2100" dirty="0"/>
              <a:t>, </a:t>
            </a:r>
            <a:r>
              <a:rPr lang="en-US" sz="2100" dirty="0" err="1"/>
              <a:t>uzak</a:t>
            </a:r>
            <a:r>
              <a:rPr lang="en-US" sz="2100" dirty="0"/>
              <a:t> </a:t>
            </a:r>
            <a:r>
              <a:rPr lang="en-US" sz="2100" dirty="0" err="1"/>
              <a:t>bir</a:t>
            </a:r>
            <a:r>
              <a:rPr lang="en-US" sz="2100" dirty="0"/>
              <a:t> backend/</a:t>
            </a:r>
            <a:r>
              <a:rPr lang="en-US" sz="2100" dirty="0" err="1"/>
              <a:t>veritabanından</a:t>
            </a:r>
            <a:r>
              <a:rPr lang="en-US" sz="2100" dirty="0"/>
              <a:t> </a:t>
            </a:r>
            <a:r>
              <a:rPr lang="en-US" sz="2100" dirty="0" err="1"/>
              <a:t>gelen</a:t>
            </a:r>
            <a:r>
              <a:rPr lang="en-US" sz="2100" dirty="0"/>
              <a:t> </a:t>
            </a:r>
            <a:r>
              <a:rPr lang="en-US" sz="2100" dirty="0" err="1"/>
              <a:t>veriler</a:t>
            </a:r>
            <a:r>
              <a:rPr lang="en-US" sz="2100" dirty="0"/>
              <a:t>, React </a:t>
            </a:r>
            <a:r>
              <a:rPr lang="en-US" sz="2100" dirty="0" err="1"/>
              <a:t>gibi</a:t>
            </a:r>
            <a:r>
              <a:rPr lang="en-US" sz="2100" dirty="0"/>
              <a:t> </a:t>
            </a:r>
            <a:r>
              <a:rPr lang="en-US" sz="2100" dirty="0" err="1"/>
              <a:t>istemci</a:t>
            </a:r>
            <a:r>
              <a:rPr lang="en-US" sz="2100" dirty="0"/>
              <a:t> </a:t>
            </a:r>
            <a:r>
              <a:rPr lang="en-US" sz="2100" dirty="0" err="1"/>
              <a:t>tarafı</a:t>
            </a:r>
            <a:r>
              <a:rPr lang="en-US" sz="2100" dirty="0"/>
              <a:t> </a:t>
            </a:r>
            <a:r>
              <a:rPr lang="en-US" sz="2100" dirty="0" err="1"/>
              <a:t>uygulamalar</a:t>
            </a:r>
            <a:r>
              <a:rPr lang="en-US" sz="2100" dirty="0"/>
              <a:t> </a:t>
            </a:r>
            <a:r>
              <a:rPr lang="en-US" sz="2100" dirty="0" err="1"/>
              <a:t>için</a:t>
            </a:r>
            <a:r>
              <a:rPr lang="en-US" sz="2100" dirty="0"/>
              <a:t> </a:t>
            </a:r>
            <a:r>
              <a:rPr lang="en-US" sz="2100" dirty="0" err="1"/>
              <a:t>asenkron</a:t>
            </a:r>
            <a:r>
              <a:rPr lang="en-US" sz="2100" dirty="0"/>
              <a:t> </a:t>
            </a:r>
            <a:r>
              <a:rPr lang="en-US" sz="2100" dirty="0" err="1"/>
              <a:t>olarak</a:t>
            </a:r>
            <a:r>
              <a:rPr lang="en-US" sz="2100" dirty="0"/>
              <a:t> </a:t>
            </a:r>
            <a:r>
              <a:rPr lang="en-US" sz="2100" dirty="0" err="1"/>
              <a:t>gelir</a:t>
            </a:r>
            <a:r>
              <a:rPr lang="en-US" sz="2100" dirty="0"/>
              <a:t>. </a:t>
            </a:r>
          </a:p>
          <a:p>
            <a:r>
              <a:rPr lang="en-US" sz="2100" dirty="0"/>
              <a:t>Bu </a:t>
            </a:r>
            <a:r>
              <a:rPr lang="en-US" sz="2100" dirty="0" err="1"/>
              <a:t>nedenle</a:t>
            </a:r>
            <a:r>
              <a:rPr lang="en-US" sz="2100" dirty="0"/>
              <a:t>, </a:t>
            </a:r>
            <a:r>
              <a:rPr lang="en-US" sz="2100" dirty="0" err="1"/>
              <a:t>genellikle</a:t>
            </a:r>
            <a:r>
              <a:rPr lang="en-US" sz="2100" dirty="0"/>
              <a:t> </a:t>
            </a:r>
            <a:r>
              <a:rPr lang="en-US" sz="2100" dirty="0" err="1"/>
              <a:t>veri</a:t>
            </a:r>
            <a:r>
              <a:rPr lang="en-US" sz="2100" dirty="0"/>
              <a:t> </a:t>
            </a:r>
            <a:r>
              <a:rPr lang="en-US" sz="2100" dirty="0" err="1"/>
              <a:t>getirmeyi</a:t>
            </a:r>
            <a:r>
              <a:rPr lang="en-US" sz="2100" dirty="0"/>
              <a:t> </a:t>
            </a:r>
            <a:r>
              <a:rPr lang="en-US" sz="2100" dirty="0" err="1"/>
              <a:t>başlatmadan</a:t>
            </a:r>
            <a:r>
              <a:rPr lang="en-US" sz="2100" dirty="0"/>
              <a:t> </a:t>
            </a:r>
            <a:r>
              <a:rPr lang="en-US" sz="2100" dirty="0" err="1"/>
              <a:t>önce</a:t>
            </a:r>
            <a:r>
              <a:rPr lang="en-US" sz="2100" dirty="0"/>
              <a:t> </a:t>
            </a:r>
            <a:r>
              <a:rPr lang="en-US" sz="2100" dirty="0" err="1"/>
              <a:t>bir</a:t>
            </a:r>
            <a:r>
              <a:rPr lang="en-US" sz="2100" dirty="0"/>
              <a:t> </a:t>
            </a:r>
            <a:r>
              <a:rPr lang="en-US" sz="2100" dirty="0" err="1"/>
              <a:t>bileşeni</a:t>
            </a:r>
            <a:r>
              <a:rPr lang="en-US" sz="2100" dirty="0"/>
              <a:t> </a:t>
            </a:r>
            <a:r>
              <a:rPr lang="en-US" sz="2100" dirty="0" err="1"/>
              <a:t>frontend’de</a:t>
            </a:r>
            <a:r>
              <a:rPr lang="en-US" sz="2100" dirty="0"/>
              <a:t> </a:t>
            </a:r>
            <a:r>
              <a:rPr lang="en-US" sz="2100" dirty="0" err="1"/>
              <a:t>oluşturmamız</a:t>
            </a:r>
            <a:r>
              <a:rPr lang="en-US" sz="2100" dirty="0"/>
              <a:t> </a:t>
            </a:r>
            <a:r>
              <a:rPr lang="en-US" sz="2100" dirty="0" err="1"/>
              <a:t>gerekir</a:t>
            </a:r>
            <a:r>
              <a:rPr lang="en-US" sz="2100" dirty="0"/>
              <a:t>. </a:t>
            </a:r>
          </a:p>
          <a:p>
            <a:r>
              <a:rPr lang="en-US" sz="2100" dirty="0" err="1"/>
              <a:t>Asenkron</a:t>
            </a:r>
            <a:r>
              <a:rPr lang="en-US" sz="2100" dirty="0"/>
              <a:t> </a:t>
            </a:r>
            <a:r>
              <a:rPr lang="en-US" sz="2100" dirty="0" err="1"/>
              <a:t>akışı</a:t>
            </a:r>
            <a:r>
              <a:rPr lang="en-US" sz="2100" dirty="0"/>
              <a:t> </a:t>
            </a:r>
            <a:r>
              <a:rPr lang="en-US" sz="2100" dirty="0" err="1"/>
              <a:t>simule</a:t>
            </a:r>
            <a:r>
              <a:rPr lang="en-US" sz="2100" dirty="0"/>
              <a:t> </a:t>
            </a:r>
            <a:r>
              <a:rPr lang="en-US" sz="2100" dirty="0" err="1"/>
              <a:t>etmek</a:t>
            </a:r>
            <a:r>
              <a:rPr lang="en-US" sz="2100" dirty="0"/>
              <a:t> </a:t>
            </a:r>
            <a:r>
              <a:rPr lang="en-US" sz="2100" dirty="0" err="1"/>
              <a:t>için</a:t>
            </a:r>
            <a:r>
              <a:rPr lang="en-US" sz="2100" dirty="0"/>
              <a:t> </a:t>
            </a:r>
            <a:r>
              <a:rPr lang="en-US" sz="2100" dirty="0" err="1"/>
              <a:t>verilerin</a:t>
            </a:r>
            <a:r>
              <a:rPr lang="en-US" sz="2100" dirty="0"/>
              <a:t> 2 </a:t>
            </a:r>
            <a:r>
              <a:rPr lang="en-US" sz="2100" dirty="0" err="1"/>
              <a:t>saniye</a:t>
            </a:r>
            <a:r>
              <a:rPr lang="en-US" sz="2100" dirty="0"/>
              <a:t> </a:t>
            </a:r>
            <a:r>
              <a:rPr lang="en-US" sz="2100" dirty="0" err="1"/>
              <a:t>gecikmeli</a:t>
            </a:r>
            <a:r>
              <a:rPr lang="en-US" sz="2100" dirty="0"/>
              <a:t> </a:t>
            </a:r>
            <a:r>
              <a:rPr lang="en-US" sz="2100" dirty="0" err="1"/>
              <a:t>gelmesini</a:t>
            </a:r>
            <a:r>
              <a:rPr lang="en-US" sz="2100" dirty="0"/>
              <a:t> </a:t>
            </a:r>
            <a:r>
              <a:rPr lang="en-US" sz="2100" dirty="0" err="1"/>
              <a:t>sağlayacağız</a:t>
            </a:r>
            <a:r>
              <a:rPr lang="en-US" sz="2100" dirty="0"/>
              <a:t>. </a:t>
            </a:r>
            <a:r>
              <a:rPr lang="en-US" sz="2100" dirty="0" err="1"/>
              <a:t>İlerleyen</a:t>
            </a:r>
            <a:r>
              <a:rPr lang="en-US" sz="2100" dirty="0"/>
              <a:t> </a:t>
            </a:r>
            <a:r>
              <a:rPr lang="en-US" sz="2100" dirty="0" err="1"/>
              <a:t>aşamalada</a:t>
            </a:r>
            <a:r>
              <a:rPr lang="en-US" sz="2100" dirty="0"/>
              <a:t> </a:t>
            </a:r>
            <a:r>
              <a:rPr lang="en-US" sz="2100" dirty="0" err="1"/>
              <a:t>verileri</a:t>
            </a:r>
            <a:r>
              <a:rPr lang="en-US" sz="2100" dirty="0"/>
              <a:t> </a:t>
            </a:r>
            <a:r>
              <a:rPr lang="en-US" sz="2100" dirty="0" err="1"/>
              <a:t>gerçek</a:t>
            </a:r>
            <a:r>
              <a:rPr lang="en-US" sz="2100" dirty="0"/>
              <a:t> </a:t>
            </a:r>
            <a:r>
              <a:rPr lang="en-US" sz="2100" dirty="0" err="1"/>
              <a:t>bir</a:t>
            </a:r>
            <a:r>
              <a:rPr lang="en-US" sz="2100" dirty="0"/>
              <a:t> </a:t>
            </a:r>
            <a:r>
              <a:rPr lang="en-US" sz="2100" dirty="0" err="1"/>
              <a:t>uzak</a:t>
            </a:r>
            <a:r>
              <a:rPr lang="en-US" sz="2100" dirty="0"/>
              <a:t> </a:t>
            </a:r>
            <a:r>
              <a:rPr lang="en-US" sz="2100" dirty="0" err="1"/>
              <a:t>API'den</a:t>
            </a:r>
            <a:r>
              <a:rPr lang="en-US" sz="2100" dirty="0"/>
              <a:t> </a:t>
            </a:r>
            <a:r>
              <a:rPr lang="en-US" sz="2100" dirty="0" err="1"/>
              <a:t>getirilen</a:t>
            </a:r>
            <a:r>
              <a:rPr lang="en-US" sz="2100" dirty="0"/>
              <a:t> </a:t>
            </a:r>
            <a:r>
              <a:rPr lang="en-US" sz="2100" dirty="0" err="1"/>
              <a:t>gerçek</a:t>
            </a:r>
            <a:r>
              <a:rPr lang="en-US" sz="2100" dirty="0"/>
              <a:t> </a:t>
            </a:r>
            <a:r>
              <a:rPr lang="en-US" sz="2100" dirty="0" err="1"/>
              <a:t>verilerle</a:t>
            </a:r>
            <a:r>
              <a:rPr lang="en-US" sz="2100" dirty="0"/>
              <a:t> </a:t>
            </a:r>
            <a:r>
              <a:rPr lang="en-US" sz="2100" dirty="0" err="1"/>
              <a:t>değiştireceğiz</a:t>
            </a:r>
            <a:r>
              <a:rPr lang="en-US" sz="2100" dirty="0"/>
              <a:t>.</a:t>
            </a:r>
          </a:p>
        </p:txBody>
      </p:sp>
      <p:sp>
        <p:nvSpPr>
          <p:cNvPr id="5" name="Shape 267"/>
          <p:cNvSpPr/>
          <p:nvPr/>
        </p:nvSpPr>
        <p:spPr>
          <a:xfrm>
            <a:off x="381000" y="681377"/>
            <a:ext cx="537822" cy="537823"/>
          </a:xfrm>
          <a:prstGeom prst="rect">
            <a:avLst/>
          </a:prstGeom>
          <a:solidFill>
            <a:srgbClr val="003366"/>
          </a:solidFill>
          <a:ln w="12700" cap="flat">
            <a:noFill/>
            <a:miter lim="400000"/>
          </a:ln>
          <a:effectLst/>
        </p:spPr>
        <p:txBody>
          <a:bodyPr wrap="square" lIns="34289" tIns="34289" rIns="34289" bIns="34289" numCol="1" anchor="ctr">
            <a:noAutofit/>
          </a:bodyPr>
          <a:lstStyle/>
          <a:p>
            <a:pPr eaLnBrk="1" hangingPunct="1"/>
            <a:r>
              <a:rPr lang="en-US" sz="2400" b="1">
                <a:solidFill>
                  <a:srgbClr val="FFFFFF"/>
                </a:solidFill>
                <a:latin typeface="+mj-lt"/>
                <a:ea typeface="+mn-ea"/>
              </a:rPr>
              <a:t>01</a:t>
            </a:r>
            <a:endParaRPr sz="2400" b="1">
              <a:solidFill>
                <a:srgbClr val="FFFFFF"/>
              </a:solidFill>
              <a:latin typeface="+mj-lt"/>
              <a:ea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FBEC9D-48EB-B87D-5250-43B069B57152}"/>
              </a:ext>
            </a:extLst>
          </p:cNvPr>
          <p:cNvSpPr txBox="1"/>
          <p:nvPr/>
        </p:nvSpPr>
        <p:spPr>
          <a:xfrm>
            <a:off x="190392" y="6580800"/>
            <a:ext cx="5329728" cy="276999"/>
          </a:xfrm>
          <a:prstGeom prst="rect">
            <a:avLst/>
          </a:prstGeom>
          <a:solidFill>
            <a:srgbClr val="28C0BB"/>
          </a:solidFill>
        </p:spPr>
        <p:txBody>
          <a:bodyPr wrap="none" rtlCol="0">
            <a:spAutoFit/>
          </a:bodyPr>
          <a:lstStyle/>
          <a:p>
            <a:r>
              <a:rPr lang="tr-TR" sz="1200" dirty="0">
                <a:solidFill>
                  <a:schemeClr val="tx1"/>
                </a:solidFill>
              </a:rPr>
              <a:t>Doç. Dr. Asım Sinan Yüksel / Web Teknolojileri ve Programlama, 2024-2025</a:t>
            </a:r>
          </a:p>
        </p:txBody>
      </p:sp>
    </p:spTree>
    <p:extLst>
      <p:ext uri="{BB962C8B-B14F-4D97-AF65-F5344CB8AC3E}">
        <p14:creationId xmlns:p14="http://schemas.microsoft.com/office/powerpoint/2010/main" val="28533235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914400" y="681077"/>
            <a:ext cx="8153400" cy="553998"/>
          </a:xfrm>
        </p:spPr>
        <p:txBody>
          <a:bodyPr/>
          <a:lstStyle/>
          <a:p>
            <a:r>
              <a:rPr lang="tr-TR" dirty="0" err="1"/>
              <a:t>Asynchronous</a:t>
            </a:r>
            <a:r>
              <a:rPr lang="tr-TR" dirty="0"/>
              <a:t> Data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52400" y="1371600"/>
            <a:ext cx="8839200" cy="5105400"/>
          </a:xfrm>
        </p:spPr>
        <p:txBody>
          <a:bodyPr/>
          <a:lstStyle/>
          <a:p>
            <a:r>
              <a:rPr lang="en-US" sz="2100" dirty="0" err="1"/>
              <a:t>getAsyncPosts</a:t>
            </a:r>
            <a:r>
              <a:rPr lang="en-US" sz="2100" dirty="0"/>
              <a:t> </a:t>
            </a:r>
            <a:r>
              <a:rPr lang="en-US" sz="2100" dirty="0" err="1"/>
              <a:t>isimli</a:t>
            </a:r>
            <a:r>
              <a:rPr lang="en-US" sz="2100" dirty="0"/>
              <a:t> </a:t>
            </a:r>
            <a:r>
              <a:rPr lang="en-US" sz="2100" dirty="0" err="1"/>
              <a:t>bir</a:t>
            </a:r>
            <a:r>
              <a:rPr lang="en-US" sz="2100" dirty="0"/>
              <a:t> </a:t>
            </a:r>
            <a:r>
              <a:rPr lang="en-US" sz="2100" dirty="0" err="1"/>
              <a:t>metot</a:t>
            </a:r>
            <a:r>
              <a:rPr lang="en-US" sz="2100" dirty="0"/>
              <a:t> </a:t>
            </a:r>
            <a:r>
              <a:rPr lang="en-US" sz="2100" dirty="0" err="1"/>
              <a:t>tanımlayacağız</a:t>
            </a:r>
            <a:r>
              <a:rPr lang="en-US" sz="2100" dirty="0"/>
              <a:t>. Bu </a:t>
            </a:r>
            <a:r>
              <a:rPr lang="en-US" sz="2100" dirty="0" err="1"/>
              <a:t>metot</a:t>
            </a:r>
            <a:r>
              <a:rPr lang="en-US" sz="2100" dirty="0"/>
              <a:t> </a:t>
            </a:r>
            <a:r>
              <a:rPr lang="en-US" sz="2100" dirty="0" err="1"/>
              <a:t>setTimeOut</a:t>
            </a:r>
            <a:r>
              <a:rPr lang="en-US" sz="2100" dirty="0"/>
              <a:t> </a:t>
            </a:r>
            <a:r>
              <a:rPr lang="en-US" sz="2100" dirty="0" err="1"/>
              <a:t>fonksiyonuyla</a:t>
            </a:r>
            <a:r>
              <a:rPr lang="en-US" sz="2100" dirty="0"/>
              <a:t> 2 </a:t>
            </a:r>
            <a:r>
              <a:rPr lang="en-US" sz="2100" dirty="0" err="1"/>
              <a:t>saniyelik</a:t>
            </a:r>
            <a:r>
              <a:rPr lang="en-US" sz="2100" dirty="0"/>
              <a:t> </a:t>
            </a:r>
            <a:r>
              <a:rPr lang="en-US" sz="2100" dirty="0" err="1"/>
              <a:t>bir</a:t>
            </a:r>
            <a:r>
              <a:rPr lang="en-US" sz="2100" dirty="0"/>
              <a:t> </a:t>
            </a:r>
            <a:r>
              <a:rPr lang="en-US" sz="2100" dirty="0" err="1"/>
              <a:t>gecikme</a:t>
            </a:r>
            <a:r>
              <a:rPr lang="en-US" sz="2100" dirty="0"/>
              <a:t> </a:t>
            </a:r>
            <a:r>
              <a:rPr lang="en-US" sz="2100" dirty="0" err="1"/>
              <a:t>oluşturduktan</a:t>
            </a:r>
            <a:r>
              <a:rPr lang="en-US" sz="2100" dirty="0"/>
              <a:t> </a:t>
            </a:r>
            <a:r>
              <a:rPr lang="en-US" sz="2100" dirty="0" err="1"/>
              <a:t>sonra</a:t>
            </a:r>
            <a:r>
              <a:rPr lang="en-US" sz="2100" dirty="0"/>
              <a:t> </a:t>
            </a:r>
            <a:r>
              <a:rPr lang="en-US" sz="2100" dirty="0" err="1"/>
              <a:t>yazilar</a:t>
            </a:r>
            <a:r>
              <a:rPr lang="en-US" sz="2100" dirty="0"/>
              <a:t> </a:t>
            </a:r>
            <a:r>
              <a:rPr lang="en-US" sz="2100" dirty="0" err="1"/>
              <a:t>dizisini</a:t>
            </a:r>
            <a:r>
              <a:rPr lang="en-US" sz="2100" dirty="0"/>
              <a:t> </a:t>
            </a:r>
            <a:r>
              <a:rPr lang="en-US" sz="2100" dirty="0" err="1"/>
              <a:t>yaziListesini</a:t>
            </a:r>
            <a:r>
              <a:rPr lang="en-US" sz="2100" dirty="0"/>
              <a:t> </a:t>
            </a:r>
            <a:r>
              <a:rPr lang="en-US" sz="2100" dirty="0" err="1"/>
              <a:t>kullanarak</a:t>
            </a:r>
            <a:r>
              <a:rPr lang="en-US" sz="2100" dirty="0"/>
              <a:t> Promise </a:t>
            </a:r>
            <a:r>
              <a:rPr lang="en-US" sz="2100" dirty="0" err="1"/>
              <a:t>içinde</a:t>
            </a:r>
            <a:r>
              <a:rPr lang="en-US" sz="2100" dirty="0"/>
              <a:t> </a:t>
            </a:r>
            <a:r>
              <a:rPr lang="en-US" sz="2100" dirty="0" err="1"/>
              <a:t>döndürecek</a:t>
            </a:r>
            <a:r>
              <a:rPr lang="en-US" sz="2100" dirty="0"/>
              <a:t>. </a:t>
            </a:r>
          </a:p>
          <a:p>
            <a:r>
              <a:rPr lang="en-US" sz="2100" dirty="0" err="1"/>
              <a:t>Başlangıç</a:t>
            </a:r>
            <a:r>
              <a:rPr lang="en-US" sz="2100" dirty="0"/>
              <a:t> </a:t>
            </a:r>
            <a:r>
              <a:rPr lang="en-US" sz="2100" dirty="0" err="1"/>
              <a:t>olarak</a:t>
            </a:r>
            <a:r>
              <a:rPr lang="en-US" sz="2100" dirty="0"/>
              <a:t> da </a:t>
            </a:r>
            <a:r>
              <a:rPr lang="en-US" sz="2100" dirty="0" err="1"/>
              <a:t>yazilar</a:t>
            </a:r>
            <a:r>
              <a:rPr lang="en-US" sz="2100" dirty="0"/>
              <a:t> state </a:t>
            </a:r>
            <a:r>
              <a:rPr lang="en-US" sz="2100" dirty="0" err="1"/>
              <a:t>değişkenimizin</a:t>
            </a:r>
            <a:r>
              <a:rPr lang="en-US" sz="2100" dirty="0"/>
              <a:t> </a:t>
            </a:r>
            <a:r>
              <a:rPr lang="en-US" sz="2100" dirty="0" err="1"/>
              <a:t>boş</a:t>
            </a:r>
            <a:r>
              <a:rPr lang="en-US" sz="2100" dirty="0"/>
              <a:t> </a:t>
            </a:r>
            <a:r>
              <a:rPr lang="en-US" sz="2100" dirty="0" err="1"/>
              <a:t>bir</a:t>
            </a:r>
            <a:r>
              <a:rPr lang="en-US" sz="2100" dirty="0"/>
              <a:t> dizi </a:t>
            </a:r>
            <a:r>
              <a:rPr lang="en-US" sz="2100" dirty="0" err="1"/>
              <a:t>olarak</a:t>
            </a:r>
            <a:r>
              <a:rPr lang="en-US" sz="2100" dirty="0"/>
              <a:t> </a:t>
            </a:r>
            <a:r>
              <a:rPr lang="en-US" sz="2100" dirty="0" err="1"/>
              <a:t>gelmesini</a:t>
            </a:r>
            <a:r>
              <a:rPr lang="en-US" sz="2100" dirty="0"/>
              <a:t> </a:t>
            </a:r>
            <a:r>
              <a:rPr lang="en-US" sz="2100" dirty="0" err="1"/>
              <a:t>sağlayacağız</a:t>
            </a:r>
            <a:r>
              <a:rPr lang="en-US" sz="2100" dirty="0"/>
              <a:t>.</a:t>
            </a:r>
          </a:p>
          <a:p>
            <a:r>
              <a:rPr lang="en-US" sz="2100" b="1" dirty="0"/>
              <a:t>Not: </a:t>
            </a:r>
            <a:r>
              <a:rPr lang="en-US" sz="2100" dirty="0"/>
              <a:t>Promise </a:t>
            </a:r>
            <a:r>
              <a:rPr lang="en-US" sz="2100" dirty="0" err="1"/>
              <a:t>bir</a:t>
            </a:r>
            <a:r>
              <a:rPr lang="en-US" sz="2100" dirty="0"/>
              <a:t> </a:t>
            </a:r>
            <a:r>
              <a:rPr lang="en-US" sz="2100" dirty="0" err="1"/>
              <a:t>işlemin</a:t>
            </a:r>
            <a:r>
              <a:rPr lang="en-US" sz="2100" dirty="0"/>
              <a:t> </a:t>
            </a:r>
            <a:r>
              <a:rPr lang="en-US" sz="2100" dirty="0" err="1"/>
              <a:t>sonucunu</a:t>
            </a:r>
            <a:r>
              <a:rPr lang="en-US" sz="2100" dirty="0"/>
              <a:t> </a:t>
            </a:r>
            <a:r>
              <a:rPr lang="en-US" sz="2100" dirty="0" err="1"/>
              <a:t>temsil</a:t>
            </a:r>
            <a:r>
              <a:rPr lang="en-US" sz="2100" dirty="0"/>
              <a:t> </a:t>
            </a:r>
            <a:r>
              <a:rPr lang="en-US" sz="2100" dirty="0" err="1"/>
              <a:t>eden</a:t>
            </a:r>
            <a:r>
              <a:rPr lang="en-US" sz="2100" dirty="0"/>
              <a:t> </a:t>
            </a:r>
            <a:r>
              <a:rPr lang="en-US" sz="2100" dirty="0" err="1"/>
              <a:t>bir</a:t>
            </a:r>
            <a:r>
              <a:rPr lang="en-US" sz="2100" dirty="0"/>
              <a:t> </a:t>
            </a:r>
            <a:r>
              <a:rPr lang="en-US" sz="2100" dirty="0" err="1"/>
              <a:t>Javascript</a:t>
            </a:r>
            <a:r>
              <a:rPr lang="en-US" sz="2100" dirty="0"/>
              <a:t> </a:t>
            </a:r>
            <a:r>
              <a:rPr lang="en-US" sz="2100" dirty="0" err="1"/>
              <a:t>nesnesidir</a:t>
            </a:r>
            <a:r>
              <a:rPr lang="en-US" sz="2100" dirty="0"/>
              <a:t>. Resolve </a:t>
            </a:r>
            <a:r>
              <a:rPr lang="en-US" sz="2100" dirty="0" err="1"/>
              <a:t>ve</a:t>
            </a:r>
            <a:r>
              <a:rPr lang="en-US" sz="2100" dirty="0"/>
              <a:t> Reject </a:t>
            </a:r>
            <a:r>
              <a:rPr lang="en-US" sz="2100" dirty="0" err="1"/>
              <a:t>adında</a:t>
            </a:r>
            <a:r>
              <a:rPr lang="en-US" sz="2100" dirty="0"/>
              <a:t> </a:t>
            </a:r>
            <a:r>
              <a:rPr lang="en-US" sz="2100" dirty="0" err="1"/>
              <a:t>iki</a:t>
            </a:r>
            <a:r>
              <a:rPr lang="en-US" sz="2100" dirty="0"/>
              <a:t> </a:t>
            </a:r>
            <a:r>
              <a:rPr lang="en-US" sz="2100" dirty="0" err="1"/>
              <a:t>tane</a:t>
            </a:r>
            <a:r>
              <a:rPr lang="en-US" sz="2100" dirty="0"/>
              <a:t> </a:t>
            </a:r>
            <a:r>
              <a:rPr lang="en-US" sz="2100" dirty="0" err="1"/>
              <a:t>parametre</a:t>
            </a:r>
            <a:r>
              <a:rPr lang="en-US" sz="2100" dirty="0"/>
              <a:t> </a:t>
            </a:r>
            <a:r>
              <a:rPr lang="en-US" sz="2100" dirty="0" err="1"/>
              <a:t>alır</a:t>
            </a:r>
            <a:r>
              <a:rPr lang="en-US" sz="2100" dirty="0"/>
              <a:t> </a:t>
            </a:r>
            <a:r>
              <a:rPr lang="en-US" sz="2100" dirty="0" err="1"/>
              <a:t>ve</a:t>
            </a:r>
            <a:r>
              <a:rPr lang="en-US" sz="2100" dirty="0"/>
              <a:t> </a:t>
            </a:r>
            <a:r>
              <a:rPr lang="en-US" sz="2100" dirty="0" err="1"/>
              <a:t>olumlu</a:t>
            </a:r>
            <a:r>
              <a:rPr lang="en-US" sz="2100" dirty="0"/>
              <a:t> </a:t>
            </a:r>
            <a:r>
              <a:rPr lang="en-US" sz="2100" dirty="0" err="1"/>
              <a:t>durumlarda</a:t>
            </a:r>
            <a:r>
              <a:rPr lang="en-US" sz="2100" dirty="0"/>
              <a:t> Resolve </a:t>
            </a:r>
            <a:r>
              <a:rPr lang="en-US" sz="2100" dirty="0" err="1"/>
              <a:t>ile</a:t>
            </a:r>
            <a:r>
              <a:rPr lang="en-US" sz="2100" dirty="0"/>
              <a:t> </a:t>
            </a:r>
            <a:r>
              <a:rPr lang="en-US" sz="2100" dirty="0" err="1"/>
              <a:t>belirtilen</a:t>
            </a:r>
            <a:r>
              <a:rPr lang="en-US" sz="2100" dirty="0"/>
              <a:t> </a:t>
            </a:r>
            <a:r>
              <a:rPr lang="en-US" sz="2100" dirty="0" err="1"/>
              <a:t>işlemlerin</a:t>
            </a:r>
            <a:r>
              <a:rPr lang="en-US" sz="2100" dirty="0"/>
              <a:t>, </a:t>
            </a:r>
            <a:r>
              <a:rPr lang="en-US" sz="2100" dirty="0" err="1"/>
              <a:t>olumsuz</a:t>
            </a:r>
            <a:r>
              <a:rPr lang="en-US" sz="2100" dirty="0"/>
              <a:t> </a:t>
            </a:r>
            <a:r>
              <a:rPr lang="en-US" sz="2100" dirty="0" err="1"/>
              <a:t>durumlarda</a:t>
            </a:r>
            <a:r>
              <a:rPr lang="en-US" sz="2100" dirty="0"/>
              <a:t> da Reject </a:t>
            </a:r>
            <a:r>
              <a:rPr lang="en-US" sz="2100" dirty="0" err="1"/>
              <a:t>ile</a:t>
            </a:r>
            <a:r>
              <a:rPr lang="en-US" sz="2100" dirty="0"/>
              <a:t> </a:t>
            </a:r>
            <a:r>
              <a:rPr lang="en-US" sz="2100" dirty="0" err="1"/>
              <a:t>belirtilen</a:t>
            </a:r>
            <a:r>
              <a:rPr lang="en-US" sz="2100" dirty="0"/>
              <a:t> </a:t>
            </a:r>
            <a:r>
              <a:rPr lang="en-US" sz="2100" dirty="0" err="1"/>
              <a:t>işlemlerin</a:t>
            </a:r>
            <a:r>
              <a:rPr lang="en-US" sz="2100" dirty="0"/>
              <a:t> </a:t>
            </a:r>
            <a:r>
              <a:rPr lang="en-US" sz="2100" dirty="0" err="1"/>
              <a:t>yapılacağını</a:t>
            </a:r>
            <a:r>
              <a:rPr lang="en-US" sz="2100" dirty="0"/>
              <a:t> </a:t>
            </a:r>
            <a:r>
              <a:rPr lang="en-US" sz="2100" dirty="0" err="1"/>
              <a:t>garanti</a:t>
            </a:r>
            <a:r>
              <a:rPr lang="en-US" sz="2100" dirty="0"/>
              <a:t> </a:t>
            </a:r>
            <a:r>
              <a:rPr lang="en-US" sz="2100" dirty="0" err="1"/>
              <a:t>eder</a:t>
            </a:r>
            <a:r>
              <a:rPr lang="en-US" sz="2100" dirty="0"/>
              <a:t>.</a:t>
            </a:r>
          </a:p>
        </p:txBody>
      </p:sp>
      <p:sp>
        <p:nvSpPr>
          <p:cNvPr id="5" name="Shape 267"/>
          <p:cNvSpPr/>
          <p:nvPr/>
        </p:nvSpPr>
        <p:spPr>
          <a:xfrm>
            <a:off x="381000" y="681377"/>
            <a:ext cx="537822" cy="537823"/>
          </a:xfrm>
          <a:prstGeom prst="rect">
            <a:avLst/>
          </a:prstGeom>
          <a:solidFill>
            <a:srgbClr val="003366"/>
          </a:solidFill>
          <a:ln w="12700" cap="flat">
            <a:noFill/>
            <a:miter lim="400000"/>
          </a:ln>
          <a:effectLst/>
        </p:spPr>
        <p:txBody>
          <a:bodyPr wrap="square" lIns="34289" tIns="34289" rIns="34289" bIns="34289" numCol="1" anchor="ctr">
            <a:noAutofit/>
          </a:bodyPr>
          <a:lstStyle/>
          <a:p>
            <a:pPr eaLnBrk="1" hangingPunct="1"/>
            <a:r>
              <a:rPr lang="en-US" sz="2400" b="1">
                <a:solidFill>
                  <a:srgbClr val="FFFFFF"/>
                </a:solidFill>
                <a:latin typeface="+mj-lt"/>
                <a:ea typeface="+mn-ea"/>
              </a:rPr>
              <a:t>01</a:t>
            </a:r>
            <a:endParaRPr sz="2400" b="1">
              <a:solidFill>
                <a:srgbClr val="FFFFFF"/>
              </a:solidFill>
              <a:latin typeface="+mj-lt"/>
              <a:ea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FBEC9D-48EB-B87D-5250-43B069B57152}"/>
              </a:ext>
            </a:extLst>
          </p:cNvPr>
          <p:cNvSpPr txBox="1"/>
          <p:nvPr/>
        </p:nvSpPr>
        <p:spPr>
          <a:xfrm>
            <a:off x="190392" y="6580800"/>
            <a:ext cx="5329728" cy="276999"/>
          </a:xfrm>
          <a:prstGeom prst="rect">
            <a:avLst/>
          </a:prstGeom>
          <a:solidFill>
            <a:srgbClr val="28C0BB"/>
          </a:solidFill>
        </p:spPr>
        <p:txBody>
          <a:bodyPr wrap="none" rtlCol="0">
            <a:spAutoFit/>
          </a:bodyPr>
          <a:lstStyle/>
          <a:p>
            <a:r>
              <a:rPr lang="tr-TR" sz="1200" dirty="0">
                <a:solidFill>
                  <a:schemeClr val="tx1"/>
                </a:solidFill>
              </a:rPr>
              <a:t>Doç. Dr. Asım Sinan Yüksel / Web Teknolojileri ve Programlama, 2024-2025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9B18BCD-701F-0CAA-4905-6526D83F9D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399" y="4648200"/>
            <a:ext cx="7886701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6049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914400" y="681077"/>
            <a:ext cx="8153400" cy="553998"/>
          </a:xfrm>
        </p:spPr>
        <p:txBody>
          <a:bodyPr/>
          <a:lstStyle/>
          <a:p>
            <a:r>
              <a:rPr lang="tr-TR" dirty="0" err="1"/>
              <a:t>Asynchronous</a:t>
            </a:r>
            <a:r>
              <a:rPr lang="tr-TR" dirty="0"/>
              <a:t> Data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52400" y="1371600"/>
            <a:ext cx="8839200" cy="5105400"/>
          </a:xfrm>
        </p:spPr>
        <p:txBody>
          <a:bodyPr/>
          <a:lstStyle/>
          <a:p>
            <a:r>
              <a:rPr lang="en-US" sz="2100" dirty="0" err="1"/>
              <a:t>Tarayıcıyı</a:t>
            </a:r>
            <a:r>
              <a:rPr lang="en-US" sz="2100" dirty="0"/>
              <a:t> </a:t>
            </a:r>
            <a:r>
              <a:rPr lang="en-US" sz="2100" dirty="0" err="1"/>
              <a:t>açıp</a:t>
            </a:r>
            <a:r>
              <a:rPr lang="en-US" sz="2100" dirty="0"/>
              <a:t> </a:t>
            </a:r>
            <a:r>
              <a:rPr lang="en-US" sz="2100" dirty="0" err="1"/>
              <a:t>sayfamızı</a:t>
            </a:r>
            <a:r>
              <a:rPr lang="en-US" sz="2100" dirty="0"/>
              <a:t> </a:t>
            </a:r>
            <a:r>
              <a:rPr lang="en-US" sz="2100" dirty="0" err="1"/>
              <a:t>yüklediğimizde</a:t>
            </a:r>
            <a:r>
              <a:rPr lang="en-US" sz="2100" dirty="0"/>
              <a:t> 2 </a:t>
            </a:r>
            <a:r>
              <a:rPr lang="en-US" sz="2100" dirty="0" err="1"/>
              <a:t>saniye</a:t>
            </a:r>
            <a:r>
              <a:rPr lang="en-US" sz="2100" dirty="0"/>
              <a:t> </a:t>
            </a:r>
            <a:r>
              <a:rPr lang="en-US" sz="2100" dirty="0" err="1"/>
              <a:t>ile</a:t>
            </a:r>
            <a:r>
              <a:rPr lang="en-US" sz="2100" dirty="0"/>
              <a:t> </a:t>
            </a:r>
            <a:r>
              <a:rPr lang="en-US" sz="2100" dirty="0" err="1"/>
              <a:t>gecikmeli</a:t>
            </a:r>
            <a:r>
              <a:rPr lang="en-US" sz="2100" dirty="0"/>
              <a:t> </a:t>
            </a:r>
            <a:r>
              <a:rPr lang="en-US" sz="2100" dirty="0" err="1"/>
              <a:t>bir</a:t>
            </a:r>
            <a:r>
              <a:rPr lang="en-US" sz="2100" dirty="0"/>
              <a:t> </a:t>
            </a:r>
            <a:r>
              <a:rPr lang="en-US" sz="2100" dirty="0" err="1"/>
              <a:t>şekilde</a:t>
            </a:r>
            <a:r>
              <a:rPr lang="en-US" sz="2100" dirty="0"/>
              <a:t> </a:t>
            </a:r>
            <a:r>
              <a:rPr lang="en-US" sz="2100" dirty="0" err="1"/>
              <a:t>gelen</a:t>
            </a:r>
            <a:r>
              <a:rPr lang="en-US" sz="2100" dirty="0"/>
              <a:t> </a:t>
            </a:r>
            <a:r>
              <a:rPr lang="en-US" sz="2100" dirty="0" err="1"/>
              <a:t>verilerin</a:t>
            </a:r>
            <a:r>
              <a:rPr lang="en-US" sz="2100" dirty="0"/>
              <a:t> </a:t>
            </a:r>
            <a:r>
              <a:rPr lang="en-US" sz="2100" dirty="0" err="1"/>
              <a:t>ekrana</a:t>
            </a:r>
            <a:r>
              <a:rPr lang="en-US" sz="2100" dirty="0"/>
              <a:t> </a:t>
            </a:r>
            <a:r>
              <a:rPr lang="en-US" sz="2100" dirty="0" err="1"/>
              <a:t>yansıtılabilmesi</a:t>
            </a:r>
            <a:r>
              <a:rPr lang="en-US" sz="2100" dirty="0"/>
              <a:t> </a:t>
            </a:r>
            <a:r>
              <a:rPr lang="en-US" sz="2100" dirty="0" err="1"/>
              <a:t>için</a:t>
            </a:r>
            <a:r>
              <a:rPr lang="en-US" sz="2100" dirty="0"/>
              <a:t> yeni </a:t>
            </a:r>
            <a:r>
              <a:rPr lang="en-US" sz="2100" dirty="0" err="1"/>
              <a:t>bir</a:t>
            </a:r>
            <a:r>
              <a:rPr lang="en-US" sz="2100" dirty="0"/>
              <a:t> side-effect (</a:t>
            </a:r>
            <a:r>
              <a:rPr lang="en-US" sz="2100" dirty="0" err="1"/>
              <a:t>useEffect</a:t>
            </a:r>
            <a:r>
              <a:rPr lang="en-US" sz="2100" dirty="0"/>
              <a:t>) </a:t>
            </a:r>
            <a:r>
              <a:rPr lang="en-US" sz="2100" dirty="0" err="1"/>
              <a:t>hook’u</a:t>
            </a:r>
            <a:r>
              <a:rPr lang="en-US" sz="2100" dirty="0"/>
              <a:t> </a:t>
            </a:r>
            <a:r>
              <a:rPr lang="en-US" sz="2100" dirty="0" err="1"/>
              <a:t>tanımlamamız</a:t>
            </a:r>
            <a:r>
              <a:rPr lang="en-US" sz="2100" dirty="0"/>
              <a:t> </a:t>
            </a:r>
            <a:r>
              <a:rPr lang="en-US" sz="2100" dirty="0" err="1"/>
              <a:t>gerekir</a:t>
            </a:r>
            <a:r>
              <a:rPr lang="en-US" sz="2100" dirty="0"/>
              <a:t>. </a:t>
            </a:r>
            <a:r>
              <a:rPr lang="en-US" sz="2100" dirty="0" err="1"/>
              <a:t>Çünkü</a:t>
            </a:r>
            <a:r>
              <a:rPr lang="en-US" sz="2100" dirty="0"/>
              <a:t> yeni </a:t>
            </a:r>
            <a:r>
              <a:rPr lang="en-US" sz="2100" dirty="0" err="1"/>
              <a:t>veri</a:t>
            </a:r>
            <a:r>
              <a:rPr lang="en-US" sz="2100" dirty="0"/>
              <a:t> </a:t>
            </a:r>
            <a:r>
              <a:rPr lang="en-US" sz="2100" dirty="0" err="1"/>
              <a:t>gelmesi</a:t>
            </a:r>
            <a:r>
              <a:rPr lang="en-US" sz="2100" dirty="0"/>
              <a:t> </a:t>
            </a:r>
            <a:r>
              <a:rPr lang="en-US" sz="2100" dirty="0" err="1"/>
              <a:t>bir</a:t>
            </a:r>
            <a:r>
              <a:rPr lang="en-US" sz="2100" dirty="0"/>
              <a:t> </a:t>
            </a:r>
            <a:r>
              <a:rPr lang="en-US" sz="2100" dirty="0" err="1"/>
              <a:t>etki</a:t>
            </a:r>
            <a:r>
              <a:rPr lang="en-US" sz="2100" dirty="0"/>
              <a:t> </a:t>
            </a:r>
            <a:r>
              <a:rPr lang="en-US" sz="2100" dirty="0" err="1"/>
              <a:t>oluşturmuştur</a:t>
            </a:r>
            <a:r>
              <a:rPr lang="en-US" sz="2100" dirty="0"/>
              <a:t> </a:t>
            </a:r>
            <a:r>
              <a:rPr lang="en-US" sz="2100" dirty="0" err="1"/>
              <a:t>ve</a:t>
            </a:r>
            <a:r>
              <a:rPr lang="en-US" sz="2100" dirty="0"/>
              <a:t> bu </a:t>
            </a:r>
            <a:r>
              <a:rPr lang="en-US" sz="2100" dirty="0" err="1"/>
              <a:t>etkinin</a:t>
            </a:r>
            <a:r>
              <a:rPr lang="en-US" sz="2100" dirty="0"/>
              <a:t> </a:t>
            </a:r>
            <a:r>
              <a:rPr lang="en-US" sz="2100" dirty="0" err="1"/>
              <a:t>sonucunda</a:t>
            </a:r>
            <a:r>
              <a:rPr lang="en-US" sz="2100" dirty="0"/>
              <a:t> </a:t>
            </a:r>
            <a:r>
              <a:rPr lang="en-US" sz="2100" dirty="0" err="1"/>
              <a:t>ekranın</a:t>
            </a:r>
            <a:r>
              <a:rPr lang="en-US" sz="2100" dirty="0"/>
              <a:t> </a:t>
            </a:r>
            <a:r>
              <a:rPr lang="en-US" sz="2100" dirty="0" err="1"/>
              <a:t>güncellenmesi</a:t>
            </a:r>
            <a:r>
              <a:rPr lang="en-US" sz="2100" dirty="0"/>
              <a:t> </a:t>
            </a:r>
            <a:r>
              <a:rPr lang="en-US" sz="2100" dirty="0" err="1"/>
              <a:t>gerekir</a:t>
            </a:r>
            <a:r>
              <a:rPr lang="en-US" sz="2100" dirty="0"/>
              <a:t>.</a:t>
            </a:r>
          </a:p>
          <a:p>
            <a:r>
              <a:rPr lang="en-US" sz="2100" dirty="0"/>
              <a:t>Bu yeni </a:t>
            </a:r>
            <a:r>
              <a:rPr lang="en-US" sz="2100" dirty="0" err="1"/>
              <a:t>useEffect</a:t>
            </a:r>
            <a:r>
              <a:rPr lang="en-US" sz="2100" dirty="0"/>
              <a:t> </a:t>
            </a:r>
            <a:r>
              <a:rPr lang="en-US" sz="2100" dirty="0" err="1"/>
              <a:t>hook’u</a:t>
            </a:r>
            <a:r>
              <a:rPr lang="en-US" sz="2100" dirty="0"/>
              <a:t> </a:t>
            </a:r>
            <a:r>
              <a:rPr lang="en-US" sz="2100" dirty="0" err="1"/>
              <a:t>getAsyncPosts</a:t>
            </a:r>
            <a:r>
              <a:rPr lang="en-US" sz="2100" dirty="0"/>
              <a:t> </a:t>
            </a:r>
            <a:r>
              <a:rPr lang="en-US" sz="2100" dirty="0" err="1"/>
              <a:t>metodunu</a:t>
            </a:r>
            <a:r>
              <a:rPr lang="en-US" sz="2100" dirty="0"/>
              <a:t> </a:t>
            </a:r>
            <a:r>
              <a:rPr lang="en-US" sz="2100" dirty="0" err="1"/>
              <a:t>çağırmalı</a:t>
            </a:r>
            <a:r>
              <a:rPr lang="en-US" sz="2100" dirty="0"/>
              <a:t>, </a:t>
            </a:r>
            <a:r>
              <a:rPr lang="en-US" sz="2100" b="1" dirty="0"/>
              <a:t>then</a:t>
            </a:r>
            <a:r>
              <a:rPr lang="en-US" sz="2100" dirty="0"/>
              <a:t> </a:t>
            </a:r>
            <a:r>
              <a:rPr lang="en-US" sz="2100" dirty="0" err="1"/>
              <a:t>ifadesi</a:t>
            </a:r>
            <a:r>
              <a:rPr lang="en-US" sz="2100" dirty="0"/>
              <a:t> </a:t>
            </a:r>
            <a:r>
              <a:rPr lang="en-US" sz="2100" dirty="0" err="1"/>
              <a:t>ile</a:t>
            </a:r>
            <a:r>
              <a:rPr lang="en-US" sz="2100" dirty="0"/>
              <a:t> </a:t>
            </a:r>
            <a:r>
              <a:rPr lang="en-US" sz="2100" dirty="0" err="1"/>
              <a:t>sonucu</a:t>
            </a:r>
            <a:r>
              <a:rPr lang="en-US" sz="2100" dirty="0"/>
              <a:t> </a:t>
            </a:r>
            <a:r>
              <a:rPr lang="en-US" sz="2100" dirty="0" err="1"/>
              <a:t>çözmeli</a:t>
            </a:r>
            <a:r>
              <a:rPr lang="en-US" sz="2100" dirty="0"/>
              <a:t> </a:t>
            </a:r>
            <a:r>
              <a:rPr lang="en-US" sz="2100" dirty="0" err="1"/>
              <a:t>yani</a:t>
            </a:r>
            <a:r>
              <a:rPr lang="en-US" sz="2100" dirty="0"/>
              <a:t> </a:t>
            </a:r>
            <a:r>
              <a:rPr lang="en-US" sz="2100" dirty="0" err="1"/>
              <a:t>veriler</a:t>
            </a:r>
            <a:r>
              <a:rPr lang="en-US" sz="2100" dirty="0"/>
              <a:t> </a:t>
            </a:r>
            <a:r>
              <a:rPr lang="en-US" sz="2100" dirty="0" err="1"/>
              <a:t>başarılı</a:t>
            </a:r>
            <a:r>
              <a:rPr lang="en-US" sz="2100" dirty="0"/>
              <a:t> </a:t>
            </a:r>
            <a:r>
              <a:rPr lang="en-US" sz="2100" dirty="0" err="1"/>
              <a:t>bir</a:t>
            </a:r>
            <a:r>
              <a:rPr lang="en-US" sz="2100" dirty="0"/>
              <a:t> </a:t>
            </a:r>
            <a:r>
              <a:rPr lang="en-US" sz="2100" dirty="0" err="1"/>
              <a:t>şekilde</a:t>
            </a:r>
            <a:r>
              <a:rPr lang="en-US" sz="2100" dirty="0"/>
              <a:t> </a:t>
            </a:r>
            <a:r>
              <a:rPr lang="en-US" sz="2100" dirty="0" err="1"/>
              <a:t>ulaşmışsa</a:t>
            </a:r>
            <a:r>
              <a:rPr lang="en-US" sz="2100" dirty="0"/>
              <a:t> </a:t>
            </a:r>
            <a:r>
              <a:rPr lang="en-US" sz="2100" dirty="0" err="1"/>
              <a:t>gerekli</a:t>
            </a:r>
            <a:r>
              <a:rPr lang="en-US" sz="2100" dirty="0"/>
              <a:t> </a:t>
            </a:r>
            <a:r>
              <a:rPr lang="en-US" sz="2100" dirty="0" err="1"/>
              <a:t>işlemleri</a:t>
            </a:r>
            <a:r>
              <a:rPr lang="en-US" sz="2100" dirty="0"/>
              <a:t> </a:t>
            </a:r>
            <a:r>
              <a:rPr lang="en-US" sz="2100" dirty="0" err="1"/>
              <a:t>yapmalı</a:t>
            </a:r>
            <a:r>
              <a:rPr lang="en-US" sz="2100" dirty="0"/>
              <a:t>. </a:t>
            </a:r>
            <a:r>
              <a:rPr lang="en-US" sz="2100" dirty="0" err="1"/>
              <a:t>Gerekli</a:t>
            </a:r>
            <a:r>
              <a:rPr lang="en-US" sz="2100" dirty="0"/>
              <a:t> </a:t>
            </a:r>
            <a:r>
              <a:rPr lang="en-US" sz="2100" dirty="0" err="1"/>
              <a:t>işlem</a:t>
            </a:r>
            <a:r>
              <a:rPr lang="en-US" sz="2100" dirty="0"/>
              <a:t> </a:t>
            </a:r>
            <a:r>
              <a:rPr lang="en-US" sz="2100" dirty="0" err="1"/>
              <a:t>ise</a:t>
            </a:r>
            <a:r>
              <a:rPr lang="en-US" sz="2100" dirty="0"/>
              <a:t> </a:t>
            </a:r>
            <a:r>
              <a:rPr lang="en-US" sz="2100" dirty="0" err="1"/>
              <a:t>state’in</a:t>
            </a:r>
            <a:r>
              <a:rPr lang="en-US" sz="2100" dirty="0"/>
              <a:t> </a:t>
            </a:r>
            <a:r>
              <a:rPr lang="en-US" sz="2100" dirty="0" err="1"/>
              <a:t>değişmesini</a:t>
            </a:r>
            <a:r>
              <a:rPr lang="en-US" sz="2100" dirty="0"/>
              <a:t> </a:t>
            </a:r>
            <a:r>
              <a:rPr lang="en-US" sz="2100" dirty="0" err="1"/>
              <a:t>sağlayan</a:t>
            </a:r>
            <a:r>
              <a:rPr lang="en-US" sz="2100" dirty="0"/>
              <a:t> </a:t>
            </a:r>
            <a:r>
              <a:rPr lang="en-US" sz="2100" dirty="0" err="1"/>
              <a:t>setYazilar</a:t>
            </a:r>
            <a:r>
              <a:rPr lang="en-US" sz="2100" dirty="0"/>
              <a:t> </a:t>
            </a:r>
            <a:r>
              <a:rPr lang="en-US" sz="2100" dirty="0" err="1"/>
              <a:t>metodunu</a:t>
            </a:r>
            <a:r>
              <a:rPr lang="en-US" sz="2100" dirty="0"/>
              <a:t> </a:t>
            </a:r>
            <a:r>
              <a:rPr lang="en-US" sz="2100" dirty="0" err="1"/>
              <a:t>çağırmaktır</a:t>
            </a:r>
            <a:r>
              <a:rPr lang="en-US" sz="2100" dirty="0"/>
              <a:t>.</a:t>
            </a:r>
          </a:p>
        </p:txBody>
      </p:sp>
      <p:sp>
        <p:nvSpPr>
          <p:cNvPr id="5" name="Shape 267"/>
          <p:cNvSpPr/>
          <p:nvPr/>
        </p:nvSpPr>
        <p:spPr>
          <a:xfrm>
            <a:off x="381000" y="681377"/>
            <a:ext cx="537822" cy="537823"/>
          </a:xfrm>
          <a:prstGeom prst="rect">
            <a:avLst/>
          </a:prstGeom>
          <a:solidFill>
            <a:srgbClr val="003366"/>
          </a:solidFill>
          <a:ln w="12700" cap="flat">
            <a:noFill/>
            <a:miter lim="400000"/>
          </a:ln>
          <a:effectLst/>
        </p:spPr>
        <p:txBody>
          <a:bodyPr wrap="square" lIns="34289" tIns="34289" rIns="34289" bIns="34289" numCol="1" anchor="ctr">
            <a:noAutofit/>
          </a:bodyPr>
          <a:lstStyle/>
          <a:p>
            <a:pPr eaLnBrk="1" hangingPunct="1"/>
            <a:r>
              <a:rPr lang="en-US" sz="2400" b="1">
                <a:solidFill>
                  <a:srgbClr val="FFFFFF"/>
                </a:solidFill>
                <a:latin typeface="+mj-lt"/>
                <a:ea typeface="+mn-ea"/>
              </a:rPr>
              <a:t>01</a:t>
            </a:r>
            <a:endParaRPr sz="2400" b="1">
              <a:solidFill>
                <a:srgbClr val="FFFFFF"/>
              </a:solidFill>
              <a:latin typeface="+mj-lt"/>
              <a:ea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FBEC9D-48EB-B87D-5250-43B069B57152}"/>
              </a:ext>
            </a:extLst>
          </p:cNvPr>
          <p:cNvSpPr txBox="1"/>
          <p:nvPr/>
        </p:nvSpPr>
        <p:spPr>
          <a:xfrm>
            <a:off x="190392" y="6580800"/>
            <a:ext cx="5329728" cy="276999"/>
          </a:xfrm>
          <a:prstGeom prst="rect">
            <a:avLst/>
          </a:prstGeom>
          <a:solidFill>
            <a:srgbClr val="28C0BB"/>
          </a:solidFill>
        </p:spPr>
        <p:txBody>
          <a:bodyPr wrap="none" rtlCol="0">
            <a:spAutoFit/>
          </a:bodyPr>
          <a:lstStyle/>
          <a:p>
            <a:r>
              <a:rPr lang="tr-TR" sz="1200" dirty="0">
                <a:solidFill>
                  <a:schemeClr val="tx1"/>
                </a:solidFill>
              </a:rPr>
              <a:t>Doç. Dr. Asım Sinan Yüksel / Web Teknolojileri ve Programlama, 2024-2025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4CD5F9F-446B-04BC-C8F6-AF646D09E6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1" y="4391110"/>
            <a:ext cx="4953000" cy="170489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78E7794-BD0D-42B3-DA9F-97634DA348DA}"/>
              </a:ext>
            </a:extLst>
          </p:cNvPr>
          <p:cNvSpPr txBox="1"/>
          <p:nvPr/>
        </p:nvSpPr>
        <p:spPr>
          <a:xfrm>
            <a:off x="1135350" y="6076890"/>
            <a:ext cx="59512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000" b="1" dirty="0"/>
              <a:t>Örnek: </a:t>
            </a:r>
            <a:r>
              <a:rPr lang="tr-TR" sz="2000" dirty="0">
                <a:hlinkClick r:id="rId4"/>
              </a:rPr>
              <a:t>https://codesandbox.io/s/quirky-sky-cn7dhk</a:t>
            </a:r>
            <a:endParaRPr lang="tr-TR" sz="2000" dirty="0"/>
          </a:p>
        </p:txBody>
      </p:sp>
    </p:spTree>
    <p:extLst>
      <p:ext uri="{BB962C8B-B14F-4D97-AF65-F5344CB8AC3E}">
        <p14:creationId xmlns:p14="http://schemas.microsoft.com/office/powerpoint/2010/main" val="24845340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914400" y="681077"/>
            <a:ext cx="8153400" cy="553998"/>
          </a:xfrm>
        </p:spPr>
        <p:txBody>
          <a:bodyPr/>
          <a:lstStyle/>
          <a:p>
            <a:r>
              <a:rPr lang="tr-TR" dirty="0" err="1"/>
              <a:t>Conditional</a:t>
            </a:r>
            <a:r>
              <a:rPr lang="tr-TR" dirty="0"/>
              <a:t> </a:t>
            </a:r>
            <a:r>
              <a:rPr lang="tr-TR" dirty="0" err="1"/>
              <a:t>Rendering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52400" y="1371600"/>
            <a:ext cx="8839200" cy="5105400"/>
          </a:xfrm>
        </p:spPr>
        <p:txBody>
          <a:bodyPr/>
          <a:lstStyle/>
          <a:p>
            <a:r>
              <a:rPr lang="en-US" sz="2100" dirty="0" err="1"/>
              <a:t>Bazen</a:t>
            </a:r>
            <a:r>
              <a:rPr lang="en-US" sz="2100" dirty="0"/>
              <a:t> </a:t>
            </a:r>
            <a:r>
              <a:rPr lang="en-US" sz="2100" dirty="0" err="1"/>
              <a:t>bir</a:t>
            </a:r>
            <a:r>
              <a:rPr lang="en-US" sz="2100" dirty="0"/>
              <a:t> </a:t>
            </a:r>
            <a:r>
              <a:rPr lang="en-US" sz="2100" dirty="0" err="1"/>
              <a:t>duruma</a:t>
            </a:r>
            <a:r>
              <a:rPr lang="en-US" sz="2100" dirty="0"/>
              <a:t> </a:t>
            </a:r>
            <a:r>
              <a:rPr lang="en-US" sz="2100" dirty="0" err="1"/>
              <a:t>bağlı</a:t>
            </a:r>
            <a:r>
              <a:rPr lang="en-US" sz="2100" dirty="0"/>
              <a:t> </a:t>
            </a:r>
            <a:r>
              <a:rPr lang="en-US" sz="2100" dirty="0" err="1"/>
              <a:t>olarak</a:t>
            </a:r>
            <a:r>
              <a:rPr lang="en-US" sz="2100" dirty="0"/>
              <a:t> </a:t>
            </a:r>
            <a:r>
              <a:rPr lang="en-US" sz="2100" dirty="0" err="1"/>
              <a:t>bir</a:t>
            </a:r>
            <a:r>
              <a:rPr lang="en-US" sz="2100" dirty="0"/>
              <a:t> </a:t>
            </a:r>
            <a:r>
              <a:rPr lang="en-US" sz="2100" dirty="0" err="1"/>
              <a:t>işlem</a:t>
            </a:r>
            <a:r>
              <a:rPr lang="en-US" sz="2100" dirty="0"/>
              <a:t> </a:t>
            </a:r>
            <a:r>
              <a:rPr lang="en-US" sz="2100" dirty="0" err="1"/>
              <a:t>yapmak</a:t>
            </a:r>
            <a:r>
              <a:rPr lang="en-US" sz="2100" dirty="0"/>
              <a:t> </a:t>
            </a:r>
            <a:r>
              <a:rPr lang="en-US" sz="2100" dirty="0" err="1"/>
              <a:t>ve</a:t>
            </a:r>
            <a:r>
              <a:rPr lang="en-US" sz="2100" dirty="0"/>
              <a:t> </a:t>
            </a:r>
            <a:r>
              <a:rPr lang="en-US" sz="2100" dirty="0" err="1"/>
              <a:t>ona</a:t>
            </a:r>
            <a:r>
              <a:rPr lang="en-US" sz="2100" dirty="0"/>
              <a:t> </a:t>
            </a:r>
            <a:r>
              <a:rPr lang="en-US" sz="2100" dirty="0" err="1"/>
              <a:t>göre</a:t>
            </a:r>
            <a:r>
              <a:rPr lang="en-US" sz="2100" dirty="0"/>
              <a:t> de </a:t>
            </a:r>
            <a:r>
              <a:rPr lang="en-US" sz="2100" dirty="0" err="1"/>
              <a:t>arayüzde</a:t>
            </a:r>
            <a:r>
              <a:rPr lang="en-US" sz="2100" dirty="0"/>
              <a:t> </a:t>
            </a:r>
            <a:r>
              <a:rPr lang="en-US" sz="2100" dirty="0" err="1"/>
              <a:t>kullanıcıyı</a:t>
            </a:r>
            <a:r>
              <a:rPr lang="en-US" sz="2100" dirty="0"/>
              <a:t> </a:t>
            </a:r>
            <a:r>
              <a:rPr lang="en-US" sz="2100" dirty="0" err="1"/>
              <a:t>bilgilendirmek</a:t>
            </a:r>
            <a:r>
              <a:rPr lang="en-US" sz="2100" dirty="0"/>
              <a:t> </a:t>
            </a:r>
            <a:r>
              <a:rPr lang="en-US" sz="2100" dirty="0" err="1"/>
              <a:t>isteyebiliriz</a:t>
            </a:r>
            <a:r>
              <a:rPr lang="en-US" sz="2100" dirty="0"/>
              <a:t>.</a:t>
            </a:r>
          </a:p>
          <a:p>
            <a:r>
              <a:rPr lang="en-US" sz="2100" dirty="0" err="1"/>
              <a:t>Mesela</a:t>
            </a:r>
            <a:r>
              <a:rPr lang="en-US" sz="2100" dirty="0"/>
              <a:t> </a:t>
            </a:r>
            <a:r>
              <a:rPr lang="en-US" sz="2100" dirty="0" err="1"/>
              <a:t>veriler</a:t>
            </a:r>
            <a:r>
              <a:rPr lang="en-US" sz="2100" dirty="0"/>
              <a:t> </a:t>
            </a:r>
            <a:r>
              <a:rPr lang="en-US" sz="2100" dirty="0" err="1"/>
              <a:t>yüklenirken</a:t>
            </a:r>
            <a:r>
              <a:rPr lang="en-US" sz="2100" dirty="0"/>
              <a:t> “</a:t>
            </a:r>
            <a:r>
              <a:rPr lang="en-US" sz="2100" dirty="0" err="1"/>
              <a:t>Yükleniyor</a:t>
            </a:r>
            <a:r>
              <a:rPr lang="en-US" sz="2100" dirty="0"/>
              <a:t>…” </a:t>
            </a:r>
            <a:r>
              <a:rPr lang="en-US" sz="2100" dirty="0" err="1"/>
              <a:t>ifadesi</a:t>
            </a:r>
            <a:r>
              <a:rPr lang="en-US" sz="2100" dirty="0"/>
              <a:t> </a:t>
            </a:r>
            <a:r>
              <a:rPr lang="en-US" sz="2100" dirty="0" err="1"/>
              <a:t>veya</a:t>
            </a:r>
            <a:r>
              <a:rPr lang="en-US" sz="2100" dirty="0"/>
              <a:t> </a:t>
            </a:r>
            <a:r>
              <a:rPr lang="en-US" sz="2100" dirty="0" err="1"/>
              <a:t>simgesi</a:t>
            </a:r>
            <a:r>
              <a:rPr lang="en-US" sz="2100" dirty="0"/>
              <a:t> </a:t>
            </a:r>
            <a:r>
              <a:rPr lang="en-US" sz="2100" dirty="0" err="1"/>
              <a:t>göstermek</a:t>
            </a:r>
            <a:r>
              <a:rPr lang="en-US" sz="2100" dirty="0"/>
              <a:t>, </a:t>
            </a:r>
            <a:r>
              <a:rPr lang="en-US" sz="2100" dirty="0" err="1"/>
              <a:t>hata</a:t>
            </a:r>
            <a:r>
              <a:rPr lang="en-US" sz="2100" dirty="0"/>
              <a:t> </a:t>
            </a:r>
            <a:r>
              <a:rPr lang="en-US" sz="2100" dirty="0" err="1"/>
              <a:t>olduğunda</a:t>
            </a:r>
            <a:r>
              <a:rPr lang="en-US" sz="2100" dirty="0"/>
              <a:t> “</a:t>
            </a:r>
            <a:r>
              <a:rPr lang="en-US" sz="2100" dirty="0" err="1"/>
              <a:t>hata</a:t>
            </a:r>
            <a:r>
              <a:rPr lang="en-US" sz="2100" dirty="0"/>
              <a:t> </a:t>
            </a:r>
            <a:r>
              <a:rPr lang="en-US" sz="2100" dirty="0" err="1"/>
              <a:t>oluştu</a:t>
            </a:r>
            <a:r>
              <a:rPr lang="en-US" sz="2100" dirty="0"/>
              <a:t>” </a:t>
            </a:r>
            <a:r>
              <a:rPr lang="en-US" sz="2100" dirty="0" err="1"/>
              <a:t>gibi</a:t>
            </a:r>
            <a:r>
              <a:rPr lang="en-US" sz="2100" dirty="0"/>
              <a:t> </a:t>
            </a:r>
            <a:r>
              <a:rPr lang="en-US" sz="2100" dirty="0" err="1"/>
              <a:t>mesajlar</a:t>
            </a:r>
            <a:r>
              <a:rPr lang="en-US" sz="2100" dirty="0"/>
              <a:t> </a:t>
            </a:r>
            <a:r>
              <a:rPr lang="en-US" sz="2100" dirty="0" err="1"/>
              <a:t>vermek</a:t>
            </a:r>
            <a:r>
              <a:rPr lang="en-US" sz="2100" dirty="0"/>
              <a:t> </a:t>
            </a:r>
            <a:r>
              <a:rPr lang="en-US" sz="2100" dirty="0" err="1"/>
              <a:t>isteyebiliriz</a:t>
            </a:r>
            <a:r>
              <a:rPr lang="en-US" sz="2100" dirty="0"/>
              <a:t>.</a:t>
            </a:r>
          </a:p>
          <a:p>
            <a:r>
              <a:rPr lang="en-US" sz="2100" dirty="0"/>
              <a:t>Bu </a:t>
            </a:r>
            <a:r>
              <a:rPr lang="en-US" sz="2100" dirty="0" err="1"/>
              <a:t>noktada</a:t>
            </a:r>
            <a:r>
              <a:rPr lang="en-US" sz="2100" dirty="0"/>
              <a:t> </a:t>
            </a:r>
            <a:r>
              <a:rPr lang="en-US" sz="2100" dirty="0" err="1"/>
              <a:t>isLoading</a:t>
            </a:r>
            <a:r>
              <a:rPr lang="en-US" sz="2100" dirty="0"/>
              <a:t> </a:t>
            </a:r>
            <a:r>
              <a:rPr lang="en-US" sz="2100" dirty="0" err="1"/>
              <a:t>isimli</a:t>
            </a:r>
            <a:r>
              <a:rPr lang="en-US" sz="2100" dirty="0"/>
              <a:t> </a:t>
            </a:r>
            <a:r>
              <a:rPr lang="en-US" sz="2100" dirty="0" err="1"/>
              <a:t>boolean</a:t>
            </a:r>
            <a:r>
              <a:rPr lang="en-US" sz="2100" dirty="0"/>
              <a:t> </a:t>
            </a:r>
            <a:r>
              <a:rPr lang="en-US" sz="2100" dirty="0" err="1"/>
              <a:t>bir</a:t>
            </a:r>
            <a:r>
              <a:rPr lang="en-US" sz="2100" dirty="0"/>
              <a:t> state </a:t>
            </a:r>
            <a:r>
              <a:rPr lang="en-US" sz="2100" dirty="0" err="1"/>
              <a:t>değişkeni</a:t>
            </a:r>
            <a:r>
              <a:rPr lang="en-US" sz="2100" dirty="0"/>
              <a:t> </a:t>
            </a:r>
            <a:r>
              <a:rPr lang="en-US" sz="2100" dirty="0" err="1"/>
              <a:t>tanımlayabiliriz</a:t>
            </a:r>
            <a:r>
              <a:rPr lang="en-US" sz="2100" dirty="0"/>
              <a:t>. </a:t>
            </a:r>
          </a:p>
          <a:p>
            <a:r>
              <a:rPr lang="en-US" sz="2100" dirty="0" err="1"/>
              <a:t>Veriler</a:t>
            </a:r>
            <a:r>
              <a:rPr lang="en-US" sz="2100" dirty="0"/>
              <a:t> </a:t>
            </a:r>
            <a:r>
              <a:rPr lang="en-US" sz="2100" dirty="0" err="1"/>
              <a:t>yüklenirken</a:t>
            </a:r>
            <a:r>
              <a:rPr lang="en-US" sz="2100" dirty="0"/>
              <a:t> bu state true </a:t>
            </a:r>
            <a:r>
              <a:rPr lang="en-US" sz="2100" dirty="0" err="1"/>
              <a:t>değerini</a:t>
            </a:r>
            <a:r>
              <a:rPr lang="en-US" sz="2100" dirty="0"/>
              <a:t> </a:t>
            </a:r>
            <a:r>
              <a:rPr lang="en-US" sz="2100" dirty="0" err="1"/>
              <a:t>alır</a:t>
            </a:r>
            <a:r>
              <a:rPr lang="en-US" sz="2100" dirty="0"/>
              <a:t> </a:t>
            </a:r>
            <a:r>
              <a:rPr lang="en-US" sz="2100" dirty="0" err="1"/>
              <a:t>ve</a:t>
            </a:r>
            <a:r>
              <a:rPr lang="en-US" sz="2100" dirty="0"/>
              <a:t> </a:t>
            </a:r>
            <a:r>
              <a:rPr lang="en-US" sz="2100" dirty="0" err="1"/>
              <a:t>ekrena</a:t>
            </a:r>
            <a:r>
              <a:rPr lang="en-US" sz="2100" dirty="0"/>
              <a:t> ”</a:t>
            </a:r>
            <a:r>
              <a:rPr lang="en-US" sz="2100" dirty="0" err="1"/>
              <a:t>Yükleniyor</a:t>
            </a:r>
            <a:r>
              <a:rPr lang="en-US" sz="2100" dirty="0"/>
              <a:t>…” </a:t>
            </a:r>
            <a:r>
              <a:rPr lang="en-US" sz="2100" dirty="0" err="1"/>
              <a:t>ifadesi</a:t>
            </a:r>
            <a:r>
              <a:rPr lang="en-US" sz="2100" dirty="0"/>
              <a:t> </a:t>
            </a:r>
            <a:r>
              <a:rPr lang="en-US" sz="2100" dirty="0" err="1"/>
              <a:t>gösterilir</a:t>
            </a:r>
            <a:r>
              <a:rPr lang="en-US" sz="2100" dirty="0"/>
              <a:t>. </a:t>
            </a:r>
            <a:r>
              <a:rPr lang="en-US" sz="2100" dirty="0" err="1"/>
              <a:t>Yüklendiğinde</a:t>
            </a:r>
            <a:r>
              <a:rPr lang="en-US" sz="2100" dirty="0"/>
              <a:t> de </a:t>
            </a:r>
            <a:r>
              <a:rPr lang="en-US" sz="2100" dirty="0" err="1"/>
              <a:t>yazılarımız</a:t>
            </a:r>
            <a:r>
              <a:rPr lang="en-US" sz="2100" dirty="0"/>
              <a:t> </a:t>
            </a:r>
            <a:r>
              <a:rPr lang="en-US" sz="2100" dirty="0" err="1"/>
              <a:t>ekrana</a:t>
            </a:r>
            <a:r>
              <a:rPr lang="en-US" sz="2100" dirty="0"/>
              <a:t> </a:t>
            </a:r>
            <a:r>
              <a:rPr lang="en-US" sz="2100" dirty="0" err="1"/>
              <a:t>gelir</a:t>
            </a:r>
            <a:r>
              <a:rPr lang="en-US" sz="2100" dirty="0"/>
              <a:t>.</a:t>
            </a:r>
          </a:p>
          <a:p>
            <a:pPr lvl="1"/>
            <a:r>
              <a:rPr lang="en-US" sz="1700" dirty="0"/>
              <a:t>const [</a:t>
            </a:r>
            <a:r>
              <a:rPr lang="en-US" sz="1700" dirty="0" err="1"/>
              <a:t>isLoading</a:t>
            </a:r>
            <a:r>
              <a:rPr lang="en-US" sz="1700" dirty="0"/>
              <a:t>, </a:t>
            </a:r>
            <a:r>
              <a:rPr lang="en-US" sz="1700" dirty="0" err="1"/>
              <a:t>setIsLoading</a:t>
            </a:r>
            <a:r>
              <a:rPr lang="en-US" sz="1700" dirty="0"/>
              <a:t>] = </a:t>
            </a:r>
            <a:r>
              <a:rPr lang="en-US" sz="1700" dirty="0" err="1"/>
              <a:t>React.useState</a:t>
            </a:r>
            <a:r>
              <a:rPr lang="en-US" sz="1700" dirty="0"/>
              <a:t>(false);</a:t>
            </a:r>
          </a:p>
          <a:p>
            <a:r>
              <a:rPr lang="en-US" sz="2100" dirty="0" err="1"/>
              <a:t>Daha</a:t>
            </a:r>
            <a:r>
              <a:rPr lang="en-US" sz="2100" dirty="0"/>
              <a:t> </a:t>
            </a:r>
            <a:r>
              <a:rPr lang="en-US" sz="2100" dirty="0" err="1"/>
              <a:t>önce</a:t>
            </a:r>
            <a:r>
              <a:rPr lang="en-US" sz="2100" dirty="0"/>
              <a:t> </a:t>
            </a:r>
            <a:r>
              <a:rPr lang="en-US" sz="2100" dirty="0" err="1"/>
              <a:t>asenkron</a:t>
            </a:r>
            <a:r>
              <a:rPr lang="en-US" sz="2100" dirty="0"/>
              <a:t> </a:t>
            </a:r>
            <a:r>
              <a:rPr lang="en-US" sz="2100" dirty="0" err="1"/>
              <a:t>veri</a:t>
            </a:r>
            <a:r>
              <a:rPr lang="en-US" sz="2100" dirty="0"/>
              <a:t> </a:t>
            </a:r>
            <a:r>
              <a:rPr lang="en-US" sz="2100" dirty="0" err="1"/>
              <a:t>çekmek</a:t>
            </a:r>
            <a:r>
              <a:rPr lang="en-US" sz="2100" dirty="0"/>
              <a:t> </a:t>
            </a:r>
            <a:r>
              <a:rPr lang="en-US" sz="2100" dirty="0" err="1"/>
              <a:t>için</a:t>
            </a:r>
            <a:r>
              <a:rPr lang="en-US" sz="2100" dirty="0"/>
              <a:t> </a:t>
            </a:r>
            <a:r>
              <a:rPr lang="en-US" sz="2100" dirty="0" err="1"/>
              <a:t>oluşturduğumuz</a:t>
            </a:r>
            <a:r>
              <a:rPr lang="en-US" sz="2100" dirty="0"/>
              <a:t> </a:t>
            </a:r>
            <a:r>
              <a:rPr lang="en-US" sz="2100" dirty="0" err="1"/>
              <a:t>hook’un</a:t>
            </a:r>
            <a:r>
              <a:rPr lang="en-US" sz="2100" dirty="0"/>
              <a:t> </a:t>
            </a:r>
            <a:r>
              <a:rPr lang="en-US" sz="2100" dirty="0" err="1"/>
              <a:t>girişinde</a:t>
            </a:r>
            <a:r>
              <a:rPr lang="en-US" sz="2100" dirty="0"/>
              <a:t> de </a:t>
            </a:r>
            <a:r>
              <a:rPr lang="en-US" sz="2100" dirty="0" err="1"/>
              <a:t>setIsloading</a:t>
            </a:r>
            <a:r>
              <a:rPr lang="en-US" sz="2100" dirty="0"/>
              <a:t>(true), </a:t>
            </a:r>
            <a:r>
              <a:rPr lang="en-US" sz="2100" dirty="0" err="1"/>
              <a:t>bitişinde</a:t>
            </a:r>
            <a:r>
              <a:rPr lang="en-US" sz="2100" dirty="0"/>
              <a:t> de </a:t>
            </a:r>
            <a:r>
              <a:rPr lang="en-US" sz="2100" dirty="0" err="1"/>
              <a:t>setIsLoading</a:t>
            </a:r>
            <a:r>
              <a:rPr lang="en-US" sz="2100" dirty="0"/>
              <a:t>(false) </a:t>
            </a:r>
            <a:r>
              <a:rPr lang="en-US" sz="2100" dirty="0" err="1"/>
              <a:t>olmalı</a:t>
            </a:r>
            <a:r>
              <a:rPr lang="en-US" sz="2100" dirty="0"/>
              <a:t>.</a:t>
            </a:r>
          </a:p>
        </p:txBody>
      </p:sp>
      <p:sp>
        <p:nvSpPr>
          <p:cNvPr id="5" name="Shape 267"/>
          <p:cNvSpPr/>
          <p:nvPr/>
        </p:nvSpPr>
        <p:spPr>
          <a:xfrm>
            <a:off x="381000" y="681377"/>
            <a:ext cx="537822" cy="537823"/>
          </a:xfrm>
          <a:prstGeom prst="rect">
            <a:avLst/>
          </a:prstGeom>
          <a:solidFill>
            <a:srgbClr val="003366"/>
          </a:solidFill>
          <a:ln w="12700" cap="flat">
            <a:noFill/>
            <a:miter lim="400000"/>
          </a:ln>
          <a:effectLst/>
        </p:spPr>
        <p:txBody>
          <a:bodyPr wrap="square" lIns="34289" tIns="34289" rIns="34289" bIns="34289" numCol="1" anchor="ctr">
            <a:noAutofit/>
          </a:bodyPr>
          <a:lstStyle/>
          <a:p>
            <a:pPr eaLnBrk="1" hangingPunct="1"/>
            <a:r>
              <a:rPr lang="en-US" sz="2400" b="1">
                <a:solidFill>
                  <a:srgbClr val="FFFFFF"/>
                </a:solidFill>
                <a:latin typeface="+mj-lt"/>
                <a:ea typeface="+mn-ea"/>
              </a:rPr>
              <a:t>01</a:t>
            </a:r>
            <a:endParaRPr sz="2400" b="1">
              <a:solidFill>
                <a:srgbClr val="FFFFFF"/>
              </a:solidFill>
              <a:latin typeface="+mj-lt"/>
              <a:ea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FBEC9D-48EB-B87D-5250-43B069B57152}"/>
              </a:ext>
            </a:extLst>
          </p:cNvPr>
          <p:cNvSpPr txBox="1"/>
          <p:nvPr/>
        </p:nvSpPr>
        <p:spPr>
          <a:xfrm>
            <a:off x="190392" y="6580800"/>
            <a:ext cx="5329728" cy="276999"/>
          </a:xfrm>
          <a:prstGeom prst="rect">
            <a:avLst/>
          </a:prstGeom>
          <a:solidFill>
            <a:srgbClr val="28C0BB"/>
          </a:solidFill>
        </p:spPr>
        <p:txBody>
          <a:bodyPr wrap="none" rtlCol="0">
            <a:spAutoFit/>
          </a:bodyPr>
          <a:lstStyle/>
          <a:p>
            <a:r>
              <a:rPr lang="tr-TR" sz="1200" dirty="0">
                <a:solidFill>
                  <a:schemeClr val="tx1"/>
                </a:solidFill>
              </a:rPr>
              <a:t>Doç. Dr. Asım Sinan Yüksel / Web Teknolojileri ve Programlama, 2024-2025</a:t>
            </a:r>
          </a:p>
        </p:txBody>
      </p:sp>
    </p:spTree>
    <p:extLst>
      <p:ext uri="{BB962C8B-B14F-4D97-AF65-F5344CB8AC3E}">
        <p14:creationId xmlns:p14="http://schemas.microsoft.com/office/powerpoint/2010/main" val="7778118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914400" y="681077"/>
            <a:ext cx="8153400" cy="553998"/>
          </a:xfrm>
        </p:spPr>
        <p:txBody>
          <a:bodyPr/>
          <a:lstStyle/>
          <a:p>
            <a:r>
              <a:rPr lang="tr-TR" dirty="0" err="1"/>
              <a:t>Conditional</a:t>
            </a:r>
            <a:r>
              <a:rPr lang="tr-TR" dirty="0"/>
              <a:t> </a:t>
            </a:r>
            <a:r>
              <a:rPr lang="tr-TR" dirty="0" err="1"/>
              <a:t>Rendering</a:t>
            </a:r>
            <a:endParaRPr lang="tr-TR" dirty="0"/>
          </a:p>
        </p:txBody>
      </p:sp>
      <p:sp>
        <p:nvSpPr>
          <p:cNvPr id="5" name="Shape 267"/>
          <p:cNvSpPr/>
          <p:nvPr/>
        </p:nvSpPr>
        <p:spPr>
          <a:xfrm>
            <a:off x="381000" y="681377"/>
            <a:ext cx="537822" cy="537823"/>
          </a:xfrm>
          <a:prstGeom prst="rect">
            <a:avLst/>
          </a:prstGeom>
          <a:solidFill>
            <a:srgbClr val="003366"/>
          </a:solidFill>
          <a:ln w="12700" cap="flat">
            <a:noFill/>
            <a:miter lim="400000"/>
          </a:ln>
          <a:effectLst/>
        </p:spPr>
        <p:txBody>
          <a:bodyPr wrap="square" lIns="34289" tIns="34289" rIns="34289" bIns="34289" numCol="1" anchor="ctr">
            <a:noAutofit/>
          </a:bodyPr>
          <a:lstStyle/>
          <a:p>
            <a:pPr eaLnBrk="1" hangingPunct="1"/>
            <a:r>
              <a:rPr lang="en-US" sz="2400" b="1">
                <a:solidFill>
                  <a:srgbClr val="FFFFFF"/>
                </a:solidFill>
                <a:latin typeface="+mj-lt"/>
                <a:ea typeface="+mn-ea"/>
              </a:rPr>
              <a:t>01</a:t>
            </a:r>
            <a:endParaRPr sz="2400" b="1">
              <a:solidFill>
                <a:srgbClr val="FFFFFF"/>
              </a:solidFill>
              <a:latin typeface="+mj-lt"/>
              <a:ea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FBEC9D-48EB-B87D-5250-43B069B57152}"/>
              </a:ext>
            </a:extLst>
          </p:cNvPr>
          <p:cNvSpPr txBox="1"/>
          <p:nvPr/>
        </p:nvSpPr>
        <p:spPr>
          <a:xfrm>
            <a:off x="190392" y="6580800"/>
            <a:ext cx="5329728" cy="276999"/>
          </a:xfrm>
          <a:prstGeom prst="rect">
            <a:avLst/>
          </a:prstGeom>
          <a:solidFill>
            <a:srgbClr val="28C0BB"/>
          </a:solidFill>
        </p:spPr>
        <p:txBody>
          <a:bodyPr wrap="none" rtlCol="0">
            <a:spAutoFit/>
          </a:bodyPr>
          <a:lstStyle/>
          <a:p>
            <a:r>
              <a:rPr lang="tr-TR" sz="1200" dirty="0">
                <a:solidFill>
                  <a:schemeClr val="tx1"/>
                </a:solidFill>
              </a:rPr>
              <a:t>Doç. Dr. Asım Sinan Yüksel / Web Teknolojileri ve Programlama, 2024-2025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B3E03B2-DF12-6264-A667-66D8D1ADE5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r>
              <a:rPr lang="tr-TR" dirty="0" err="1"/>
              <a:t>isLoading</a:t>
            </a:r>
            <a:r>
              <a:rPr lang="tr-TR" dirty="0"/>
              <a:t> </a:t>
            </a:r>
            <a:r>
              <a:rPr lang="tr-TR" dirty="0" err="1"/>
              <a:t>state</a:t>
            </a:r>
            <a:r>
              <a:rPr lang="tr-TR" dirty="0"/>
              <a:t> değişkenini </a:t>
            </a:r>
            <a:r>
              <a:rPr lang="tr-TR" dirty="0" err="1"/>
              <a:t>ternary</a:t>
            </a:r>
            <a:r>
              <a:rPr lang="tr-TR" dirty="0"/>
              <a:t> operatör aracılığı ile </a:t>
            </a:r>
            <a:r>
              <a:rPr lang="tr-TR" dirty="0" err="1"/>
              <a:t>arayüzü</a:t>
            </a:r>
            <a:r>
              <a:rPr lang="tr-TR" dirty="0"/>
              <a:t> </a:t>
            </a:r>
            <a:r>
              <a:rPr lang="tr-TR" dirty="0" err="1"/>
              <a:t>render</a:t>
            </a:r>
            <a:r>
              <a:rPr lang="tr-TR" dirty="0"/>
              <a:t> ettiğimiz yerde «</a:t>
            </a:r>
            <a:r>
              <a:rPr lang="tr-TR" dirty="0" err="1"/>
              <a:t>conditional</a:t>
            </a:r>
            <a:r>
              <a:rPr lang="tr-TR" dirty="0"/>
              <a:t> </a:t>
            </a:r>
            <a:r>
              <a:rPr lang="tr-TR" dirty="0" err="1"/>
              <a:t>rendering</a:t>
            </a:r>
            <a:r>
              <a:rPr lang="tr-TR" dirty="0"/>
              <a:t>» işlemini gerçekleştirmiş oluruz.</a:t>
            </a:r>
          </a:p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tr-TR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71A7E8D-2E2C-1C2C-2D1E-08FCC23EAC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06" y="1600200"/>
            <a:ext cx="4432300" cy="20193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E8F8155-E801-13EC-52B0-968BFB8673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106" y="5029200"/>
            <a:ext cx="6066494" cy="1081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19829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914400" y="681077"/>
            <a:ext cx="8153400" cy="553998"/>
          </a:xfrm>
        </p:spPr>
        <p:txBody>
          <a:bodyPr/>
          <a:lstStyle/>
          <a:p>
            <a:r>
              <a:rPr lang="tr-TR" dirty="0" err="1"/>
              <a:t>Conditional</a:t>
            </a:r>
            <a:r>
              <a:rPr lang="tr-TR" dirty="0"/>
              <a:t> </a:t>
            </a:r>
            <a:r>
              <a:rPr lang="tr-TR" dirty="0" err="1"/>
              <a:t>Rendering</a:t>
            </a:r>
            <a:endParaRPr lang="tr-TR" dirty="0"/>
          </a:p>
        </p:txBody>
      </p:sp>
      <p:sp>
        <p:nvSpPr>
          <p:cNvPr id="5" name="Shape 267"/>
          <p:cNvSpPr/>
          <p:nvPr/>
        </p:nvSpPr>
        <p:spPr>
          <a:xfrm>
            <a:off x="381000" y="681377"/>
            <a:ext cx="537822" cy="537823"/>
          </a:xfrm>
          <a:prstGeom prst="rect">
            <a:avLst/>
          </a:prstGeom>
          <a:solidFill>
            <a:srgbClr val="003366"/>
          </a:solidFill>
          <a:ln w="12700" cap="flat">
            <a:noFill/>
            <a:miter lim="400000"/>
          </a:ln>
          <a:effectLst/>
        </p:spPr>
        <p:txBody>
          <a:bodyPr wrap="square" lIns="34289" tIns="34289" rIns="34289" bIns="34289" numCol="1" anchor="ctr">
            <a:noAutofit/>
          </a:bodyPr>
          <a:lstStyle/>
          <a:p>
            <a:pPr eaLnBrk="1" hangingPunct="1"/>
            <a:r>
              <a:rPr lang="en-US" sz="2400" b="1">
                <a:solidFill>
                  <a:srgbClr val="FFFFFF"/>
                </a:solidFill>
                <a:latin typeface="+mj-lt"/>
                <a:ea typeface="+mn-ea"/>
              </a:rPr>
              <a:t>01</a:t>
            </a:r>
            <a:endParaRPr sz="2400" b="1">
              <a:solidFill>
                <a:srgbClr val="FFFFFF"/>
              </a:solidFill>
              <a:latin typeface="+mj-lt"/>
              <a:ea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FBEC9D-48EB-B87D-5250-43B069B57152}"/>
              </a:ext>
            </a:extLst>
          </p:cNvPr>
          <p:cNvSpPr txBox="1"/>
          <p:nvPr/>
        </p:nvSpPr>
        <p:spPr>
          <a:xfrm>
            <a:off x="190392" y="6580800"/>
            <a:ext cx="5329728" cy="276999"/>
          </a:xfrm>
          <a:prstGeom prst="rect">
            <a:avLst/>
          </a:prstGeom>
          <a:solidFill>
            <a:srgbClr val="28C0BB"/>
          </a:solidFill>
        </p:spPr>
        <p:txBody>
          <a:bodyPr wrap="none" rtlCol="0">
            <a:spAutoFit/>
          </a:bodyPr>
          <a:lstStyle/>
          <a:p>
            <a:r>
              <a:rPr lang="tr-TR" sz="1200" dirty="0">
                <a:solidFill>
                  <a:schemeClr val="tx1"/>
                </a:solidFill>
              </a:rPr>
              <a:t>Doç. Dr. Asım Sinan Yüksel / Web Teknolojileri ve Programlama, 2024-2025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B3E03B2-DF12-6264-A667-66D8D1ADE5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pPr marL="0" indent="0">
              <a:buNone/>
            </a:pPr>
            <a:endParaRPr lang="tr-TR" dirty="0"/>
          </a:p>
          <a:p>
            <a:r>
              <a:rPr lang="tr-TR" dirty="0"/>
              <a:t>Ek olarak hata ile karşılaşmamız durumundaki durumlar için de </a:t>
            </a:r>
            <a:r>
              <a:rPr lang="tr-TR" dirty="0" err="1"/>
              <a:t>state</a:t>
            </a:r>
            <a:r>
              <a:rPr lang="tr-TR" dirty="0"/>
              <a:t> değişkeni tanımlayabiliriz ve </a:t>
            </a:r>
            <a:r>
              <a:rPr lang="tr-TR" dirty="0" err="1"/>
              <a:t>catch</a:t>
            </a:r>
            <a:r>
              <a:rPr lang="tr-TR" dirty="0"/>
              <a:t> ile de hataları </a:t>
            </a:r>
            <a:r>
              <a:rPr lang="tr-TR" dirty="0" err="1"/>
              <a:t>yakayabiliriz</a:t>
            </a:r>
            <a:r>
              <a:rPr lang="tr-TR" dirty="0"/>
              <a:t>.</a:t>
            </a:r>
          </a:p>
          <a:p>
            <a:pPr lvl="1"/>
            <a:r>
              <a:rPr lang="tr-TR" dirty="0" err="1"/>
              <a:t>const</a:t>
            </a:r>
            <a:r>
              <a:rPr lang="tr-TR" dirty="0"/>
              <a:t> [</a:t>
            </a:r>
            <a:r>
              <a:rPr lang="tr-TR" dirty="0" err="1"/>
              <a:t>isError</a:t>
            </a:r>
            <a:r>
              <a:rPr lang="tr-TR" dirty="0"/>
              <a:t>, </a:t>
            </a:r>
            <a:r>
              <a:rPr lang="tr-TR" dirty="0" err="1"/>
              <a:t>setIsError</a:t>
            </a:r>
            <a:r>
              <a:rPr lang="tr-TR" dirty="0"/>
              <a:t>] = </a:t>
            </a:r>
            <a:r>
              <a:rPr lang="tr-TR" dirty="0" err="1"/>
              <a:t>React.useState</a:t>
            </a:r>
            <a:r>
              <a:rPr lang="tr-TR" dirty="0"/>
              <a:t>(</a:t>
            </a:r>
            <a:r>
              <a:rPr lang="tr-TR" dirty="0" err="1"/>
              <a:t>false</a:t>
            </a:r>
            <a:r>
              <a:rPr lang="tr-TR" dirty="0"/>
              <a:t>);</a:t>
            </a:r>
          </a:p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tr-TR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5EAAC13-DFCE-E88C-19DE-D77A97EA6F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1524000"/>
            <a:ext cx="3886200" cy="187484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D8BAA49-D701-55F1-1146-077CBA04A3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4597400"/>
            <a:ext cx="3038764" cy="14224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6DA6BBC-6ACF-6173-C4DB-6A638377F0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9000" y="4597400"/>
            <a:ext cx="5378071" cy="12319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73312F2-4FD2-E49D-C274-043577B8274C}"/>
              </a:ext>
            </a:extLst>
          </p:cNvPr>
          <p:cNvSpPr txBox="1"/>
          <p:nvPr/>
        </p:nvSpPr>
        <p:spPr>
          <a:xfrm>
            <a:off x="533400" y="6076890"/>
            <a:ext cx="6553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000" b="1" dirty="0"/>
              <a:t>Örnek: </a:t>
            </a:r>
            <a:r>
              <a:rPr lang="tr-TR" sz="2000" dirty="0">
                <a:hlinkClick r:id="rId6"/>
              </a:rPr>
              <a:t>https://codesandbox.io/s/romantic-wind-rgjhwn</a:t>
            </a:r>
            <a:endParaRPr lang="tr-TR" sz="2000" dirty="0"/>
          </a:p>
        </p:txBody>
      </p:sp>
    </p:spTree>
    <p:extLst>
      <p:ext uri="{BB962C8B-B14F-4D97-AF65-F5344CB8AC3E}">
        <p14:creationId xmlns:p14="http://schemas.microsoft.com/office/powerpoint/2010/main" val="22345787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914400" y="681077"/>
            <a:ext cx="8153400" cy="553998"/>
          </a:xfrm>
        </p:spPr>
        <p:txBody>
          <a:bodyPr/>
          <a:lstStyle/>
          <a:p>
            <a:r>
              <a:rPr lang="tr-TR" dirty="0" err="1"/>
              <a:t>Reducer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52400" y="1371600"/>
            <a:ext cx="8839200" cy="5105400"/>
          </a:xfrm>
        </p:spPr>
        <p:txBody>
          <a:bodyPr/>
          <a:lstStyle/>
          <a:p>
            <a:r>
              <a:rPr lang="en-US" sz="2100" dirty="0" err="1"/>
              <a:t>Reducerlar</a:t>
            </a:r>
            <a:r>
              <a:rPr lang="en-US" sz="2100" dirty="0"/>
              <a:t>, </a:t>
            </a:r>
            <a:r>
              <a:rPr lang="en-US" sz="2100" dirty="0" err="1"/>
              <a:t>uygulamanın</a:t>
            </a:r>
            <a:r>
              <a:rPr lang="en-US" sz="2100" dirty="0"/>
              <a:t> </a:t>
            </a:r>
            <a:r>
              <a:rPr lang="en-US" sz="2100" dirty="0" err="1"/>
              <a:t>durumunu</a:t>
            </a:r>
            <a:r>
              <a:rPr lang="en-US" sz="2100" dirty="0"/>
              <a:t> </a:t>
            </a:r>
            <a:r>
              <a:rPr lang="en-US" sz="2100" dirty="0" err="1"/>
              <a:t>temsil</a:t>
            </a:r>
            <a:r>
              <a:rPr lang="en-US" sz="2100" dirty="0"/>
              <a:t> </a:t>
            </a:r>
            <a:r>
              <a:rPr lang="en-US" sz="2100" dirty="0" err="1"/>
              <a:t>eden</a:t>
            </a:r>
            <a:r>
              <a:rPr lang="en-US" sz="2100" dirty="0"/>
              <a:t> </a:t>
            </a:r>
            <a:r>
              <a:rPr lang="en-US" sz="2100" dirty="0" err="1"/>
              <a:t>veri</a:t>
            </a:r>
            <a:r>
              <a:rPr lang="en-US" sz="2100" dirty="0"/>
              <a:t> </a:t>
            </a:r>
            <a:r>
              <a:rPr lang="en-US" sz="2100" dirty="0" err="1"/>
              <a:t>yapısını</a:t>
            </a:r>
            <a:r>
              <a:rPr lang="en-US" sz="2100" dirty="0"/>
              <a:t> </a:t>
            </a:r>
            <a:r>
              <a:rPr lang="en-US" sz="2100" dirty="0" err="1"/>
              <a:t>yani</a:t>
            </a:r>
            <a:r>
              <a:rPr lang="en-US" sz="2100" dirty="0"/>
              <a:t> </a:t>
            </a:r>
            <a:r>
              <a:rPr lang="en-US" sz="2100" dirty="0" err="1"/>
              <a:t>state’leri</a:t>
            </a:r>
            <a:r>
              <a:rPr lang="en-US" sz="2100" dirty="0"/>
              <a:t> </a:t>
            </a:r>
            <a:r>
              <a:rPr lang="en-US" sz="2100" dirty="0" err="1"/>
              <a:t>yönetir</a:t>
            </a:r>
            <a:r>
              <a:rPr lang="en-US" sz="2100" dirty="0"/>
              <a:t>. State </a:t>
            </a:r>
            <a:r>
              <a:rPr lang="en-US" sz="2100" dirty="0" err="1"/>
              <a:t>ve</a:t>
            </a:r>
            <a:r>
              <a:rPr lang="en-US" sz="2100" dirty="0"/>
              <a:t> action </a:t>
            </a:r>
            <a:r>
              <a:rPr lang="en-US" sz="2100" dirty="0" err="1"/>
              <a:t>parametrelerini</a:t>
            </a:r>
            <a:r>
              <a:rPr lang="en-US" sz="2100" dirty="0"/>
              <a:t> </a:t>
            </a:r>
            <a:r>
              <a:rPr lang="en-US" sz="2100" dirty="0" err="1"/>
              <a:t>alırlar</a:t>
            </a:r>
            <a:r>
              <a:rPr lang="en-US" sz="2100" dirty="0"/>
              <a:t>.</a:t>
            </a:r>
          </a:p>
          <a:p>
            <a:r>
              <a:rPr lang="en-US" sz="2100" dirty="0"/>
              <a:t>Actions/</a:t>
            </a:r>
            <a:r>
              <a:rPr lang="en-US" sz="2100" dirty="0" err="1"/>
              <a:t>Eylemler</a:t>
            </a:r>
            <a:r>
              <a:rPr lang="en-US" sz="2100" dirty="0"/>
              <a:t>, </a:t>
            </a:r>
            <a:r>
              <a:rPr lang="en-US" sz="2100" dirty="0" err="1"/>
              <a:t>state’i</a:t>
            </a:r>
            <a:r>
              <a:rPr lang="en-US" sz="2100" dirty="0"/>
              <a:t> </a:t>
            </a:r>
            <a:r>
              <a:rPr lang="en-US" sz="2100" dirty="0" err="1"/>
              <a:t>değiştirmek</a:t>
            </a:r>
            <a:r>
              <a:rPr lang="en-US" sz="2100" dirty="0"/>
              <a:t> </a:t>
            </a:r>
            <a:r>
              <a:rPr lang="en-US" sz="2100" dirty="0" err="1"/>
              <a:t>için</a:t>
            </a:r>
            <a:r>
              <a:rPr lang="en-US" sz="2100" dirty="0"/>
              <a:t> </a:t>
            </a:r>
            <a:r>
              <a:rPr lang="en-US" sz="2100" dirty="0" err="1"/>
              <a:t>bir</a:t>
            </a:r>
            <a:r>
              <a:rPr lang="en-US" sz="2100" dirty="0"/>
              <a:t> </a:t>
            </a:r>
            <a:r>
              <a:rPr lang="en-US" sz="2100" dirty="0" err="1"/>
              <a:t>araç</a:t>
            </a:r>
            <a:r>
              <a:rPr lang="en-US" sz="2100" dirty="0"/>
              <a:t> </a:t>
            </a:r>
            <a:r>
              <a:rPr lang="en-US" sz="2100" dirty="0" err="1"/>
              <a:t>sağlar</a:t>
            </a:r>
            <a:r>
              <a:rPr lang="en-US" sz="2100" dirty="0"/>
              <a:t>. </a:t>
            </a:r>
            <a:r>
              <a:rPr lang="en-US" sz="2100" dirty="0" err="1"/>
              <a:t>State’in</a:t>
            </a:r>
            <a:r>
              <a:rPr lang="en-US" sz="2100" dirty="0"/>
              <a:t> </a:t>
            </a:r>
            <a:r>
              <a:rPr lang="en-US" sz="2100" dirty="0" err="1"/>
              <a:t>nasıl</a:t>
            </a:r>
            <a:r>
              <a:rPr lang="en-US" sz="2100" dirty="0"/>
              <a:t> </a:t>
            </a:r>
            <a:r>
              <a:rPr lang="en-US" sz="2100" dirty="0" err="1"/>
              <a:t>değiştirileceğini</a:t>
            </a:r>
            <a:r>
              <a:rPr lang="en-US" sz="2100" dirty="0"/>
              <a:t> </a:t>
            </a:r>
            <a:r>
              <a:rPr lang="en-US" sz="2100" dirty="0" err="1"/>
              <a:t>tanımlayan</a:t>
            </a:r>
            <a:r>
              <a:rPr lang="en-US" sz="2100" dirty="0"/>
              <a:t> </a:t>
            </a:r>
            <a:r>
              <a:rPr lang="en-US" sz="2100" dirty="0" err="1"/>
              <a:t>bir</a:t>
            </a:r>
            <a:r>
              <a:rPr lang="en-US" sz="2100" dirty="0"/>
              <a:t> </a:t>
            </a:r>
            <a:r>
              <a:rPr lang="en-US" sz="2100" dirty="0" err="1"/>
              <a:t>nesnedir</a:t>
            </a:r>
            <a:r>
              <a:rPr lang="en-US" sz="2100" dirty="0"/>
              <a:t>. Bir action, tip (type) </a:t>
            </a:r>
            <a:r>
              <a:rPr lang="en-US" sz="2100" dirty="0" err="1"/>
              <a:t>adında</a:t>
            </a:r>
            <a:r>
              <a:rPr lang="en-US" sz="2100" dirty="0"/>
              <a:t> </a:t>
            </a:r>
            <a:r>
              <a:rPr lang="en-US" sz="2100" dirty="0" err="1"/>
              <a:t>bir</a:t>
            </a:r>
            <a:r>
              <a:rPr lang="en-US" sz="2100" dirty="0"/>
              <a:t> </a:t>
            </a:r>
            <a:r>
              <a:rPr lang="en-US" sz="2100" dirty="0" err="1"/>
              <a:t>tanımlayıcıya</a:t>
            </a:r>
            <a:r>
              <a:rPr lang="en-US" sz="2100" dirty="0"/>
              <a:t> </a:t>
            </a:r>
            <a:r>
              <a:rPr lang="en-US" sz="2100" dirty="0" err="1"/>
              <a:t>ve</a:t>
            </a:r>
            <a:r>
              <a:rPr lang="en-US" sz="2100" dirty="0"/>
              <a:t> </a:t>
            </a:r>
            <a:r>
              <a:rPr lang="en-US" sz="2100" dirty="0" err="1"/>
              <a:t>gerekirse</a:t>
            </a:r>
            <a:r>
              <a:rPr lang="en-US" sz="2100" dirty="0"/>
              <a:t> </a:t>
            </a:r>
            <a:r>
              <a:rPr lang="en-US" sz="2100" dirty="0" err="1"/>
              <a:t>ilgili</a:t>
            </a:r>
            <a:r>
              <a:rPr lang="en-US" sz="2100" dirty="0"/>
              <a:t> </a:t>
            </a:r>
            <a:r>
              <a:rPr lang="en-US" sz="2100" dirty="0" err="1"/>
              <a:t>veriye</a:t>
            </a:r>
            <a:r>
              <a:rPr lang="en-US" sz="2100" dirty="0"/>
              <a:t> (payload) </a:t>
            </a:r>
            <a:r>
              <a:rPr lang="en-US" sz="2100" dirty="0" err="1"/>
              <a:t>sahip</a:t>
            </a:r>
            <a:r>
              <a:rPr lang="en-US" sz="2100" dirty="0"/>
              <a:t> </a:t>
            </a:r>
            <a:r>
              <a:rPr lang="en-US" sz="2100" dirty="0" err="1"/>
              <a:t>olabilir</a:t>
            </a:r>
            <a:r>
              <a:rPr lang="en-US" sz="2100" dirty="0"/>
              <a:t>.</a:t>
            </a:r>
          </a:p>
          <a:p>
            <a:r>
              <a:rPr lang="en-US" sz="2100" dirty="0" err="1"/>
              <a:t>Reducerlar</a:t>
            </a:r>
            <a:r>
              <a:rPr lang="en-US" sz="2100" dirty="0"/>
              <a:t>, </a:t>
            </a:r>
            <a:r>
              <a:rPr lang="en-US" sz="2100" dirty="0" err="1"/>
              <a:t>mevcut</a:t>
            </a:r>
            <a:r>
              <a:rPr lang="en-US" sz="2100" dirty="0"/>
              <a:t> </a:t>
            </a:r>
            <a:r>
              <a:rPr lang="en-US" sz="2100" dirty="0" err="1"/>
              <a:t>state'i</a:t>
            </a:r>
            <a:r>
              <a:rPr lang="en-US" sz="2100" dirty="0"/>
              <a:t> </a:t>
            </a:r>
            <a:r>
              <a:rPr lang="en-US" sz="2100" dirty="0" err="1"/>
              <a:t>ve</a:t>
            </a:r>
            <a:r>
              <a:rPr lang="en-US" sz="2100" dirty="0"/>
              <a:t> </a:t>
            </a:r>
            <a:r>
              <a:rPr lang="en-US" sz="2100" dirty="0" err="1"/>
              <a:t>bir</a:t>
            </a:r>
            <a:r>
              <a:rPr lang="en-US" sz="2100" dirty="0"/>
              <a:t> action </a:t>
            </a:r>
            <a:r>
              <a:rPr lang="en-US" sz="2100" dirty="0" err="1"/>
              <a:t>alır</a:t>
            </a:r>
            <a:r>
              <a:rPr lang="en-US" sz="2100" dirty="0"/>
              <a:t> </a:t>
            </a:r>
            <a:r>
              <a:rPr lang="en-US" sz="2100" dirty="0" err="1"/>
              <a:t>ve</a:t>
            </a:r>
            <a:r>
              <a:rPr lang="en-US" sz="2100" dirty="0"/>
              <a:t> yeni </a:t>
            </a:r>
            <a:r>
              <a:rPr lang="en-US" sz="2100" dirty="0" err="1"/>
              <a:t>bir</a:t>
            </a:r>
            <a:r>
              <a:rPr lang="en-US" sz="2100" dirty="0"/>
              <a:t> state </a:t>
            </a:r>
            <a:r>
              <a:rPr lang="en-US" sz="2100" dirty="0" err="1"/>
              <a:t>üretmek</a:t>
            </a:r>
            <a:r>
              <a:rPr lang="en-US" sz="2100" dirty="0"/>
              <a:t> </a:t>
            </a:r>
            <a:r>
              <a:rPr lang="en-US" sz="2100" dirty="0" err="1"/>
              <a:t>için</a:t>
            </a:r>
            <a:r>
              <a:rPr lang="en-US" sz="2100" dirty="0"/>
              <a:t> bu </a:t>
            </a:r>
            <a:r>
              <a:rPr lang="en-US" sz="2100" dirty="0" err="1"/>
              <a:t>bilgileri</a:t>
            </a:r>
            <a:r>
              <a:rPr lang="en-US" sz="2100" dirty="0"/>
              <a:t> </a:t>
            </a:r>
            <a:r>
              <a:rPr lang="en-US" sz="2100" dirty="0" err="1"/>
              <a:t>kullanır</a:t>
            </a:r>
            <a:r>
              <a:rPr lang="en-US" sz="2100" dirty="0"/>
              <a:t>. </a:t>
            </a:r>
            <a:r>
              <a:rPr lang="en-US" sz="2100" dirty="0" err="1"/>
              <a:t>Reducerlar</a:t>
            </a:r>
            <a:r>
              <a:rPr lang="en-US" sz="2100" dirty="0"/>
              <a:t>, </a:t>
            </a:r>
            <a:r>
              <a:rPr lang="en-US" sz="2100" dirty="0" err="1"/>
              <a:t>saf</a:t>
            </a:r>
            <a:r>
              <a:rPr lang="en-US" sz="2100" dirty="0"/>
              <a:t> (pure) </a:t>
            </a:r>
            <a:r>
              <a:rPr lang="en-US" sz="2100" dirty="0" err="1"/>
              <a:t>fonksiyonlardır</a:t>
            </a:r>
            <a:r>
              <a:rPr lang="en-US" sz="2100" dirty="0"/>
              <a:t>, </a:t>
            </a:r>
            <a:r>
              <a:rPr lang="en-US" sz="2100" dirty="0" err="1"/>
              <a:t>yani</a:t>
            </a:r>
            <a:r>
              <a:rPr lang="en-US" sz="2100" dirty="0"/>
              <a:t> </a:t>
            </a:r>
            <a:r>
              <a:rPr lang="en-US" sz="2100" dirty="0" err="1"/>
              <a:t>yan</a:t>
            </a:r>
            <a:r>
              <a:rPr lang="en-US" sz="2100" dirty="0"/>
              <a:t> </a:t>
            </a:r>
            <a:r>
              <a:rPr lang="en-US" sz="2100" dirty="0" err="1"/>
              <a:t>etkileri</a:t>
            </a:r>
            <a:r>
              <a:rPr lang="en-US" sz="2100" dirty="0"/>
              <a:t> </a:t>
            </a:r>
            <a:r>
              <a:rPr lang="en-US" sz="2100" dirty="0" err="1"/>
              <a:t>yoktur</a:t>
            </a:r>
            <a:r>
              <a:rPr lang="en-US" sz="2100" dirty="0"/>
              <a:t> </a:t>
            </a:r>
            <a:r>
              <a:rPr lang="en-US" sz="2100" dirty="0" err="1"/>
              <a:t>ve</a:t>
            </a:r>
            <a:r>
              <a:rPr lang="en-US" sz="2100" dirty="0"/>
              <a:t> her zaman </a:t>
            </a:r>
            <a:r>
              <a:rPr lang="en-US" sz="2100" dirty="0" err="1"/>
              <a:t>aynı</a:t>
            </a:r>
            <a:r>
              <a:rPr lang="en-US" sz="2100" dirty="0"/>
              <a:t> </a:t>
            </a:r>
            <a:r>
              <a:rPr lang="en-US" sz="2100" dirty="0" err="1"/>
              <a:t>girdiye</a:t>
            </a:r>
            <a:r>
              <a:rPr lang="en-US" sz="2100" dirty="0"/>
              <a:t> </a:t>
            </a:r>
            <a:r>
              <a:rPr lang="en-US" sz="2100" dirty="0" err="1"/>
              <a:t>karşılık</a:t>
            </a:r>
            <a:r>
              <a:rPr lang="en-US" sz="2100" dirty="0"/>
              <a:t> </a:t>
            </a:r>
            <a:r>
              <a:rPr lang="en-US" sz="2100" dirty="0" err="1"/>
              <a:t>aynı</a:t>
            </a:r>
            <a:r>
              <a:rPr lang="en-US" sz="2100" dirty="0"/>
              <a:t> </a:t>
            </a:r>
            <a:r>
              <a:rPr lang="en-US" sz="2100" dirty="0" err="1"/>
              <a:t>çıktıyı</a:t>
            </a:r>
            <a:r>
              <a:rPr lang="en-US" sz="2100" dirty="0"/>
              <a:t> </a:t>
            </a:r>
            <a:r>
              <a:rPr lang="en-US" sz="2100" dirty="0" err="1"/>
              <a:t>üretirler</a:t>
            </a:r>
            <a:r>
              <a:rPr lang="en-US" sz="2100" dirty="0"/>
              <a:t>. Bir reducer, </a:t>
            </a:r>
            <a:r>
              <a:rPr lang="en-US" sz="2100" dirty="0" err="1"/>
              <a:t>state’i</a:t>
            </a:r>
            <a:r>
              <a:rPr lang="en-US" sz="2100" dirty="0"/>
              <a:t> </a:t>
            </a:r>
            <a:r>
              <a:rPr lang="en-US" sz="2100" dirty="0" err="1"/>
              <a:t>değiştirmek</a:t>
            </a:r>
            <a:r>
              <a:rPr lang="en-US" sz="2100" dirty="0"/>
              <a:t> </a:t>
            </a:r>
            <a:r>
              <a:rPr lang="en-US" sz="2100" dirty="0" err="1"/>
              <a:t>için</a:t>
            </a:r>
            <a:r>
              <a:rPr lang="en-US" sz="2100" dirty="0"/>
              <a:t> </a:t>
            </a:r>
            <a:r>
              <a:rPr lang="en-US" sz="2100" dirty="0" err="1"/>
              <a:t>mevcut</a:t>
            </a:r>
            <a:r>
              <a:rPr lang="en-US" sz="2100" dirty="0"/>
              <a:t> </a:t>
            </a:r>
            <a:r>
              <a:rPr lang="en-US" sz="2100" dirty="0" err="1"/>
              <a:t>state'i</a:t>
            </a:r>
            <a:r>
              <a:rPr lang="en-US" sz="2100" dirty="0"/>
              <a:t> </a:t>
            </a:r>
            <a:r>
              <a:rPr lang="en-US" sz="2100" dirty="0" err="1"/>
              <a:t>kullanır</a:t>
            </a:r>
            <a:r>
              <a:rPr lang="en-US" sz="2100" dirty="0"/>
              <a:t> </a:t>
            </a:r>
            <a:r>
              <a:rPr lang="en-US" sz="2100" dirty="0" err="1"/>
              <a:t>ve</a:t>
            </a:r>
            <a:r>
              <a:rPr lang="en-US" sz="2100" dirty="0"/>
              <a:t> </a:t>
            </a:r>
            <a:r>
              <a:rPr lang="en-US" sz="2100" dirty="0" err="1"/>
              <a:t>action’a</a:t>
            </a:r>
            <a:r>
              <a:rPr lang="en-US" sz="2100" dirty="0"/>
              <a:t> </a:t>
            </a:r>
            <a:r>
              <a:rPr lang="en-US" sz="2100" dirty="0" err="1"/>
              <a:t>göre</a:t>
            </a:r>
            <a:r>
              <a:rPr lang="en-US" sz="2100" dirty="0"/>
              <a:t> </a:t>
            </a:r>
            <a:r>
              <a:rPr lang="en-US" sz="2100" dirty="0" err="1"/>
              <a:t>bir</a:t>
            </a:r>
            <a:r>
              <a:rPr lang="en-US" sz="2100" dirty="0"/>
              <a:t> yeni state </a:t>
            </a:r>
            <a:r>
              <a:rPr lang="en-US" sz="2100" dirty="0" err="1"/>
              <a:t>döndürür</a:t>
            </a:r>
            <a:r>
              <a:rPr lang="en-US" sz="2100" dirty="0"/>
              <a:t>.</a:t>
            </a:r>
          </a:p>
          <a:p>
            <a:r>
              <a:rPr lang="en-US" sz="2100" dirty="0" err="1"/>
              <a:t>Güncellenmiş</a:t>
            </a:r>
            <a:r>
              <a:rPr lang="en-US" sz="2100" dirty="0"/>
              <a:t> state, React </a:t>
            </a:r>
            <a:r>
              <a:rPr lang="en-US" sz="2100" dirty="0" err="1"/>
              <a:t>bileşenlerine</a:t>
            </a:r>
            <a:r>
              <a:rPr lang="en-US" sz="2100" dirty="0"/>
              <a:t> </a:t>
            </a:r>
            <a:r>
              <a:rPr lang="en-US" sz="2100" dirty="0" err="1"/>
              <a:t>aktarılır</a:t>
            </a:r>
            <a:r>
              <a:rPr lang="en-US" sz="2100" dirty="0"/>
              <a:t> </a:t>
            </a:r>
            <a:r>
              <a:rPr lang="en-US" sz="2100" dirty="0" err="1"/>
              <a:t>ve</a:t>
            </a:r>
            <a:r>
              <a:rPr lang="en-US" sz="2100" dirty="0"/>
              <a:t> </a:t>
            </a:r>
            <a:r>
              <a:rPr lang="en-US" sz="2100" dirty="0" err="1"/>
              <a:t>uygulama</a:t>
            </a:r>
            <a:r>
              <a:rPr lang="en-US" sz="2100" dirty="0"/>
              <a:t> </a:t>
            </a:r>
            <a:r>
              <a:rPr lang="en-US" sz="2100" dirty="0" err="1"/>
              <a:t>yeniden</a:t>
            </a:r>
            <a:r>
              <a:rPr lang="en-US" sz="2100" dirty="0"/>
              <a:t> render </a:t>
            </a:r>
            <a:r>
              <a:rPr lang="en-US" sz="2100" dirty="0" err="1"/>
              <a:t>edilir</a:t>
            </a:r>
            <a:r>
              <a:rPr lang="en-US" sz="2100" dirty="0"/>
              <a:t>. Bu, </a:t>
            </a:r>
            <a:r>
              <a:rPr lang="en-US" sz="2100" dirty="0" err="1"/>
              <a:t>güncellenmiş</a:t>
            </a:r>
            <a:r>
              <a:rPr lang="en-US" sz="2100" dirty="0"/>
              <a:t> state </a:t>
            </a:r>
            <a:r>
              <a:rPr lang="en-US" sz="2100" dirty="0" err="1"/>
              <a:t>kullanıcı</a:t>
            </a:r>
            <a:r>
              <a:rPr lang="en-US" sz="2100" dirty="0"/>
              <a:t> </a:t>
            </a:r>
            <a:r>
              <a:rPr lang="en-US" sz="2100" dirty="0" err="1"/>
              <a:t>arayüzünde</a:t>
            </a:r>
            <a:r>
              <a:rPr lang="en-US" sz="2100" dirty="0"/>
              <a:t> </a:t>
            </a:r>
            <a:r>
              <a:rPr lang="en-US" sz="2100" dirty="0" err="1"/>
              <a:t>değişikliğe</a:t>
            </a:r>
            <a:r>
              <a:rPr lang="en-US" sz="2100" dirty="0"/>
              <a:t> </a:t>
            </a:r>
            <a:r>
              <a:rPr lang="en-US" sz="2100" dirty="0" err="1"/>
              <a:t>neden</a:t>
            </a:r>
            <a:r>
              <a:rPr lang="en-US" sz="2100" dirty="0"/>
              <a:t> </a:t>
            </a:r>
            <a:r>
              <a:rPr lang="en-US" sz="2100" dirty="0" err="1"/>
              <a:t>olarak</a:t>
            </a:r>
            <a:r>
              <a:rPr lang="en-US" sz="2100" dirty="0"/>
              <a:t> son </a:t>
            </a:r>
            <a:r>
              <a:rPr lang="en-US" sz="2100" dirty="0" err="1"/>
              <a:t>değerin</a:t>
            </a:r>
            <a:r>
              <a:rPr lang="en-US" sz="2100" dirty="0"/>
              <a:t> </a:t>
            </a:r>
            <a:r>
              <a:rPr lang="en-US" sz="2100" dirty="0" err="1"/>
              <a:t>görünmesini</a:t>
            </a:r>
            <a:r>
              <a:rPr lang="en-US" sz="2100" dirty="0"/>
              <a:t> </a:t>
            </a:r>
            <a:r>
              <a:rPr lang="en-US" sz="2100" dirty="0" err="1"/>
              <a:t>sağlar</a:t>
            </a:r>
            <a:r>
              <a:rPr lang="en-US" sz="2100" dirty="0"/>
              <a:t>.</a:t>
            </a:r>
          </a:p>
          <a:p>
            <a:endParaRPr lang="en-US" sz="2100" dirty="0"/>
          </a:p>
        </p:txBody>
      </p:sp>
      <p:sp>
        <p:nvSpPr>
          <p:cNvPr id="5" name="Shape 267"/>
          <p:cNvSpPr/>
          <p:nvPr/>
        </p:nvSpPr>
        <p:spPr>
          <a:xfrm>
            <a:off x="381000" y="681377"/>
            <a:ext cx="537822" cy="537823"/>
          </a:xfrm>
          <a:prstGeom prst="rect">
            <a:avLst/>
          </a:prstGeom>
          <a:solidFill>
            <a:srgbClr val="003366"/>
          </a:solidFill>
          <a:ln w="12700" cap="flat">
            <a:noFill/>
            <a:miter lim="400000"/>
          </a:ln>
          <a:effectLst/>
        </p:spPr>
        <p:txBody>
          <a:bodyPr wrap="square" lIns="34289" tIns="34289" rIns="34289" bIns="34289" numCol="1" anchor="ctr">
            <a:noAutofit/>
          </a:bodyPr>
          <a:lstStyle/>
          <a:p>
            <a:pPr eaLnBrk="1" hangingPunct="1"/>
            <a:r>
              <a:rPr lang="en-US" sz="2400" b="1">
                <a:solidFill>
                  <a:srgbClr val="FFFFFF"/>
                </a:solidFill>
                <a:latin typeface="+mj-lt"/>
                <a:ea typeface="+mn-ea"/>
              </a:rPr>
              <a:t>01</a:t>
            </a:r>
            <a:endParaRPr sz="2400" b="1">
              <a:solidFill>
                <a:srgbClr val="FFFFFF"/>
              </a:solidFill>
              <a:latin typeface="+mj-lt"/>
              <a:ea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FBEC9D-48EB-B87D-5250-43B069B57152}"/>
              </a:ext>
            </a:extLst>
          </p:cNvPr>
          <p:cNvSpPr txBox="1"/>
          <p:nvPr/>
        </p:nvSpPr>
        <p:spPr>
          <a:xfrm>
            <a:off x="190392" y="6580800"/>
            <a:ext cx="5329728" cy="276999"/>
          </a:xfrm>
          <a:prstGeom prst="rect">
            <a:avLst/>
          </a:prstGeom>
          <a:solidFill>
            <a:srgbClr val="28C0BB"/>
          </a:solidFill>
        </p:spPr>
        <p:txBody>
          <a:bodyPr wrap="none" rtlCol="0">
            <a:spAutoFit/>
          </a:bodyPr>
          <a:lstStyle/>
          <a:p>
            <a:r>
              <a:rPr lang="tr-TR" sz="1200" dirty="0">
                <a:solidFill>
                  <a:schemeClr val="tx1"/>
                </a:solidFill>
              </a:rPr>
              <a:t>Doç. Dr. Asım Sinan Yüksel / Web Teknolojileri ve Programlama, 2024-2025</a:t>
            </a:r>
          </a:p>
        </p:txBody>
      </p:sp>
    </p:spTree>
    <p:extLst>
      <p:ext uri="{BB962C8B-B14F-4D97-AF65-F5344CB8AC3E}">
        <p14:creationId xmlns:p14="http://schemas.microsoft.com/office/powerpoint/2010/main" val="31036963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914400" y="681077"/>
            <a:ext cx="8153400" cy="553998"/>
          </a:xfrm>
        </p:spPr>
        <p:txBody>
          <a:bodyPr/>
          <a:lstStyle/>
          <a:p>
            <a:r>
              <a:rPr lang="tr-TR" dirty="0" err="1"/>
              <a:t>Recuder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52400" y="1371600"/>
            <a:ext cx="8839200" cy="5105400"/>
          </a:xfrm>
        </p:spPr>
        <p:txBody>
          <a:bodyPr/>
          <a:lstStyle/>
          <a:p>
            <a:r>
              <a:rPr lang="en-US" sz="2100" dirty="0" err="1"/>
              <a:t>Kendi</a:t>
            </a:r>
            <a:r>
              <a:rPr lang="en-US" sz="2100" dirty="0"/>
              <a:t> </a:t>
            </a:r>
            <a:r>
              <a:rPr lang="en-US" sz="2100" dirty="0" err="1"/>
              <a:t>uygulamamıza</a:t>
            </a:r>
            <a:r>
              <a:rPr lang="en-US" sz="2100" dirty="0"/>
              <a:t> </a:t>
            </a:r>
            <a:r>
              <a:rPr lang="en-US" sz="2100" dirty="0" err="1"/>
              <a:t>baktığımızda</a:t>
            </a:r>
            <a:r>
              <a:rPr lang="en-US" sz="2100" dirty="0"/>
              <a:t> </a:t>
            </a:r>
            <a:r>
              <a:rPr lang="en-US" sz="2100" dirty="0" err="1"/>
              <a:t>şu</a:t>
            </a:r>
            <a:r>
              <a:rPr lang="en-US" sz="2100" dirty="0"/>
              <a:t> </a:t>
            </a:r>
            <a:r>
              <a:rPr lang="en-US" sz="2100" dirty="0" err="1"/>
              <a:t>aşamada</a:t>
            </a:r>
            <a:r>
              <a:rPr lang="en-US" sz="2100" dirty="0"/>
              <a:t> </a:t>
            </a:r>
            <a:r>
              <a:rPr lang="en-US" sz="2100" dirty="0" err="1"/>
              <a:t>isLoading</a:t>
            </a:r>
            <a:r>
              <a:rPr lang="en-US" sz="2100" dirty="0"/>
              <a:t>, </a:t>
            </a:r>
            <a:r>
              <a:rPr lang="en-US" sz="2100" dirty="0" err="1"/>
              <a:t>isError</a:t>
            </a:r>
            <a:r>
              <a:rPr lang="en-US" sz="2100" dirty="0"/>
              <a:t> </a:t>
            </a:r>
            <a:r>
              <a:rPr lang="en-US" sz="2100" dirty="0" err="1"/>
              <a:t>gibi</a:t>
            </a:r>
            <a:r>
              <a:rPr lang="en-US" sz="2100" dirty="0"/>
              <a:t> </a:t>
            </a:r>
            <a:r>
              <a:rPr lang="en-US" sz="2100" dirty="0" err="1"/>
              <a:t>state’ler</a:t>
            </a:r>
            <a:r>
              <a:rPr lang="en-US" sz="2100" dirty="0"/>
              <a:t> </a:t>
            </a:r>
            <a:r>
              <a:rPr lang="en-US" sz="2100" dirty="0" err="1"/>
              <a:t>ayrı</a:t>
            </a:r>
            <a:r>
              <a:rPr lang="en-US" sz="2100" dirty="0"/>
              <a:t> </a:t>
            </a:r>
            <a:r>
              <a:rPr lang="en-US" sz="2100" dirty="0" err="1"/>
              <a:t>ayrı</a:t>
            </a:r>
            <a:r>
              <a:rPr lang="en-US" sz="2100" dirty="0"/>
              <a:t> </a:t>
            </a:r>
            <a:r>
              <a:rPr lang="en-US" sz="2100" dirty="0" err="1"/>
              <a:t>useState</a:t>
            </a:r>
            <a:r>
              <a:rPr lang="en-US" sz="2100" dirty="0"/>
              <a:t> </a:t>
            </a:r>
            <a:r>
              <a:rPr lang="en-US" sz="2100" dirty="0" err="1"/>
              <a:t>hookları</a:t>
            </a:r>
            <a:r>
              <a:rPr lang="en-US" sz="2100" dirty="0"/>
              <a:t> </a:t>
            </a:r>
            <a:r>
              <a:rPr lang="en-US" sz="2100" dirty="0" err="1"/>
              <a:t>tarafından</a:t>
            </a:r>
            <a:r>
              <a:rPr lang="en-US" sz="2100" dirty="0"/>
              <a:t> </a:t>
            </a:r>
            <a:r>
              <a:rPr lang="en-US" sz="2100" dirty="0" err="1"/>
              <a:t>yönetiliyor</a:t>
            </a:r>
            <a:r>
              <a:rPr lang="en-US" sz="2100" dirty="0"/>
              <a:t>.</a:t>
            </a:r>
          </a:p>
          <a:p>
            <a:r>
              <a:rPr lang="en-US" sz="2100" dirty="0"/>
              <a:t>Bunun </a:t>
            </a:r>
            <a:r>
              <a:rPr lang="en-US" sz="2100" dirty="0" err="1"/>
              <a:t>yerine</a:t>
            </a:r>
            <a:r>
              <a:rPr lang="en-US" sz="2100" dirty="0"/>
              <a:t> </a:t>
            </a:r>
            <a:r>
              <a:rPr lang="en-US" sz="2100" dirty="0" err="1"/>
              <a:t>tüm</a:t>
            </a:r>
            <a:r>
              <a:rPr lang="en-US" sz="2100" dirty="0"/>
              <a:t> </a:t>
            </a:r>
            <a:r>
              <a:rPr lang="en-US" sz="2100" dirty="0" err="1"/>
              <a:t>state’leri</a:t>
            </a:r>
            <a:r>
              <a:rPr lang="en-US" sz="2100" dirty="0"/>
              <a:t> </a:t>
            </a:r>
            <a:r>
              <a:rPr lang="en-US" sz="2100" dirty="0" err="1"/>
              <a:t>yönetecek</a:t>
            </a:r>
            <a:r>
              <a:rPr lang="en-US" sz="2100" dirty="0"/>
              <a:t> </a:t>
            </a:r>
            <a:r>
              <a:rPr lang="en-US" sz="2100" dirty="0" err="1"/>
              <a:t>yazilarReducer</a:t>
            </a:r>
            <a:r>
              <a:rPr lang="en-US" sz="2100" dirty="0"/>
              <a:t> </a:t>
            </a:r>
            <a:r>
              <a:rPr lang="en-US" sz="2100" dirty="0" err="1"/>
              <a:t>adında</a:t>
            </a:r>
            <a:r>
              <a:rPr lang="en-US" sz="2100" dirty="0"/>
              <a:t> </a:t>
            </a:r>
            <a:r>
              <a:rPr lang="en-US" sz="2100" dirty="0" err="1"/>
              <a:t>bir</a:t>
            </a:r>
            <a:r>
              <a:rPr lang="en-US" sz="2100" dirty="0"/>
              <a:t> reducer </a:t>
            </a:r>
            <a:r>
              <a:rPr lang="en-US" sz="2100" dirty="0" err="1"/>
              <a:t>oluşturabiliriz</a:t>
            </a:r>
            <a:r>
              <a:rPr lang="en-US" sz="2100" dirty="0"/>
              <a:t>. </a:t>
            </a:r>
          </a:p>
          <a:p>
            <a:r>
              <a:rPr lang="en-US" sz="2100" dirty="0" err="1"/>
              <a:t>yazilarReducer</a:t>
            </a:r>
            <a:r>
              <a:rPr lang="en-US" sz="2100" dirty="0"/>
              <a:t> </a:t>
            </a:r>
            <a:r>
              <a:rPr lang="en-US" sz="2100" dirty="0" err="1"/>
              <a:t>için</a:t>
            </a:r>
            <a:r>
              <a:rPr lang="en-US" sz="2100" dirty="0"/>
              <a:t> </a:t>
            </a:r>
            <a:r>
              <a:rPr lang="en-US" sz="2100" dirty="0" err="1"/>
              <a:t>oluşturabileceğimiz</a:t>
            </a:r>
            <a:r>
              <a:rPr lang="en-US" sz="2100" dirty="0"/>
              <a:t> </a:t>
            </a:r>
            <a:r>
              <a:rPr lang="en-US" sz="2100" dirty="0" err="1"/>
              <a:t>state’ler</a:t>
            </a:r>
            <a:r>
              <a:rPr lang="en-US" sz="2100" dirty="0"/>
              <a:t>:</a:t>
            </a:r>
          </a:p>
          <a:p>
            <a:pPr lvl="1"/>
            <a:r>
              <a:rPr lang="en-US" sz="1700" b="1" dirty="0"/>
              <a:t>POSTS_FETCH_INIT: </a:t>
            </a:r>
            <a:r>
              <a:rPr lang="en-US" sz="1700" dirty="0" err="1"/>
              <a:t>Uygulamamız</a:t>
            </a:r>
            <a:r>
              <a:rPr lang="en-US" sz="1700" dirty="0"/>
              <a:t> ilk </a:t>
            </a:r>
            <a:r>
              <a:rPr lang="en-US" sz="1700" dirty="0" err="1"/>
              <a:t>açıldığında</a:t>
            </a:r>
            <a:r>
              <a:rPr lang="en-US" sz="1700" dirty="0"/>
              <a:t> </a:t>
            </a:r>
            <a:r>
              <a:rPr lang="en-US" sz="1700" dirty="0" err="1"/>
              <a:t>oluşacak</a:t>
            </a:r>
            <a:r>
              <a:rPr lang="en-US" sz="1700" dirty="0"/>
              <a:t> state. </a:t>
            </a:r>
            <a:r>
              <a:rPr lang="en-US" sz="1700" dirty="0" err="1"/>
              <a:t>isLoading</a:t>
            </a:r>
            <a:r>
              <a:rPr lang="en-US" sz="1700" dirty="0"/>
              <a:t>: true, </a:t>
            </a:r>
            <a:r>
              <a:rPr lang="en-US" sz="1700" dirty="0" err="1"/>
              <a:t>isError:false</a:t>
            </a:r>
            <a:r>
              <a:rPr lang="en-US" sz="1700" dirty="0"/>
              <a:t> </a:t>
            </a:r>
            <a:r>
              <a:rPr lang="en-US" sz="1700" dirty="0" err="1"/>
              <a:t>olarak</a:t>
            </a:r>
            <a:r>
              <a:rPr lang="en-US" sz="1700" dirty="0"/>
              <a:t> </a:t>
            </a:r>
            <a:r>
              <a:rPr lang="en-US" sz="1700" dirty="0" err="1"/>
              <a:t>ayarlanacak</a:t>
            </a:r>
            <a:r>
              <a:rPr lang="en-US" sz="1700" dirty="0"/>
              <a:t>.</a:t>
            </a:r>
          </a:p>
          <a:p>
            <a:pPr lvl="1"/>
            <a:r>
              <a:rPr lang="en-US" sz="1700" b="1" dirty="0"/>
              <a:t>POSTS_FETCH_SUCCESS: </a:t>
            </a:r>
            <a:r>
              <a:rPr lang="en-US" sz="1700" dirty="0" err="1"/>
              <a:t>Eğer</a:t>
            </a:r>
            <a:r>
              <a:rPr lang="en-US" sz="1700" dirty="0"/>
              <a:t> </a:t>
            </a:r>
            <a:r>
              <a:rPr lang="en-US" sz="1700" dirty="0" err="1"/>
              <a:t>veri</a:t>
            </a:r>
            <a:r>
              <a:rPr lang="en-US" sz="1700" dirty="0"/>
              <a:t> </a:t>
            </a:r>
            <a:r>
              <a:rPr lang="en-US" sz="1700" dirty="0" err="1"/>
              <a:t>başarılı</a:t>
            </a:r>
            <a:r>
              <a:rPr lang="en-US" sz="1700" dirty="0"/>
              <a:t> </a:t>
            </a:r>
            <a:r>
              <a:rPr lang="en-US" sz="1700" dirty="0" err="1"/>
              <a:t>bir</a:t>
            </a:r>
            <a:r>
              <a:rPr lang="en-US" sz="1700" dirty="0"/>
              <a:t> </a:t>
            </a:r>
            <a:r>
              <a:rPr lang="en-US" sz="1700" dirty="0" err="1"/>
              <a:t>şekilde</a:t>
            </a:r>
            <a:r>
              <a:rPr lang="en-US" sz="1700" dirty="0"/>
              <a:t> </a:t>
            </a:r>
            <a:r>
              <a:rPr lang="en-US" sz="1700" dirty="0" err="1"/>
              <a:t>alındıysa</a:t>
            </a:r>
            <a:r>
              <a:rPr lang="en-US" sz="1700" dirty="0"/>
              <a:t> bu </a:t>
            </a:r>
            <a:r>
              <a:rPr lang="en-US" sz="1700" dirty="0" err="1"/>
              <a:t>state’e</a:t>
            </a:r>
            <a:r>
              <a:rPr lang="en-US" sz="1700" dirty="0"/>
              <a:t> </a:t>
            </a:r>
            <a:r>
              <a:rPr lang="en-US" sz="1700" dirty="0" err="1"/>
              <a:t>geçilecek</a:t>
            </a:r>
            <a:r>
              <a:rPr lang="en-US" sz="1700" dirty="0"/>
              <a:t>. </a:t>
            </a:r>
            <a:r>
              <a:rPr lang="en-US" sz="1700" dirty="0" err="1"/>
              <a:t>Verinin</a:t>
            </a:r>
            <a:r>
              <a:rPr lang="en-US" sz="1700" dirty="0"/>
              <a:t> </a:t>
            </a:r>
            <a:r>
              <a:rPr lang="en-US" sz="1700" dirty="0" err="1"/>
              <a:t>yüklenmesi</a:t>
            </a:r>
            <a:r>
              <a:rPr lang="en-US" sz="1700" dirty="0"/>
              <a:t> </a:t>
            </a:r>
            <a:r>
              <a:rPr lang="en-US" sz="1700" dirty="0" err="1"/>
              <a:t>tamamlanmış</a:t>
            </a:r>
            <a:r>
              <a:rPr lang="en-US" sz="1700" dirty="0"/>
              <a:t> </a:t>
            </a:r>
            <a:r>
              <a:rPr lang="en-US" sz="1700" dirty="0" err="1"/>
              <a:t>olacak</a:t>
            </a:r>
            <a:r>
              <a:rPr lang="en-US" sz="1700" dirty="0"/>
              <a:t>. </a:t>
            </a:r>
            <a:r>
              <a:rPr lang="en-US" sz="1700" dirty="0" err="1"/>
              <a:t>isLoading</a:t>
            </a:r>
            <a:r>
              <a:rPr lang="en-US" sz="1700" dirty="0"/>
              <a:t>: false, </a:t>
            </a:r>
            <a:r>
              <a:rPr lang="en-US" sz="1700" dirty="0" err="1"/>
              <a:t>isError</a:t>
            </a:r>
            <a:r>
              <a:rPr lang="en-US" sz="1700" dirty="0"/>
              <a:t>: false </a:t>
            </a:r>
            <a:r>
              <a:rPr lang="en-US" sz="1700" dirty="0" err="1"/>
              <a:t>data:action.payload</a:t>
            </a:r>
            <a:endParaRPr lang="en-US" sz="1700" dirty="0"/>
          </a:p>
          <a:p>
            <a:pPr lvl="1"/>
            <a:r>
              <a:rPr lang="en-US" sz="1700" b="1" dirty="0"/>
              <a:t>POSTS_FETCH_FAILURE: </a:t>
            </a:r>
            <a:r>
              <a:rPr lang="en-US" sz="1700" dirty="0" err="1"/>
              <a:t>Yazılar</a:t>
            </a:r>
            <a:r>
              <a:rPr lang="en-US" sz="1700" dirty="0"/>
              <a:t> </a:t>
            </a:r>
            <a:r>
              <a:rPr lang="en-US" sz="1700" dirty="0" err="1"/>
              <a:t>yüklenirken</a:t>
            </a:r>
            <a:r>
              <a:rPr lang="en-US" sz="1700" dirty="0"/>
              <a:t> problem </a:t>
            </a:r>
            <a:r>
              <a:rPr lang="en-US" sz="1700" dirty="0" err="1"/>
              <a:t>olduysa</a:t>
            </a:r>
            <a:r>
              <a:rPr lang="en-US" sz="1700" dirty="0"/>
              <a:t> </a:t>
            </a:r>
            <a:r>
              <a:rPr lang="en-US" sz="1700" dirty="0" err="1"/>
              <a:t>bir</a:t>
            </a:r>
            <a:r>
              <a:rPr lang="en-US" sz="1700" dirty="0"/>
              <a:t> </a:t>
            </a:r>
            <a:r>
              <a:rPr lang="en-US" sz="1700" dirty="0" err="1"/>
              <a:t>hata</a:t>
            </a:r>
            <a:r>
              <a:rPr lang="en-US" sz="1700" dirty="0"/>
              <a:t> </a:t>
            </a:r>
            <a:r>
              <a:rPr lang="en-US" sz="1700" dirty="0" err="1"/>
              <a:t>durumu</a:t>
            </a:r>
            <a:r>
              <a:rPr lang="en-US" sz="1700" dirty="0"/>
              <a:t> </a:t>
            </a:r>
            <a:r>
              <a:rPr lang="en-US" sz="1700" dirty="0" err="1"/>
              <a:t>oluşması</a:t>
            </a:r>
            <a:r>
              <a:rPr lang="en-US" sz="1700" dirty="0"/>
              <a:t> </a:t>
            </a:r>
            <a:r>
              <a:rPr lang="en-US" sz="1700" dirty="0" err="1"/>
              <a:t>gerekir</a:t>
            </a:r>
            <a:r>
              <a:rPr lang="en-US" sz="1700" dirty="0"/>
              <a:t>. </a:t>
            </a:r>
            <a:r>
              <a:rPr lang="en-US" sz="1700" dirty="0" err="1"/>
              <a:t>Dolayısıyla</a:t>
            </a:r>
            <a:r>
              <a:rPr lang="en-US" sz="1700" dirty="0"/>
              <a:t> bu </a:t>
            </a:r>
            <a:r>
              <a:rPr lang="en-US" sz="1700" dirty="0" err="1"/>
              <a:t>state’e</a:t>
            </a:r>
            <a:r>
              <a:rPr lang="en-US" sz="1700" dirty="0"/>
              <a:t> </a:t>
            </a:r>
            <a:r>
              <a:rPr lang="en-US" sz="1700" dirty="0" err="1"/>
              <a:t>geçilmeli</a:t>
            </a:r>
            <a:r>
              <a:rPr lang="en-US" sz="1700" dirty="0"/>
              <a:t>. </a:t>
            </a:r>
            <a:r>
              <a:rPr lang="en-US" sz="1700" dirty="0" err="1"/>
              <a:t>isLoading</a:t>
            </a:r>
            <a:r>
              <a:rPr lang="en-US" sz="1700" dirty="0"/>
              <a:t>: false, </a:t>
            </a:r>
            <a:r>
              <a:rPr lang="en-US" sz="1700" dirty="0" err="1"/>
              <a:t>isError</a:t>
            </a:r>
            <a:r>
              <a:rPr lang="en-US" sz="1700" dirty="0"/>
              <a:t>: true</a:t>
            </a:r>
          </a:p>
          <a:p>
            <a:pPr lvl="1"/>
            <a:r>
              <a:rPr lang="en-US" sz="1700" b="1" dirty="0"/>
              <a:t>REMOVE_POST: </a:t>
            </a:r>
            <a:r>
              <a:rPr lang="en-US" sz="1700" dirty="0" err="1"/>
              <a:t>Herhangi</a:t>
            </a:r>
            <a:r>
              <a:rPr lang="en-US" sz="1700" dirty="0"/>
              <a:t> </a:t>
            </a:r>
            <a:r>
              <a:rPr lang="en-US" sz="1700" dirty="0" err="1"/>
              <a:t>bir</a:t>
            </a:r>
            <a:r>
              <a:rPr lang="en-US" sz="1700" dirty="0"/>
              <a:t> </a:t>
            </a:r>
            <a:r>
              <a:rPr lang="en-US" sz="1700" dirty="0" err="1"/>
              <a:t>yazıyı</a:t>
            </a:r>
            <a:r>
              <a:rPr lang="en-US" sz="1700" dirty="0"/>
              <a:t> </a:t>
            </a:r>
            <a:r>
              <a:rPr lang="en-US" sz="1700" dirty="0" err="1"/>
              <a:t>haldırmak</a:t>
            </a:r>
            <a:r>
              <a:rPr lang="en-US" sz="1700" dirty="0"/>
              <a:t> </a:t>
            </a:r>
            <a:r>
              <a:rPr lang="en-US" sz="1700" dirty="0" err="1"/>
              <a:t>istediğimizde</a:t>
            </a:r>
            <a:r>
              <a:rPr lang="en-US" sz="1700" dirty="0"/>
              <a:t> bu durum </a:t>
            </a:r>
            <a:r>
              <a:rPr lang="en-US" sz="1700" dirty="0" err="1"/>
              <a:t>çalışacak</a:t>
            </a:r>
            <a:r>
              <a:rPr lang="en-US" sz="1700" dirty="0"/>
              <a:t> </a:t>
            </a:r>
            <a:r>
              <a:rPr lang="en-US" sz="1700" dirty="0" err="1"/>
              <a:t>ve</a:t>
            </a:r>
            <a:r>
              <a:rPr lang="en-US" sz="1700" dirty="0"/>
              <a:t> </a:t>
            </a:r>
            <a:r>
              <a:rPr lang="en-US" sz="1700" dirty="0" err="1"/>
              <a:t>yazı</a:t>
            </a:r>
            <a:r>
              <a:rPr lang="en-US" sz="1700" dirty="0"/>
              <a:t> </a:t>
            </a:r>
            <a:r>
              <a:rPr lang="en-US" sz="1700" dirty="0" err="1"/>
              <a:t>kaldırma</a:t>
            </a:r>
            <a:r>
              <a:rPr lang="en-US" sz="1700" dirty="0"/>
              <a:t> </a:t>
            </a:r>
            <a:r>
              <a:rPr lang="en-US" sz="1700" dirty="0" err="1"/>
              <a:t>işlemi</a:t>
            </a:r>
            <a:r>
              <a:rPr lang="en-US" sz="1700" dirty="0"/>
              <a:t> </a:t>
            </a:r>
            <a:r>
              <a:rPr lang="en-US" sz="1700" dirty="0" err="1"/>
              <a:t>gerçekleşecek</a:t>
            </a:r>
            <a:r>
              <a:rPr lang="en-US" sz="1700" dirty="0"/>
              <a:t>.</a:t>
            </a:r>
          </a:p>
          <a:p>
            <a:r>
              <a:rPr lang="en-US" sz="2100" dirty="0" err="1"/>
              <a:t>Artık</a:t>
            </a:r>
            <a:r>
              <a:rPr lang="en-US" sz="2100" dirty="0"/>
              <a:t> </a:t>
            </a:r>
            <a:r>
              <a:rPr lang="en-US" sz="2100" dirty="0" err="1"/>
              <a:t>isLoading</a:t>
            </a:r>
            <a:r>
              <a:rPr lang="en-US" sz="2100" dirty="0"/>
              <a:t>, </a:t>
            </a:r>
            <a:r>
              <a:rPr lang="en-US" sz="2100" dirty="0" err="1"/>
              <a:t>isError</a:t>
            </a:r>
            <a:r>
              <a:rPr lang="en-US" sz="2100" dirty="0"/>
              <a:t> </a:t>
            </a:r>
            <a:r>
              <a:rPr lang="en-US" sz="2100" dirty="0" err="1"/>
              <a:t>için</a:t>
            </a:r>
            <a:r>
              <a:rPr lang="en-US" sz="2100" dirty="0"/>
              <a:t> </a:t>
            </a:r>
            <a:r>
              <a:rPr lang="en-US" sz="2100" dirty="0" err="1"/>
              <a:t>oluşturduğumuz</a:t>
            </a:r>
            <a:r>
              <a:rPr lang="en-US" sz="2100" dirty="0"/>
              <a:t> </a:t>
            </a:r>
            <a:r>
              <a:rPr lang="en-US" sz="2100" dirty="0" err="1"/>
              <a:t>useState</a:t>
            </a:r>
            <a:r>
              <a:rPr lang="en-US" sz="2100" dirty="0"/>
              <a:t> </a:t>
            </a:r>
            <a:r>
              <a:rPr lang="en-US" sz="2100" dirty="0" err="1"/>
              <a:t>hooklarını</a:t>
            </a:r>
            <a:r>
              <a:rPr lang="en-US" sz="2100" dirty="0"/>
              <a:t> </a:t>
            </a:r>
            <a:r>
              <a:rPr lang="en-US" sz="2100" dirty="0" err="1"/>
              <a:t>kaldırabiliriz</a:t>
            </a:r>
            <a:r>
              <a:rPr lang="en-US" sz="2100" dirty="0"/>
              <a:t>.</a:t>
            </a:r>
          </a:p>
          <a:p>
            <a:pPr lvl="1"/>
            <a:endParaRPr lang="en-US" sz="1700" dirty="0"/>
          </a:p>
          <a:p>
            <a:pPr lvl="1"/>
            <a:endParaRPr lang="en-US" sz="1700" dirty="0"/>
          </a:p>
          <a:p>
            <a:pPr lvl="1"/>
            <a:endParaRPr lang="en-US" sz="1700" dirty="0"/>
          </a:p>
          <a:p>
            <a:pPr lvl="1"/>
            <a:endParaRPr lang="en-US" sz="1700" dirty="0"/>
          </a:p>
          <a:p>
            <a:pPr lvl="1"/>
            <a:endParaRPr lang="en-US" sz="1700" dirty="0"/>
          </a:p>
        </p:txBody>
      </p:sp>
      <p:sp>
        <p:nvSpPr>
          <p:cNvPr id="5" name="Shape 267"/>
          <p:cNvSpPr/>
          <p:nvPr/>
        </p:nvSpPr>
        <p:spPr>
          <a:xfrm>
            <a:off x="381000" y="681377"/>
            <a:ext cx="537822" cy="537823"/>
          </a:xfrm>
          <a:prstGeom prst="rect">
            <a:avLst/>
          </a:prstGeom>
          <a:solidFill>
            <a:srgbClr val="003366"/>
          </a:solidFill>
          <a:ln w="12700" cap="flat">
            <a:noFill/>
            <a:miter lim="400000"/>
          </a:ln>
          <a:effectLst/>
        </p:spPr>
        <p:txBody>
          <a:bodyPr wrap="square" lIns="34289" tIns="34289" rIns="34289" bIns="34289" numCol="1" anchor="ctr">
            <a:noAutofit/>
          </a:bodyPr>
          <a:lstStyle/>
          <a:p>
            <a:pPr eaLnBrk="1" hangingPunct="1"/>
            <a:r>
              <a:rPr lang="en-US" sz="2400" b="1">
                <a:solidFill>
                  <a:srgbClr val="FFFFFF"/>
                </a:solidFill>
                <a:latin typeface="+mj-lt"/>
                <a:ea typeface="+mn-ea"/>
              </a:rPr>
              <a:t>01</a:t>
            </a:r>
            <a:endParaRPr sz="2400" b="1">
              <a:solidFill>
                <a:srgbClr val="FFFFFF"/>
              </a:solidFill>
              <a:latin typeface="+mj-lt"/>
              <a:ea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FBEC9D-48EB-B87D-5250-43B069B57152}"/>
              </a:ext>
            </a:extLst>
          </p:cNvPr>
          <p:cNvSpPr txBox="1"/>
          <p:nvPr/>
        </p:nvSpPr>
        <p:spPr>
          <a:xfrm>
            <a:off x="190392" y="6580800"/>
            <a:ext cx="5329728" cy="276999"/>
          </a:xfrm>
          <a:prstGeom prst="rect">
            <a:avLst/>
          </a:prstGeom>
          <a:solidFill>
            <a:srgbClr val="28C0BB"/>
          </a:solidFill>
        </p:spPr>
        <p:txBody>
          <a:bodyPr wrap="none" rtlCol="0">
            <a:spAutoFit/>
          </a:bodyPr>
          <a:lstStyle/>
          <a:p>
            <a:r>
              <a:rPr lang="tr-TR" sz="1200" dirty="0">
                <a:solidFill>
                  <a:schemeClr val="tx1"/>
                </a:solidFill>
              </a:rPr>
              <a:t>Doç. Dr. Asım Sinan Yüksel / Web Teknolojileri ve Programlama, 2024-2025</a:t>
            </a:r>
          </a:p>
        </p:txBody>
      </p:sp>
    </p:spTree>
    <p:extLst>
      <p:ext uri="{BB962C8B-B14F-4D97-AF65-F5344CB8AC3E}">
        <p14:creationId xmlns:p14="http://schemas.microsoft.com/office/powerpoint/2010/main" val="29514844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914400" y="681077"/>
            <a:ext cx="8153400" cy="553998"/>
          </a:xfrm>
        </p:spPr>
        <p:txBody>
          <a:bodyPr/>
          <a:lstStyle/>
          <a:p>
            <a:r>
              <a:rPr lang="tr-TR" dirty="0" err="1"/>
              <a:t>Reducer</a:t>
            </a:r>
            <a:endParaRPr lang="tr-TR" dirty="0"/>
          </a:p>
        </p:txBody>
      </p:sp>
      <p:sp>
        <p:nvSpPr>
          <p:cNvPr id="5" name="Shape 267"/>
          <p:cNvSpPr/>
          <p:nvPr/>
        </p:nvSpPr>
        <p:spPr>
          <a:xfrm>
            <a:off x="381000" y="681377"/>
            <a:ext cx="537822" cy="537823"/>
          </a:xfrm>
          <a:prstGeom prst="rect">
            <a:avLst/>
          </a:prstGeom>
          <a:solidFill>
            <a:srgbClr val="003366"/>
          </a:solidFill>
          <a:ln w="12700" cap="flat">
            <a:noFill/>
            <a:miter lim="400000"/>
          </a:ln>
          <a:effectLst/>
        </p:spPr>
        <p:txBody>
          <a:bodyPr wrap="square" lIns="34289" tIns="34289" rIns="34289" bIns="34289" numCol="1" anchor="ctr">
            <a:noAutofit/>
          </a:bodyPr>
          <a:lstStyle/>
          <a:p>
            <a:pPr eaLnBrk="1" hangingPunct="1"/>
            <a:r>
              <a:rPr lang="en-US" sz="2400" b="1">
                <a:solidFill>
                  <a:srgbClr val="FFFFFF"/>
                </a:solidFill>
                <a:latin typeface="+mj-lt"/>
                <a:ea typeface="+mn-ea"/>
              </a:rPr>
              <a:t>01</a:t>
            </a:r>
            <a:endParaRPr sz="2400" b="1">
              <a:solidFill>
                <a:srgbClr val="FFFFFF"/>
              </a:solidFill>
              <a:latin typeface="+mj-lt"/>
              <a:ea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FBEC9D-48EB-B87D-5250-43B069B57152}"/>
              </a:ext>
            </a:extLst>
          </p:cNvPr>
          <p:cNvSpPr txBox="1"/>
          <p:nvPr/>
        </p:nvSpPr>
        <p:spPr>
          <a:xfrm>
            <a:off x="190392" y="6580800"/>
            <a:ext cx="5329728" cy="276999"/>
          </a:xfrm>
          <a:prstGeom prst="rect">
            <a:avLst/>
          </a:prstGeom>
          <a:solidFill>
            <a:srgbClr val="28C0BB"/>
          </a:solidFill>
        </p:spPr>
        <p:txBody>
          <a:bodyPr wrap="none" rtlCol="0">
            <a:spAutoFit/>
          </a:bodyPr>
          <a:lstStyle/>
          <a:p>
            <a:r>
              <a:rPr lang="tr-TR" sz="1200" dirty="0">
                <a:solidFill>
                  <a:schemeClr val="tx1"/>
                </a:solidFill>
              </a:rPr>
              <a:t>Doç. Dr. Asım Sinan Yüksel / Web Teknolojileri ve Programlama, 2024-2025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64BDD512-BBE7-A153-3DA0-27A9676A78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219200" y="1447800"/>
            <a:ext cx="5410200" cy="5008254"/>
          </a:xfrm>
        </p:spPr>
      </p:pic>
    </p:spTree>
    <p:extLst>
      <p:ext uri="{BB962C8B-B14F-4D97-AF65-F5344CB8AC3E}">
        <p14:creationId xmlns:p14="http://schemas.microsoft.com/office/powerpoint/2010/main" val="14385539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914400" y="681077"/>
            <a:ext cx="8153400" cy="553998"/>
          </a:xfrm>
        </p:spPr>
        <p:txBody>
          <a:bodyPr/>
          <a:lstStyle/>
          <a:p>
            <a:r>
              <a:rPr lang="tr-TR" dirty="0" err="1"/>
              <a:t>Reducer</a:t>
            </a:r>
            <a:endParaRPr lang="tr-TR" dirty="0"/>
          </a:p>
        </p:txBody>
      </p:sp>
      <p:sp>
        <p:nvSpPr>
          <p:cNvPr id="5" name="Shape 267"/>
          <p:cNvSpPr/>
          <p:nvPr/>
        </p:nvSpPr>
        <p:spPr>
          <a:xfrm>
            <a:off x="381000" y="681377"/>
            <a:ext cx="537822" cy="537823"/>
          </a:xfrm>
          <a:prstGeom prst="rect">
            <a:avLst/>
          </a:prstGeom>
          <a:solidFill>
            <a:srgbClr val="003366"/>
          </a:solidFill>
          <a:ln w="12700" cap="flat">
            <a:noFill/>
            <a:miter lim="400000"/>
          </a:ln>
          <a:effectLst/>
        </p:spPr>
        <p:txBody>
          <a:bodyPr wrap="square" lIns="34289" tIns="34289" rIns="34289" bIns="34289" numCol="1" anchor="ctr">
            <a:noAutofit/>
          </a:bodyPr>
          <a:lstStyle/>
          <a:p>
            <a:pPr eaLnBrk="1" hangingPunct="1"/>
            <a:r>
              <a:rPr lang="en-US" sz="2400" b="1">
                <a:solidFill>
                  <a:srgbClr val="FFFFFF"/>
                </a:solidFill>
                <a:latin typeface="+mj-lt"/>
                <a:ea typeface="+mn-ea"/>
              </a:rPr>
              <a:t>01</a:t>
            </a:r>
            <a:endParaRPr sz="2400" b="1">
              <a:solidFill>
                <a:srgbClr val="FFFFFF"/>
              </a:solidFill>
              <a:latin typeface="+mj-lt"/>
              <a:ea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FBEC9D-48EB-B87D-5250-43B069B57152}"/>
              </a:ext>
            </a:extLst>
          </p:cNvPr>
          <p:cNvSpPr txBox="1"/>
          <p:nvPr/>
        </p:nvSpPr>
        <p:spPr>
          <a:xfrm>
            <a:off x="190392" y="6580800"/>
            <a:ext cx="5329728" cy="276999"/>
          </a:xfrm>
          <a:prstGeom prst="rect">
            <a:avLst/>
          </a:prstGeom>
          <a:solidFill>
            <a:srgbClr val="28C0BB"/>
          </a:solidFill>
        </p:spPr>
        <p:txBody>
          <a:bodyPr wrap="none" rtlCol="0">
            <a:spAutoFit/>
          </a:bodyPr>
          <a:lstStyle/>
          <a:p>
            <a:r>
              <a:rPr lang="tr-TR" sz="1200" dirty="0">
                <a:solidFill>
                  <a:schemeClr val="tx1"/>
                </a:solidFill>
              </a:rPr>
              <a:t>Doç. Dr. Asım Sinan Yüksel / Web Teknolojileri ve Programlama, 2024-2025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61FE26-1D7E-8A5E-C68C-3E9C4B5490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err="1"/>
              <a:t>isLoading</a:t>
            </a:r>
            <a:r>
              <a:rPr lang="tr-TR" dirty="0"/>
              <a:t>, </a:t>
            </a:r>
            <a:r>
              <a:rPr lang="tr-TR" dirty="0" err="1"/>
              <a:t>isError</a:t>
            </a:r>
            <a:r>
              <a:rPr lang="tr-TR" dirty="0"/>
              <a:t> </a:t>
            </a:r>
            <a:r>
              <a:rPr lang="tr-TR" dirty="0" err="1"/>
              <a:t>hook’ları</a:t>
            </a:r>
            <a:r>
              <a:rPr lang="tr-TR" dirty="0"/>
              <a:t> yerine kullanacağımız </a:t>
            </a:r>
            <a:r>
              <a:rPr lang="tr-TR" dirty="0" err="1"/>
              <a:t>reducer</a:t>
            </a:r>
            <a:r>
              <a:rPr lang="tr-TR" dirty="0"/>
              <a:t> </a:t>
            </a:r>
            <a:r>
              <a:rPr lang="tr-TR" dirty="0" err="1"/>
              <a:t>hookunu</a:t>
            </a:r>
            <a:r>
              <a:rPr lang="tr-TR" dirty="0"/>
              <a:t> tanımlayalım. Burada set yerine </a:t>
            </a:r>
            <a:r>
              <a:rPr lang="tr-TR" dirty="0" err="1"/>
              <a:t>dispatch</a:t>
            </a:r>
            <a:r>
              <a:rPr lang="tr-TR" dirty="0"/>
              <a:t> ifadesi kullandık. Bu bir zorunluluk değil ancak bu ifadenin kullanılması bir gelenektir.</a:t>
            </a:r>
          </a:p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r>
              <a:rPr lang="tr-TR" dirty="0" err="1"/>
              <a:t>handleRemovePost</a:t>
            </a:r>
            <a:r>
              <a:rPr lang="tr-TR" dirty="0"/>
              <a:t> metodunu da yeni </a:t>
            </a:r>
            <a:r>
              <a:rPr lang="tr-TR" dirty="0" err="1"/>
              <a:t>reducer’ı</a:t>
            </a:r>
            <a:r>
              <a:rPr lang="tr-TR" dirty="0"/>
              <a:t> kullanacak şekilde güncellemeliyiz.</a:t>
            </a:r>
          </a:p>
          <a:p>
            <a:pPr marL="0" indent="0">
              <a:buNone/>
            </a:pPr>
            <a:endParaRPr lang="tr-TR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F91F9C3-155F-3BFE-73E9-2E3A75E9AC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700" y="2590800"/>
            <a:ext cx="7708900" cy="14478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C4D767F-7E90-BEF7-2CD2-8C5A38D679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6400" y="4826000"/>
            <a:ext cx="5118100" cy="172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1120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914400" y="681077"/>
            <a:ext cx="8153400" cy="553998"/>
          </a:xfrm>
        </p:spPr>
        <p:txBody>
          <a:bodyPr/>
          <a:lstStyle/>
          <a:p>
            <a:r>
              <a:rPr lang="tr-TR" dirty="0" err="1"/>
              <a:t>Reducer</a:t>
            </a:r>
            <a:endParaRPr lang="tr-TR" dirty="0"/>
          </a:p>
        </p:txBody>
      </p:sp>
      <p:sp>
        <p:nvSpPr>
          <p:cNvPr id="5" name="Shape 267"/>
          <p:cNvSpPr/>
          <p:nvPr/>
        </p:nvSpPr>
        <p:spPr>
          <a:xfrm>
            <a:off x="381000" y="681377"/>
            <a:ext cx="537822" cy="537823"/>
          </a:xfrm>
          <a:prstGeom prst="rect">
            <a:avLst/>
          </a:prstGeom>
          <a:solidFill>
            <a:srgbClr val="003366"/>
          </a:solidFill>
          <a:ln w="12700" cap="flat">
            <a:noFill/>
            <a:miter lim="400000"/>
          </a:ln>
          <a:effectLst/>
        </p:spPr>
        <p:txBody>
          <a:bodyPr wrap="square" lIns="34289" tIns="34289" rIns="34289" bIns="34289" numCol="1" anchor="ctr">
            <a:noAutofit/>
          </a:bodyPr>
          <a:lstStyle/>
          <a:p>
            <a:pPr eaLnBrk="1" hangingPunct="1"/>
            <a:r>
              <a:rPr lang="en-US" sz="2400" b="1">
                <a:solidFill>
                  <a:srgbClr val="FFFFFF"/>
                </a:solidFill>
                <a:latin typeface="+mj-lt"/>
                <a:ea typeface="+mn-ea"/>
              </a:rPr>
              <a:t>01</a:t>
            </a:r>
            <a:endParaRPr sz="2400" b="1">
              <a:solidFill>
                <a:srgbClr val="FFFFFF"/>
              </a:solidFill>
              <a:latin typeface="+mj-lt"/>
              <a:ea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FBEC9D-48EB-B87D-5250-43B069B57152}"/>
              </a:ext>
            </a:extLst>
          </p:cNvPr>
          <p:cNvSpPr txBox="1"/>
          <p:nvPr/>
        </p:nvSpPr>
        <p:spPr>
          <a:xfrm>
            <a:off x="190392" y="6580800"/>
            <a:ext cx="5329728" cy="276999"/>
          </a:xfrm>
          <a:prstGeom prst="rect">
            <a:avLst/>
          </a:prstGeom>
          <a:solidFill>
            <a:srgbClr val="28C0BB"/>
          </a:solidFill>
        </p:spPr>
        <p:txBody>
          <a:bodyPr wrap="none" rtlCol="0">
            <a:spAutoFit/>
          </a:bodyPr>
          <a:lstStyle/>
          <a:p>
            <a:r>
              <a:rPr lang="tr-TR" sz="1200" dirty="0">
                <a:solidFill>
                  <a:schemeClr val="tx1"/>
                </a:solidFill>
              </a:rPr>
              <a:t>Doç. Dr. Asım Sinan Yüksel / Web Teknolojileri ve Programlama, 2024-2025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61FE26-1D7E-8A5E-C68C-3E9C4B5490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err="1"/>
              <a:t>useEffect</a:t>
            </a:r>
            <a:r>
              <a:rPr lang="tr-TR" dirty="0"/>
              <a:t> </a:t>
            </a:r>
            <a:r>
              <a:rPr lang="tr-TR" dirty="0" err="1"/>
              <a:t>hook’u</a:t>
            </a:r>
            <a:r>
              <a:rPr lang="tr-TR" dirty="0"/>
              <a:t> içinde yer alan kısımları da yeni </a:t>
            </a:r>
            <a:r>
              <a:rPr lang="tr-TR" dirty="0" err="1"/>
              <a:t>reducer’ı</a:t>
            </a:r>
            <a:r>
              <a:rPr lang="tr-TR" dirty="0"/>
              <a:t> kullanacak şekilde güncellemeliyiz.</a:t>
            </a:r>
          </a:p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r>
              <a:rPr lang="tr-TR" dirty="0" err="1"/>
              <a:t>const</a:t>
            </a:r>
            <a:r>
              <a:rPr lang="tr-TR" dirty="0"/>
              <a:t> </a:t>
            </a:r>
            <a:r>
              <a:rPr lang="tr-TR" dirty="0" err="1"/>
              <a:t>arananYazilar</a:t>
            </a:r>
            <a:r>
              <a:rPr lang="tr-TR" dirty="0"/>
              <a:t> = </a:t>
            </a:r>
            <a:r>
              <a:rPr lang="tr-TR" dirty="0" err="1"/>
              <a:t>yazilar.data.filter</a:t>
            </a:r>
            <a:r>
              <a:rPr lang="tr-TR" dirty="0"/>
              <a:t> olacak şekilde güncellemeliyiz.</a:t>
            </a:r>
          </a:p>
          <a:p>
            <a:r>
              <a:rPr lang="tr-TR" dirty="0"/>
              <a:t>Son olarak </a:t>
            </a:r>
            <a:r>
              <a:rPr lang="tr-TR" dirty="0" err="1"/>
              <a:t>arayüzdeki</a:t>
            </a:r>
            <a:r>
              <a:rPr lang="tr-TR" dirty="0"/>
              <a:t> </a:t>
            </a:r>
            <a:r>
              <a:rPr lang="tr-TR" dirty="0" err="1"/>
              <a:t>isLoading</a:t>
            </a:r>
            <a:r>
              <a:rPr lang="tr-TR" dirty="0"/>
              <a:t> ve </a:t>
            </a:r>
            <a:r>
              <a:rPr lang="tr-TR" dirty="0" err="1"/>
              <a:t>isError</a:t>
            </a:r>
            <a:r>
              <a:rPr lang="tr-TR" dirty="0"/>
              <a:t> </a:t>
            </a:r>
            <a:r>
              <a:rPr lang="tr-TR" dirty="0" err="1"/>
              <a:t>state’lerini</a:t>
            </a:r>
            <a:r>
              <a:rPr lang="tr-TR" dirty="0"/>
              <a:t> aşağıdaki gibi güncellemeliyiz.</a:t>
            </a:r>
          </a:p>
          <a:p>
            <a:pPr marL="0" indent="0">
              <a:buNone/>
            </a:pPr>
            <a:endParaRPr lang="tr-TR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6BF7A18-F3E5-8827-355A-5FF16F1834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8230" y="2133600"/>
            <a:ext cx="4573970" cy="192250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5C79F99-01D3-3EEA-ECEF-36B493FC83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9700" y="5372100"/>
            <a:ext cx="5930900" cy="5715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0F16351-5184-0750-C5C4-E866C3E3C754}"/>
              </a:ext>
            </a:extLst>
          </p:cNvPr>
          <p:cNvSpPr txBox="1"/>
          <p:nvPr/>
        </p:nvSpPr>
        <p:spPr>
          <a:xfrm>
            <a:off x="381000" y="5876895"/>
            <a:ext cx="68579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000" b="1" dirty="0"/>
              <a:t>Örnek: </a:t>
            </a:r>
            <a:r>
              <a:rPr lang="tr-TR" sz="2000" dirty="0">
                <a:hlinkClick r:id="rId5"/>
              </a:rPr>
              <a:t>https://codesandbox.io/s/affectionate-driscoll-5lhvzf</a:t>
            </a:r>
            <a:endParaRPr lang="tr-TR" sz="2000" dirty="0"/>
          </a:p>
        </p:txBody>
      </p:sp>
    </p:spTree>
    <p:extLst>
      <p:ext uri="{BB962C8B-B14F-4D97-AF65-F5344CB8AC3E}">
        <p14:creationId xmlns:p14="http://schemas.microsoft.com/office/powerpoint/2010/main" val="20289887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914400" y="681077"/>
            <a:ext cx="8153400" cy="553998"/>
          </a:xfrm>
        </p:spPr>
        <p:txBody>
          <a:bodyPr/>
          <a:lstStyle/>
          <a:p>
            <a:r>
              <a:rPr lang="tr-TR" dirty="0"/>
              <a:t>Data </a:t>
            </a:r>
            <a:r>
              <a:rPr lang="tr-TR" dirty="0" err="1"/>
              <a:t>Fetching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52400" y="1371600"/>
            <a:ext cx="8839200" cy="5105400"/>
          </a:xfrm>
        </p:spPr>
        <p:txBody>
          <a:bodyPr/>
          <a:lstStyle/>
          <a:p>
            <a:r>
              <a:rPr lang="en-US" sz="2100" dirty="0" err="1"/>
              <a:t>Örnek</a:t>
            </a:r>
            <a:r>
              <a:rPr lang="en-US" sz="2100" dirty="0"/>
              <a:t> </a:t>
            </a:r>
            <a:r>
              <a:rPr lang="en-US" sz="2100" dirty="0" err="1"/>
              <a:t>uygulamamızda</a:t>
            </a:r>
            <a:r>
              <a:rPr lang="en-US" sz="2100" dirty="0"/>
              <a:t> </a:t>
            </a:r>
            <a:r>
              <a:rPr lang="en-US" sz="2100" dirty="0" err="1"/>
              <a:t>verileri</a:t>
            </a:r>
            <a:r>
              <a:rPr lang="en-US" sz="2100" dirty="0"/>
              <a:t> </a:t>
            </a:r>
            <a:r>
              <a:rPr lang="en-US" sz="2100" dirty="0" err="1"/>
              <a:t>yaziListesi</a:t>
            </a:r>
            <a:r>
              <a:rPr lang="en-US" sz="2100" dirty="0"/>
              <a:t> </a:t>
            </a:r>
            <a:r>
              <a:rPr lang="en-US" sz="2100" dirty="0" err="1"/>
              <a:t>adında</a:t>
            </a:r>
            <a:r>
              <a:rPr lang="en-US" sz="2100" dirty="0"/>
              <a:t> </a:t>
            </a:r>
            <a:r>
              <a:rPr lang="en-US" sz="2100" dirty="0" err="1"/>
              <a:t>bir</a:t>
            </a:r>
            <a:r>
              <a:rPr lang="en-US" sz="2100" dirty="0"/>
              <a:t> </a:t>
            </a:r>
            <a:r>
              <a:rPr lang="en-US" sz="2100" dirty="0" err="1"/>
              <a:t>diziden</a:t>
            </a:r>
            <a:r>
              <a:rPr lang="en-US" sz="2100" dirty="0"/>
              <a:t> </a:t>
            </a:r>
            <a:r>
              <a:rPr lang="en-US" sz="2100" dirty="0" err="1"/>
              <a:t>aldık</a:t>
            </a:r>
            <a:r>
              <a:rPr lang="en-US" sz="2100" dirty="0"/>
              <a:t>. </a:t>
            </a:r>
            <a:r>
              <a:rPr lang="en-US" sz="2100" dirty="0" err="1"/>
              <a:t>Ancak</a:t>
            </a:r>
            <a:r>
              <a:rPr lang="en-US" sz="2100" dirty="0"/>
              <a:t> </a:t>
            </a:r>
            <a:r>
              <a:rPr lang="en-US" sz="2100" dirty="0" err="1"/>
              <a:t>gerçek</a:t>
            </a:r>
            <a:r>
              <a:rPr lang="en-US" sz="2100" dirty="0"/>
              <a:t> </a:t>
            </a:r>
            <a:r>
              <a:rPr lang="en-US" sz="2100" dirty="0" err="1"/>
              <a:t>hayatta</a:t>
            </a:r>
            <a:r>
              <a:rPr lang="en-US" sz="2100" dirty="0"/>
              <a:t> </a:t>
            </a:r>
            <a:r>
              <a:rPr lang="en-US" sz="2100" dirty="0" err="1"/>
              <a:t>uzaktaki</a:t>
            </a:r>
            <a:r>
              <a:rPr lang="en-US" sz="2100" dirty="0"/>
              <a:t> </a:t>
            </a:r>
            <a:r>
              <a:rPr lang="en-US" sz="2100" dirty="0" err="1"/>
              <a:t>bir</a:t>
            </a:r>
            <a:r>
              <a:rPr lang="en-US" sz="2100" dirty="0"/>
              <a:t> Rest </a:t>
            </a:r>
            <a:r>
              <a:rPr lang="en-US" sz="2100" dirty="0" err="1"/>
              <a:t>API’den</a:t>
            </a:r>
            <a:r>
              <a:rPr lang="en-US" sz="2100" dirty="0"/>
              <a:t> </a:t>
            </a:r>
            <a:r>
              <a:rPr lang="en-US" sz="2100" dirty="0" err="1"/>
              <a:t>bilgi</a:t>
            </a:r>
            <a:r>
              <a:rPr lang="en-US" sz="2100" dirty="0"/>
              <a:t> </a:t>
            </a:r>
            <a:r>
              <a:rPr lang="en-US" sz="2100" dirty="0" err="1"/>
              <a:t>çekmemiz</a:t>
            </a:r>
            <a:r>
              <a:rPr lang="en-US" sz="2100" dirty="0"/>
              <a:t> </a:t>
            </a:r>
            <a:r>
              <a:rPr lang="en-US" sz="2100" dirty="0" err="1"/>
              <a:t>gerekebilir</a:t>
            </a:r>
            <a:r>
              <a:rPr lang="en-US" sz="2100" dirty="0"/>
              <a:t>.</a:t>
            </a:r>
          </a:p>
          <a:p>
            <a:r>
              <a:rPr lang="en-US" sz="2100" dirty="0" err="1"/>
              <a:t>yaziListesi</a:t>
            </a:r>
            <a:r>
              <a:rPr lang="en-US" sz="2100" dirty="0"/>
              <a:t> </a:t>
            </a:r>
            <a:r>
              <a:rPr lang="en-US" sz="2100" dirty="0" err="1"/>
              <a:t>yerine</a:t>
            </a:r>
            <a:r>
              <a:rPr lang="en-US" sz="2100" dirty="0"/>
              <a:t> </a:t>
            </a:r>
            <a:r>
              <a:rPr lang="en-US" sz="2100" dirty="0" err="1"/>
              <a:t>verileri</a:t>
            </a:r>
            <a:r>
              <a:rPr lang="en-US" sz="2100" dirty="0"/>
              <a:t> </a:t>
            </a:r>
            <a:r>
              <a:rPr lang="en-US" sz="2100" dirty="0">
                <a:hlinkClick r:id="rId3"/>
              </a:rPr>
              <a:t>bu linkteki </a:t>
            </a:r>
            <a:r>
              <a:rPr lang="en-US" sz="2100" dirty="0" err="1"/>
              <a:t>API’den</a:t>
            </a:r>
            <a:r>
              <a:rPr lang="en-US" sz="2100" dirty="0"/>
              <a:t> </a:t>
            </a:r>
            <a:r>
              <a:rPr lang="en-US" sz="2100" dirty="0" err="1"/>
              <a:t>çekecek</a:t>
            </a:r>
            <a:r>
              <a:rPr lang="en-US" sz="2100" dirty="0"/>
              <a:t> </a:t>
            </a:r>
            <a:r>
              <a:rPr lang="en-US" sz="2100" dirty="0" err="1"/>
              <a:t>şekilde</a:t>
            </a:r>
            <a:r>
              <a:rPr lang="en-US" sz="2100" dirty="0"/>
              <a:t> </a:t>
            </a:r>
            <a:r>
              <a:rPr lang="en-US" sz="2100" dirty="0" err="1"/>
              <a:t>ayarlayalım</a:t>
            </a:r>
            <a:r>
              <a:rPr lang="en-US" sz="2100" dirty="0"/>
              <a:t> </a:t>
            </a:r>
            <a:r>
              <a:rPr lang="en-US" sz="2100" dirty="0" err="1"/>
              <a:t>ve</a:t>
            </a:r>
            <a:r>
              <a:rPr lang="en-US" sz="2100" dirty="0"/>
              <a:t> API_ENDPOINT </a:t>
            </a:r>
            <a:r>
              <a:rPr lang="en-US" sz="2100" dirty="0" err="1"/>
              <a:t>isminde</a:t>
            </a:r>
            <a:r>
              <a:rPr lang="en-US" sz="2100" dirty="0"/>
              <a:t> </a:t>
            </a:r>
            <a:r>
              <a:rPr lang="en-US" sz="2100" dirty="0" err="1"/>
              <a:t>bir</a:t>
            </a:r>
            <a:r>
              <a:rPr lang="en-US" sz="2100" dirty="0"/>
              <a:t> </a:t>
            </a:r>
            <a:r>
              <a:rPr lang="en-US" sz="2100" dirty="0" err="1"/>
              <a:t>değişkene</a:t>
            </a:r>
            <a:r>
              <a:rPr lang="en-US" sz="2100" dirty="0"/>
              <a:t> </a:t>
            </a:r>
            <a:r>
              <a:rPr lang="en-US" sz="2100" dirty="0" err="1"/>
              <a:t>atayalım</a:t>
            </a:r>
            <a:r>
              <a:rPr lang="en-US" sz="2100" dirty="0"/>
              <a:t>.</a:t>
            </a:r>
          </a:p>
          <a:p>
            <a:pPr lvl="1"/>
            <a:r>
              <a:rPr lang="en-US" sz="1500" dirty="0"/>
              <a:t>const API_ENDPOINT = "https://my-</a:t>
            </a:r>
            <a:r>
              <a:rPr lang="en-US" sz="1500" dirty="0" err="1"/>
              <a:t>json</a:t>
            </a:r>
            <a:r>
              <a:rPr lang="en-US" sz="1500" dirty="0"/>
              <a:t>-</a:t>
            </a:r>
            <a:r>
              <a:rPr lang="en-US" sz="1500" dirty="0" err="1"/>
              <a:t>server.typicode.com</a:t>
            </a:r>
            <a:r>
              <a:rPr lang="en-US" sz="1500" dirty="0"/>
              <a:t>/</a:t>
            </a:r>
            <a:r>
              <a:rPr lang="en-US" sz="1500" dirty="0" err="1"/>
              <a:t>asimsinan</a:t>
            </a:r>
            <a:r>
              <a:rPr lang="en-US" sz="1500" dirty="0"/>
              <a:t>/</a:t>
            </a:r>
            <a:r>
              <a:rPr lang="en-US" sz="1500" dirty="0" err="1"/>
              <a:t>mockapi</a:t>
            </a:r>
            <a:r>
              <a:rPr lang="en-US" sz="1500" dirty="0"/>
              <a:t>/</a:t>
            </a:r>
            <a:r>
              <a:rPr lang="en-US" sz="1500" dirty="0" err="1"/>
              <a:t>dersler</a:t>
            </a:r>
            <a:r>
              <a:rPr lang="en-US" sz="1500" dirty="0"/>
              <a:t>";</a:t>
            </a:r>
            <a:endParaRPr lang="en-US" sz="1700" dirty="0"/>
          </a:p>
          <a:p>
            <a:r>
              <a:rPr lang="en-US" sz="2100" dirty="0" err="1"/>
              <a:t>useEffect</a:t>
            </a:r>
            <a:r>
              <a:rPr lang="en-US" sz="2100" dirty="0"/>
              <a:t> </a:t>
            </a:r>
            <a:r>
              <a:rPr lang="en-US" sz="2100" dirty="0" err="1"/>
              <a:t>hook’unda</a:t>
            </a:r>
            <a:r>
              <a:rPr lang="en-US" sz="2100" dirty="0"/>
              <a:t> STORIES_FETCH_INIT </a:t>
            </a:r>
            <a:r>
              <a:rPr lang="en-US" sz="2100" dirty="0" err="1"/>
              <a:t>durumunu</a:t>
            </a:r>
            <a:r>
              <a:rPr lang="en-US" sz="2100" dirty="0"/>
              <a:t> </a:t>
            </a:r>
            <a:r>
              <a:rPr lang="en-US" sz="2100" dirty="0" err="1"/>
              <a:t>ayarladıktan</a:t>
            </a:r>
            <a:r>
              <a:rPr lang="en-US" sz="2100" dirty="0"/>
              <a:t> </a:t>
            </a:r>
            <a:r>
              <a:rPr lang="en-US" sz="2100" dirty="0" err="1"/>
              <a:t>sonra</a:t>
            </a:r>
            <a:r>
              <a:rPr lang="en-US" sz="2100" dirty="0"/>
              <a:t> </a:t>
            </a:r>
            <a:r>
              <a:rPr lang="en-US" sz="2100" dirty="0" err="1"/>
              <a:t>getAsyncPosts</a:t>
            </a:r>
            <a:r>
              <a:rPr lang="en-US" sz="2100" dirty="0"/>
              <a:t> </a:t>
            </a:r>
            <a:r>
              <a:rPr lang="en-US" sz="2100" dirty="0" err="1"/>
              <a:t>yerine</a:t>
            </a:r>
            <a:r>
              <a:rPr lang="en-US" sz="2100" dirty="0"/>
              <a:t> native fetch </a:t>
            </a:r>
            <a:r>
              <a:rPr lang="en-US" sz="2100" dirty="0" err="1"/>
              <a:t>apisini</a:t>
            </a:r>
            <a:r>
              <a:rPr lang="en-US" sz="2100" dirty="0"/>
              <a:t> </a:t>
            </a:r>
            <a:r>
              <a:rPr lang="en-US" sz="2100" dirty="0" err="1"/>
              <a:t>kullanarak</a:t>
            </a:r>
            <a:r>
              <a:rPr lang="en-US" sz="2100" dirty="0"/>
              <a:t> </a:t>
            </a:r>
            <a:r>
              <a:rPr lang="en-US" sz="2100" dirty="0" err="1"/>
              <a:t>verileri</a:t>
            </a:r>
            <a:r>
              <a:rPr lang="en-US" sz="2100" dirty="0"/>
              <a:t> </a:t>
            </a:r>
            <a:r>
              <a:rPr lang="en-US" sz="2100" dirty="0" err="1"/>
              <a:t>çekelim</a:t>
            </a:r>
            <a:r>
              <a:rPr lang="en-US" sz="2100" dirty="0"/>
              <a:t>.</a:t>
            </a:r>
          </a:p>
        </p:txBody>
      </p:sp>
      <p:sp>
        <p:nvSpPr>
          <p:cNvPr id="5" name="Shape 267"/>
          <p:cNvSpPr/>
          <p:nvPr/>
        </p:nvSpPr>
        <p:spPr>
          <a:xfrm>
            <a:off x="381000" y="681377"/>
            <a:ext cx="537822" cy="537823"/>
          </a:xfrm>
          <a:prstGeom prst="rect">
            <a:avLst/>
          </a:prstGeom>
          <a:solidFill>
            <a:srgbClr val="003366"/>
          </a:solidFill>
          <a:ln w="12700" cap="flat">
            <a:noFill/>
            <a:miter lim="400000"/>
          </a:ln>
          <a:effectLst/>
        </p:spPr>
        <p:txBody>
          <a:bodyPr wrap="square" lIns="34289" tIns="34289" rIns="34289" bIns="34289" numCol="1" anchor="ctr">
            <a:noAutofit/>
          </a:bodyPr>
          <a:lstStyle/>
          <a:p>
            <a:pPr eaLnBrk="1" hangingPunct="1"/>
            <a:r>
              <a:rPr lang="en-US" sz="2400" b="1">
                <a:solidFill>
                  <a:srgbClr val="FFFFFF"/>
                </a:solidFill>
                <a:latin typeface="+mj-lt"/>
                <a:ea typeface="+mn-ea"/>
              </a:rPr>
              <a:t>01</a:t>
            </a:r>
            <a:endParaRPr sz="2400" b="1">
              <a:solidFill>
                <a:srgbClr val="FFFFFF"/>
              </a:solidFill>
              <a:latin typeface="+mj-lt"/>
              <a:ea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FBEC9D-48EB-B87D-5250-43B069B57152}"/>
              </a:ext>
            </a:extLst>
          </p:cNvPr>
          <p:cNvSpPr txBox="1"/>
          <p:nvPr/>
        </p:nvSpPr>
        <p:spPr>
          <a:xfrm>
            <a:off x="190392" y="6580800"/>
            <a:ext cx="5329728" cy="276999"/>
          </a:xfrm>
          <a:prstGeom prst="rect">
            <a:avLst/>
          </a:prstGeom>
          <a:solidFill>
            <a:srgbClr val="28C0BB"/>
          </a:solidFill>
        </p:spPr>
        <p:txBody>
          <a:bodyPr wrap="none" rtlCol="0">
            <a:spAutoFit/>
          </a:bodyPr>
          <a:lstStyle/>
          <a:p>
            <a:r>
              <a:rPr lang="tr-TR" sz="1200" dirty="0">
                <a:solidFill>
                  <a:schemeClr val="tx1"/>
                </a:solidFill>
              </a:rPr>
              <a:t>Doç. Dr. Asım Sinan Yüksel / Web Teknolojileri ve Programlama, 2024-2025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716F500-5958-F553-9756-67711745F7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1200" y="4114800"/>
            <a:ext cx="4419600" cy="207731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7DE80DD-D748-9ECC-3DF8-96467675F424}"/>
              </a:ext>
            </a:extLst>
          </p:cNvPr>
          <p:cNvSpPr txBox="1"/>
          <p:nvPr/>
        </p:nvSpPr>
        <p:spPr>
          <a:xfrm>
            <a:off x="190392" y="6159043"/>
            <a:ext cx="68579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000" b="1" dirty="0"/>
              <a:t>Örnek: </a:t>
            </a:r>
            <a:r>
              <a:rPr lang="tr-TR" sz="2000" dirty="0">
                <a:hlinkClick r:id="rId5"/>
              </a:rPr>
              <a:t>https://codesandbox.io/s/affectionate-driscoll-5lhvzf</a:t>
            </a:r>
            <a:endParaRPr lang="tr-TR" sz="2000" dirty="0"/>
          </a:p>
        </p:txBody>
      </p:sp>
    </p:spTree>
    <p:extLst>
      <p:ext uri="{BB962C8B-B14F-4D97-AF65-F5344CB8AC3E}">
        <p14:creationId xmlns:p14="http://schemas.microsoft.com/office/powerpoint/2010/main" val="8467595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914400" y="681077"/>
            <a:ext cx="8153400" cy="553998"/>
          </a:xfrm>
        </p:spPr>
        <p:txBody>
          <a:bodyPr/>
          <a:lstStyle/>
          <a:p>
            <a:r>
              <a:rPr lang="tr-TR" dirty="0" err="1"/>
              <a:t>Memoized</a:t>
            </a:r>
            <a:r>
              <a:rPr lang="tr-TR" dirty="0"/>
              <a:t> </a:t>
            </a:r>
            <a:r>
              <a:rPr lang="tr-TR" dirty="0" err="1"/>
              <a:t>Function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52400" y="1371600"/>
            <a:ext cx="8839200" cy="5105400"/>
          </a:xfrm>
        </p:spPr>
        <p:txBody>
          <a:bodyPr/>
          <a:lstStyle/>
          <a:p>
            <a:r>
              <a:rPr lang="en-US" sz="2100" dirty="0"/>
              <a:t>React </a:t>
            </a:r>
            <a:r>
              <a:rPr lang="en-US" sz="2100" dirty="0" err="1"/>
              <a:t>bileşenlerinin</a:t>
            </a:r>
            <a:r>
              <a:rPr lang="en-US" sz="2100" dirty="0"/>
              <a:t> </a:t>
            </a:r>
            <a:r>
              <a:rPr lang="en-US" sz="2100" dirty="0" err="1"/>
              <a:t>performansını</a:t>
            </a:r>
            <a:r>
              <a:rPr lang="en-US" sz="2100" dirty="0"/>
              <a:t> </a:t>
            </a:r>
            <a:r>
              <a:rPr lang="en-US" sz="2100" dirty="0" err="1"/>
              <a:t>artırmak</a:t>
            </a:r>
            <a:r>
              <a:rPr lang="en-US" sz="2100" dirty="0"/>
              <a:t> </a:t>
            </a:r>
            <a:r>
              <a:rPr lang="en-US" sz="2100" dirty="0" err="1"/>
              <a:t>için</a:t>
            </a:r>
            <a:r>
              <a:rPr lang="en-US" sz="2100" dirty="0"/>
              <a:t> </a:t>
            </a:r>
            <a:r>
              <a:rPr lang="en-US" sz="2100" dirty="0" err="1"/>
              <a:t>kullanılan</a:t>
            </a:r>
            <a:r>
              <a:rPr lang="en-US" sz="2100" dirty="0"/>
              <a:t> </a:t>
            </a:r>
            <a:r>
              <a:rPr lang="en-US" sz="2100" dirty="0" err="1"/>
              <a:t>bir</a:t>
            </a:r>
            <a:r>
              <a:rPr lang="en-US" sz="2100" dirty="0"/>
              <a:t> </a:t>
            </a:r>
            <a:r>
              <a:rPr lang="en-US" sz="2100" dirty="0" err="1"/>
              <a:t>optimizasyon</a:t>
            </a:r>
            <a:r>
              <a:rPr lang="en-US" sz="2100" dirty="0"/>
              <a:t> </a:t>
            </a:r>
            <a:r>
              <a:rPr lang="en-US" sz="2100" dirty="0" err="1"/>
              <a:t>tekniğidir</a:t>
            </a:r>
            <a:r>
              <a:rPr lang="en-US" sz="2100" dirty="0"/>
              <a:t>. </a:t>
            </a:r>
          </a:p>
          <a:p>
            <a:r>
              <a:rPr lang="en-US" sz="2100" dirty="0"/>
              <a:t>React, </a:t>
            </a:r>
            <a:r>
              <a:rPr lang="en-US" sz="2100" dirty="0" err="1"/>
              <a:t>bileşenlerin</a:t>
            </a:r>
            <a:r>
              <a:rPr lang="en-US" sz="2100" dirty="0"/>
              <a:t> </a:t>
            </a:r>
            <a:r>
              <a:rPr lang="en-US" sz="2100" dirty="0" err="1"/>
              <a:t>yeniden</a:t>
            </a:r>
            <a:r>
              <a:rPr lang="en-US" sz="2100" dirty="0"/>
              <a:t> render </a:t>
            </a:r>
            <a:r>
              <a:rPr lang="en-US" sz="2100" dirty="0" err="1"/>
              <a:t>edilmesi</a:t>
            </a:r>
            <a:r>
              <a:rPr lang="en-US" sz="2100" dirty="0"/>
              <a:t> </a:t>
            </a:r>
            <a:r>
              <a:rPr lang="en-US" sz="2100" dirty="0" err="1"/>
              <a:t>gerektiği</a:t>
            </a:r>
            <a:r>
              <a:rPr lang="en-US" sz="2100" dirty="0"/>
              <a:t> </a:t>
            </a:r>
            <a:r>
              <a:rPr lang="en-US" sz="2100" dirty="0" err="1"/>
              <a:t>durumları</a:t>
            </a:r>
            <a:r>
              <a:rPr lang="en-US" sz="2100" dirty="0"/>
              <a:t> </a:t>
            </a:r>
            <a:r>
              <a:rPr lang="en-US" sz="2100" dirty="0" err="1"/>
              <a:t>belirlemek</a:t>
            </a:r>
            <a:r>
              <a:rPr lang="en-US" sz="2100" dirty="0"/>
              <a:t> </a:t>
            </a:r>
            <a:r>
              <a:rPr lang="en-US" sz="2100" dirty="0" err="1"/>
              <a:t>için</a:t>
            </a:r>
            <a:r>
              <a:rPr lang="en-US" sz="2100" dirty="0"/>
              <a:t> "props" </a:t>
            </a:r>
            <a:r>
              <a:rPr lang="en-US" sz="2100" dirty="0" err="1"/>
              <a:t>ve</a:t>
            </a:r>
            <a:r>
              <a:rPr lang="en-US" sz="2100" dirty="0"/>
              <a:t> "state" </a:t>
            </a:r>
            <a:r>
              <a:rPr lang="en-US" sz="2100" dirty="0" err="1"/>
              <a:t>değişikliklerini</a:t>
            </a:r>
            <a:r>
              <a:rPr lang="en-US" sz="2100" dirty="0"/>
              <a:t> </a:t>
            </a:r>
            <a:r>
              <a:rPr lang="en-US" sz="2100" dirty="0" err="1"/>
              <a:t>izler</a:t>
            </a:r>
            <a:r>
              <a:rPr lang="en-US" sz="2100" dirty="0"/>
              <a:t>. </a:t>
            </a:r>
            <a:r>
              <a:rPr lang="en-US" sz="2100" dirty="0" err="1"/>
              <a:t>Bazı</a:t>
            </a:r>
            <a:r>
              <a:rPr lang="en-US" sz="2100" dirty="0"/>
              <a:t> </a:t>
            </a:r>
            <a:r>
              <a:rPr lang="en-US" sz="2100" dirty="0" err="1"/>
              <a:t>durumlarda</a:t>
            </a:r>
            <a:r>
              <a:rPr lang="en-US" sz="2100" dirty="0"/>
              <a:t>, </a:t>
            </a:r>
            <a:r>
              <a:rPr lang="en-US" sz="2100" dirty="0" err="1"/>
              <a:t>bir</a:t>
            </a:r>
            <a:r>
              <a:rPr lang="en-US" sz="2100" dirty="0"/>
              <a:t> </a:t>
            </a:r>
            <a:r>
              <a:rPr lang="en-US" sz="2100" dirty="0" err="1"/>
              <a:t>bileşenin</a:t>
            </a:r>
            <a:r>
              <a:rPr lang="en-US" sz="2100" dirty="0"/>
              <a:t> </a:t>
            </a:r>
            <a:r>
              <a:rPr lang="en-US" sz="2100" dirty="0" err="1"/>
              <a:t>yeniden</a:t>
            </a:r>
            <a:r>
              <a:rPr lang="en-US" sz="2100" dirty="0"/>
              <a:t> render </a:t>
            </a:r>
            <a:r>
              <a:rPr lang="en-US" sz="2100" dirty="0" err="1"/>
              <a:t>edilmesi</a:t>
            </a:r>
            <a:r>
              <a:rPr lang="en-US" sz="2100" dirty="0"/>
              <a:t> </a:t>
            </a:r>
            <a:r>
              <a:rPr lang="en-US" sz="2100" dirty="0" err="1"/>
              <a:t>gerekmeyebilir</a:t>
            </a:r>
            <a:r>
              <a:rPr lang="en-US" sz="2100" dirty="0"/>
              <a:t>, </a:t>
            </a:r>
            <a:r>
              <a:rPr lang="en-US" sz="2100" dirty="0" err="1"/>
              <a:t>çünkü</a:t>
            </a:r>
            <a:r>
              <a:rPr lang="en-US" sz="2100" dirty="0"/>
              <a:t> </a:t>
            </a:r>
            <a:r>
              <a:rPr lang="en-US" sz="2100" dirty="0" err="1"/>
              <a:t>gelen</a:t>
            </a:r>
            <a:r>
              <a:rPr lang="en-US" sz="2100" dirty="0"/>
              <a:t> props </a:t>
            </a:r>
            <a:r>
              <a:rPr lang="en-US" sz="2100" dirty="0" err="1"/>
              <a:t>veya</a:t>
            </a:r>
            <a:r>
              <a:rPr lang="en-US" sz="2100" dirty="0"/>
              <a:t> state </a:t>
            </a:r>
            <a:r>
              <a:rPr lang="en-US" sz="2100" dirty="0" err="1"/>
              <a:t>değişikliği</a:t>
            </a:r>
            <a:r>
              <a:rPr lang="en-US" sz="2100" dirty="0"/>
              <a:t>, </a:t>
            </a:r>
            <a:r>
              <a:rPr lang="en-US" sz="2100" dirty="0" err="1"/>
              <a:t>sonuç</a:t>
            </a:r>
            <a:r>
              <a:rPr lang="en-US" sz="2100" dirty="0"/>
              <a:t> </a:t>
            </a:r>
            <a:r>
              <a:rPr lang="en-US" sz="2100" dirty="0" err="1"/>
              <a:t>olarak</a:t>
            </a:r>
            <a:r>
              <a:rPr lang="en-US" sz="2100" dirty="0"/>
              <a:t> </a:t>
            </a:r>
            <a:r>
              <a:rPr lang="en-US" sz="2100" dirty="0" err="1"/>
              <a:t>bileşenin</a:t>
            </a:r>
            <a:r>
              <a:rPr lang="en-US" sz="2100" dirty="0"/>
              <a:t> </a:t>
            </a:r>
            <a:r>
              <a:rPr lang="en-US" sz="2100" dirty="0" err="1"/>
              <a:t>çıktısını</a:t>
            </a:r>
            <a:r>
              <a:rPr lang="en-US" sz="2100" dirty="0"/>
              <a:t> </a:t>
            </a:r>
            <a:r>
              <a:rPr lang="en-US" sz="2100" dirty="0" err="1"/>
              <a:t>etkilemez</a:t>
            </a:r>
            <a:r>
              <a:rPr lang="en-US" sz="2100" dirty="0"/>
              <a:t>. Bu </a:t>
            </a:r>
            <a:r>
              <a:rPr lang="en-US" sz="2100" dirty="0" err="1"/>
              <a:t>durumlarda</a:t>
            </a:r>
            <a:r>
              <a:rPr lang="en-US" sz="2100" dirty="0"/>
              <a:t> </a:t>
            </a:r>
            <a:r>
              <a:rPr lang="en-US" sz="2100" dirty="0" err="1"/>
              <a:t>memoization</a:t>
            </a:r>
            <a:r>
              <a:rPr lang="en-US" sz="2100" dirty="0"/>
              <a:t> </a:t>
            </a:r>
            <a:r>
              <a:rPr lang="en-US" sz="2100" dirty="0" err="1"/>
              <a:t>kullanılır</a:t>
            </a:r>
            <a:r>
              <a:rPr lang="en-US" sz="2100" dirty="0"/>
              <a:t>.</a:t>
            </a:r>
          </a:p>
          <a:p>
            <a:r>
              <a:rPr lang="en-US" sz="2100" dirty="0" err="1"/>
              <a:t>Memoization</a:t>
            </a:r>
            <a:r>
              <a:rPr lang="en-US" sz="2100" dirty="0"/>
              <a:t>, </a:t>
            </a:r>
            <a:r>
              <a:rPr lang="en-US" sz="2100" dirty="0" err="1"/>
              <a:t>bir</a:t>
            </a:r>
            <a:r>
              <a:rPr lang="en-US" sz="2100" dirty="0"/>
              <a:t> </a:t>
            </a:r>
            <a:r>
              <a:rPr lang="en-US" sz="2100" dirty="0" err="1"/>
              <a:t>fonksiyonun</a:t>
            </a:r>
            <a:r>
              <a:rPr lang="en-US" sz="2100" dirty="0"/>
              <a:t> </a:t>
            </a:r>
            <a:r>
              <a:rPr lang="en-US" sz="2100" dirty="0" err="1"/>
              <a:t>girişlerini</a:t>
            </a:r>
            <a:r>
              <a:rPr lang="en-US" sz="2100" dirty="0"/>
              <a:t> (</a:t>
            </a:r>
            <a:r>
              <a:rPr lang="en-US" sz="2100" dirty="0" err="1"/>
              <a:t>argümanlarını</a:t>
            </a:r>
            <a:r>
              <a:rPr lang="en-US" sz="2100" dirty="0"/>
              <a:t>) </a:t>
            </a:r>
            <a:r>
              <a:rPr lang="en-US" sz="2100" dirty="0" err="1"/>
              <a:t>ve</a:t>
            </a:r>
            <a:r>
              <a:rPr lang="en-US" sz="2100" dirty="0"/>
              <a:t> </a:t>
            </a:r>
            <a:r>
              <a:rPr lang="en-US" sz="2100" dirty="0" err="1"/>
              <a:t>hesaplanan</a:t>
            </a:r>
            <a:r>
              <a:rPr lang="en-US" sz="2100" dirty="0"/>
              <a:t> </a:t>
            </a:r>
            <a:r>
              <a:rPr lang="en-US" sz="2100" dirty="0" err="1"/>
              <a:t>sonucunu</a:t>
            </a:r>
            <a:r>
              <a:rPr lang="en-US" sz="2100" dirty="0"/>
              <a:t> </a:t>
            </a:r>
            <a:r>
              <a:rPr lang="en-US" sz="2100" dirty="0" err="1"/>
              <a:t>önbelleğe</a:t>
            </a:r>
            <a:r>
              <a:rPr lang="en-US" sz="2100" dirty="0"/>
              <a:t> </a:t>
            </a:r>
            <a:r>
              <a:rPr lang="en-US" sz="2100" dirty="0" err="1"/>
              <a:t>alarak</a:t>
            </a:r>
            <a:r>
              <a:rPr lang="en-US" sz="2100" dirty="0"/>
              <a:t> </a:t>
            </a:r>
            <a:r>
              <a:rPr lang="en-US" sz="2100" dirty="0" err="1"/>
              <a:t>çalışır</a:t>
            </a:r>
            <a:r>
              <a:rPr lang="en-US" sz="2100" dirty="0"/>
              <a:t>. </a:t>
            </a:r>
            <a:r>
              <a:rPr lang="en-US" sz="2100" dirty="0" err="1"/>
              <a:t>Daha</a:t>
            </a:r>
            <a:r>
              <a:rPr lang="en-US" sz="2100" dirty="0"/>
              <a:t> </a:t>
            </a:r>
            <a:r>
              <a:rPr lang="en-US" sz="2100" dirty="0" err="1"/>
              <a:t>sonra</a:t>
            </a:r>
            <a:r>
              <a:rPr lang="en-US" sz="2100" dirty="0"/>
              <a:t> </a:t>
            </a:r>
            <a:r>
              <a:rPr lang="en-US" sz="2100" dirty="0" err="1"/>
              <a:t>aynı</a:t>
            </a:r>
            <a:r>
              <a:rPr lang="en-US" sz="2100" dirty="0"/>
              <a:t> </a:t>
            </a:r>
            <a:r>
              <a:rPr lang="en-US" sz="2100" dirty="0" err="1"/>
              <a:t>girişlerle</a:t>
            </a:r>
            <a:r>
              <a:rPr lang="en-US" sz="2100" dirty="0"/>
              <a:t> </a:t>
            </a:r>
            <a:r>
              <a:rPr lang="en-US" sz="2100" dirty="0" err="1"/>
              <a:t>tekrar</a:t>
            </a:r>
            <a:r>
              <a:rPr lang="en-US" sz="2100" dirty="0"/>
              <a:t> </a:t>
            </a:r>
            <a:r>
              <a:rPr lang="en-US" sz="2100" dirty="0" err="1"/>
              <a:t>çağrıldığında</a:t>
            </a:r>
            <a:r>
              <a:rPr lang="en-US" sz="2100" dirty="0"/>
              <a:t>, </a:t>
            </a:r>
            <a:r>
              <a:rPr lang="en-US" sz="2100" dirty="0" err="1"/>
              <a:t>fonksiyon</a:t>
            </a:r>
            <a:r>
              <a:rPr lang="en-US" sz="2100" dirty="0"/>
              <a:t> </a:t>
            </a:r>
            <a:r>
              <a:rPr lang="en-US" sz="2100" dirty="0" err="1"/>
              <a:t>önbelleğe</a:t>
            </a:r>
            <a:r>
              <a:rPr lang="en-US" sz="2100" dirty="0"/>
              <a:t> </a:t>
            </a:r>
            <a:r>
              <a:rPr lang="en-US" sz="2100" dirty="0" err="1"/>
              <a:t>bakar</a:t>
            </a:r>
            <a:r>
              <a:rPr lang="en-US" sz="2100" dirty="0"/>
              <a:t> </a:t>
            </a:r>
            <a:r>
              <a:rPr lang="en-US" sz="2100" dirty="0" err="1"/>
              <a:t>ve</a:t>
            </a:r>
            <a:r>
              <a:rPr lang="en-US" sz="2100" dirty="0"/>
              <a:t> </a:t>
            </a:r>
            <a:r>
              <a:rPr lang="en-US" sz="2100" dirty="0" err="1"/>
              <a:t>daha</a:t>
            </a:r>
            <a:r>
              <a:rPr lang="en-US" sz="2100" dirty="0"/>
              <a:t> </a:t>
            </a:r>
            <a:r>
              <a:rPr lang="en-US" sz="2100" dirty="0" err="1"/>
              <a:t>önce</a:t>
            </a:r>
            <a:r>
              <a:rPr lang="en-US" sz="2100" dirty="0"/>
              <a:t> </a:t>
            </a:r>
            <a:r>
              <a:rPr lang="en-US" sz="2100" dirty="0" err="1"/>
              <a:t>hesaplanmış</a:t>
            </a:r>
            <a:r>
              <a:rPr lang="en-US" sz="2100" dirty="0"/>
              <a:t> </a:t>
            </a:r>
            <a:r>
              <a:rPr lang="en-US" sz="2100" dirty="0" err="1"/>
              <a:t>sonucu</a:t>
            </a:r>
            <a:r>
              <a:rPr lang="en-US" sz="2100" dirty="0"/>
              <a:t> </a:t>
            </a:r>
            <a:r>
              <a:rPr lang="en-US" sz="2100" dirty="0" err="1"/>
              <a:t>döndürür</a:t>
            </a:r>
            <a:r>
              <a:rPr lang="en-US" sz="2100" dirty="0"/>
              <a:t>. Bu, </a:t>
            </a:r>
            <a:r>
              <a:rPr lang="en-US" sz="2100" dirty="0" err="1"/>
              <a:t>aynı</a:t>
            </a:r>
            <a:r>
              <a:rPr lang="en-US" sz="2100" dirty="0"/>
              <a:t> </a:t>
            </a:r>
            <a:r>
              <a:rPr lang="en-US" sz="2100" dirty="0" err="1"/>
              <a:t>girişlerle</a:t>
            </a:r>
            <a:r>
              <a:rPr lang="en-US" sz="2100" dirty="0"/>
              <a:t> </a:t>
            </a:r>
            <a:r>
              <a:rPr lang="en-US" sz="2100" dirty="0" err="1"/>
              <a:t>tekrar</a:t>
            </a:r>
            <a:r>
              <a:rPr lang="en-US" sz="2100" dirty="0"/>
              <a:t> </a:t>
            </a:r>
            <a:r>
              <a:rPr lang="en-US" sz="2100" dirty="0" err="1"/>
              <a:t>tekrar</a:t>
            </a:r>
            <a:r>
              <a:rPr lang="en-US" sz="2100" dirty="0"/>
              <a:t> </a:t>
            </a:r>
            <a:r>
              <a:rPr lang="en-US" sz="2100" dirty="0" err="1"/>
              <a:t>hesaplama</a:t>
            </a:r>
            <a:r>
              <a:rPr lang="en-US" sz="2100" dirty="0"/>
              <a:t> </a:t>
            </a:r>
            <a:r>
              <a:rPr lang="en-US" sz="2100" dirty="0" err="1"/>
              <a:t>maliyetini</a:t>
            </a:r>
            <a:r>
              <a:rPr lang="en-US" sz="2100" dirty="0"/>
              <a:t> </a:t>
            </a:r>
            <a:r>
              <a:rPr lang="en-US" sz="2100" dirty="0" err="1"/>
              <a:t>önler</a:t>
            </a:r>
            <a:r>
              <a:rPr lang="en-US" sz="2100" dirty="0"/>
              <a:t>.</a:t>
            </a:r>
          </a:p>
          <a:p>
            <a:r>
              <a:rPr lang="en-US" sz="2100" b="1" dirty="0" err="1"/>
              <a:t>Kullanım</a:t>
            </a:r>
            <a:r>
              <a:rPr lang="en-US" sz="2100" b="1" dirty="0"/>
              <a:t> </a:t>
            </a:r>
            <a:r>
              <a:rPr lang="en-US" sz="2100" b="1" dirty="0" err="1"/>
              <a:t>Senaryoları</a:t>
            </a:r>
            <a:r>
              <a:rPr lang="en-US" sz="2100" b="1" dirty="0"/>
              <a:t>:  </a:t>
            </a:r>
            <a:r>
              <a:rPr lang="en-US" sz="2100" dirty="0" err="1"/>
              <a:t>Büyük</a:t>
            </a:r>
            <a:r>
              <a:rPr lang="en-US" sz="2100" dirty="0"/>
              <a:t> </a:t>
            </a:r>
            <a:r>
              <a:rPr lang="en-US" sz="2100" dirty="0" err="1"/>
              <a:t>veri</a:t>
            </a:r>
            <a:r>
              <a:rPr lang="en-US" sz="2100" dirty="0"/>
              <a:t> </a:t>
            </a:r>
            <a:r>
              <a:rPr lang="en-US" sz="2100" dirty="0" err="1"/>
              <a:t>işleme</a:t>
            </a:r>
            <a:r>
              <a:rPr lang="en-US" sz="2100" dirty="0"/>
              <a:t>, API </a:t>
            </a:r>
            <a:r>
              <a:rPr lang="en-US" sz="2100" dirty="0" err="1"/>
              <a:t>çağrıları</a:t>
            </a:r>
            <a:r>
              <a:rPr lang="en-US" sz="2100" dirty="0"/>
              <a:t>, </a:t>
            </a:r>
            <a:r>
              <a:rPr lang="en-US" sz="2100" dirty="0" err="1"/>
              <a:t>karmaşık</a:t>
            </a:r>
            <a:r>
              <a:rPr lang="en-US" sz="2100" dirty="0"/>
              <a:t> </a:t>
            </a:r>
            <a:r>
              <a:rPr lang="en-US" sz="2100" dirty="0" err="1"/>
              <a:t>hesaplamalar</a:t>
            </a:r>
            <a:endParaRPr lang="en-US" sz="2100" dirty="0"/>
          </a:p>
          <a:p>
            <a:pPr marL="0" indent="0">
              <a:buNone/>
            </a:pPr>
            <a:endParaRPr lang="en-US" sz="2100" dirty="0"/>
          </a:p>
        </p:txBody>
      </p:sp>
      <p:sp>
        <p:nvSpPr>
          <p:cNvPr id="5" name="Shape 267"/>
          <p:cNvSpPr/>
          <p:nvPr/>
        </p:nvSpPr>
        <p:spPr>
          <a:xfrm>
            <a:off x="381000" y="681377"/>
            <a:ext cx="537822" cy="537823"/>
          </a:xfrm>
          <a:prstGeom prst="rect">
            <a:avLst/>
          </a:prstGeom>
          <a:solidFill>
            <a:srgbClr val="003366"/>
          </a:solidFill>
          <a:ln w="12700" cap="flat">
            <a:noFill/>
            <a:miter lim="400000"/>
          </a:ln>
          <a:effectLst/>
        </p:spPr>
        <p:txBody>
          <a:bodyPr wrap="square" lIns="34289" tIns="34289" rIns="34289" bIns="34289" numCol="1" anchor="ctr">
            <a:noAutofit/>
          </a:bodyPr>
          <a:lstStyle/>
          <a:p>
            <a:pPr eaLnBrk="1" hangingPunct="1"/>
            <a:r>
              <a:rPr lang="en-US" sz="2400" b="1">
                <a:solidFill>
                  <a:srgbClr val="FFFFFF"/>
                </a:solidFill>
                <a:latin typeface="+mj-lt"/>
                <a:ea typeface="+mn-ea"/>
              </a:rPr>
              <a:t>01</a:t>
            </a:r>
            <a:endParaRPr sz="2400" b="1">
              <a:solidFill>
                <a:srgbClr val="FFFFFF"/>
              </a:solidFill>
              <a:latin typeface="+mj-lt"/>
              <a:ea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FBEC9D-48EB-B87D-5250-43B069B57152}"/>
              </a:ext>
            </a:extLst>
          </p:cNvPr>
          <p:cNvSpPr txBox="1"/>
          <p:nvPr/>
        </p:nvSpPr>
        <p:spPr>
          <a:xfrm>
            <a:off x="190392" y="6580800"/>
            <a:ext cx="5329728" cy="276999"/>
          </a:xfrm>
          <a:prstGeom prst="rect">
            <a:avLst/>
          </a:prstGeom>
          <a:solidFill>
            <a:srgbClr val="28C0BB"/>
          </a:solidFill>
        </p:spPr>
        <p:txBody>
          <a:bodyPr wrap="none" rtlCol="0">
            <a:spAutoFit/>
          </a:bodyPr>
          <a:lstStyle/>
          <a:p>
            <a:r>
              <a:rPr lang="tr-TR" sz="1200" dirty="0">
                <a:solidFill>
                  <a:schemeClr val="tx1"/>
                </a:solidFill>
              </a:rPr>
              <a:t>Doç. Dr. Asım Sinan Yüksel / Web Teknolojileri ve Programlama, 2024-2025</a:t>
            </a:r>
          </a:p>
        </p:txBody>
      </p:sp>
    </p:spTree>
    <p:extLst>
      <p:ext uri="{BB962C8B-B14F-4D97-AF65-F5344CB8AC3E}">
        <p14:creationId xmlns:p14="http://schemas.microsoft.com/office/powerpoint/2010/main" val="20606292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914400" y="681077"/>
            <a:ext cx="8153400" cy="553998"/>
          </a:xfrm>
        </p:spPr>
        <p:txBody>
          <a:bodyPr/>
          <a:lstStyle/>
          <a:p>
            <a:r>
              <a:rPr lang="tr-TR" dirty="0" err="1"/>
              <a:t>Memoized</a:t>
            </a:r>
            <a:r>
              <a:rPr lang="tr-TR" dirty="0"/>
              <a:t> </a:t>
            </a:r>
            <a:r>
              <a:rPr lang="tr-TR" dirty="0" err="1"/>
              <a:t>Functions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52400" y="1371600"/>
            <a:ext cx="8839200" cy="5105400"/>
          </a:xfrm>
        </p:spPr>
        <p:txBody>
          <a:bodyPr/>
          <a:lstStyle/>
          <a:p>
            <a:r>
              <a:rPr lang="en-US" sz="2100" dirty="0" err="1"/>
              <a:t>Örneğimizde</a:t>
            </a:r>
            <a:r>
              <a:rPr lang="en-US" sz="2100" dirty="0"/>
              <a:t> </a:t>
            </a:r>
            <a:r>
              <a:rPr lang="en-US" sz="2100" dirty="0" err="1"/>
              <a:t>veri</a:t>
            </a:r>
            <a:r>
              <a:rPr lang="en-US" sz="2100" dirty="0"/>
              <a:t> </a:t>
            </a:r>
            <a:r>
              <a:rPr lang="en-US" sz="2100" dirty="0" err="1"/>
              <a:t>çekme</a:t>
            </a:r>
            <a:r>
              <a:rPr lang="en-US" sz="2100" dirty="0"/>
              <a:t> </a:t>
            </a:r>
            <a:r>
              <a:rPr lang="en-US" sz="2100" dirty="0" err="1"/>
              <a:t>mantığını</a:t>
            </a:r>
            <a:r>
              <a:rPr lang="en-US" sz="2100" dirty="0"/>
              <a:t> </a:t>
            </a:r>
            <a:r>
              <a:rPr lang="en-US" sz="2100" dirty="0" err="1"/>
              <a:t>useEffect</a:t>
            </a:r>
            <a:r>
              <a:rPr lang="en-US" sz="2100" dirty="0"/>
              <a:t> </a:t>
            </a:r>
            <a:r>
              <a:rPr lang="en-US" sz="2100" dirty="0" err="1"/>
              <a:t>hook’u</a:t>
            </a:r>
            <a:r>
              <a:rPr lang="en-US" sz="2100" dirty="0"/>
              <a:t> </a:t>
            </a:r>
            <a:r>
              <a:rPr lang="en-US" sz="2100" dirty="0" err="1"/>
              <a:t>içinde</a:t>
            </a:r>
            <a:r>
              <a:rPr lang="en-US" sz="2100" dirty="0"/>
              <a:t> </a:t>
            </a:r>
            <a:r>
              <a:rPr lang="en-US" sz="2100" dirty="0" err="1"/>
              <a:t>tanımladık</a:t>
            </a:r>
            <a:r>
              <a:rPr lang="en-US" sz="2100" dirty="0"/>
              <a:t>.</a:t>
            </a:r>
          </a:p>
          <a:p>
            <a:r>
              <a:rPr lang="en-US" sz="2100" dirty="0"/>
              <a:t>Bunun </a:t>
            </a:r>
            <a:r>
              <a:rPr lang="en-US" sz="2100" dirty="0" err="1"/>
              <a:t>yerine</a:t>
            </a:r>
            <a:r>
              <a:rPr lang="en-US" sz="2100" dirty="0"/>
              <a:t> bu </a:t>
            </a:r>
            <a:r>
              <a:rPr lang="en-US" sz="2100" dirty="0" err="1"/>
              <a:t>mantığı</a:t>
            </a:r>
            <a:r>
              <a:rPr lang="en-US" sz="2100" dirty="0"/>
              <a:t> </a:t>
            </a:r>
            <a:r>
              <a:rPr lang="en-US" sz="2100" dirty="0" err="1"/>
              <a:t>handleFetchPosts</a:t>
            </a:r>
            <a:r>
              <a:rPr lang="en-US" sz="2100" dirty="0"/>
              <a:t> </a:t>
            </a:r>
            <a:r>
              <a:rPr lang="en-US" sz="2100" dirty="0" err="1"/>
              <a:t>isimli</a:t>
            </a:r>
            <a:r>
              <a:rPr lang="en-US" sz="2100" dirty="0"/>
              <a:t> </a:t>
            </a:r>
            <a:r>
              <a:rPr lang="en-US" sz="2100" dirty="0" err="1"/>
              <a:t>bir</a:t>
            </a:r>
            <a:r>
              <a:rPr lang="en-US" sz="2100" dirty="0"/>
              <a:t> </a:t>
            </a:r>
            <a:r>
              <a:rPr lang="en-US" sz="2100" dirty="0" err="1"/>
              <a:t>memoized</a:t>
            </a:r>
            <a:r>
              <a:rPr lang="en-US" sz="2100" dirty="0"/>
              <a:t> </a:t>
            </a:r>
            <a:r>
              <a:rPr lang="en-US" sz="2100" dirty="0" err="1"/>
              <a:t>fonksiyona</a:t>
            </a:r>
            <a:r>
              <a:rPr lang="en-US" sz="2100" dirty="0"/>
              <a:t> </a:t>
            </a:r>
            <a:r>
              <a:rPr lang="en-US" sz="2100" dirty="0" err="1"/>
              <a:t>dönüştürebiliriz</a:t>
            </a:r>
            <a:r>
              <a:rPr lang="en-US" sz="2100" dirty="0"/>
              <a:t>. </a:t>
            </a:r>
          </a:p>
          <a:p>
            <a:r>
              <a:rPr lang="en-US" sz="2100" dirty="0"/>
              <a:t>Bu </a:t>
            </a:r>
            <a:r>
              <a:rPr lang="en-US" sz="2100" dirty="0" err="1"/>
              <a:t>sayede</a:t>
            </a:r>
            <a:r>
              <a:rPr lang="en-US" sz="2100" dirty="0"/>
              <a:t> hem </a:t>
            </a:r>
            <a:r>
              <a:rPr lang="en-US" sz="2100" dirty="0" err="1"/>
              <a:t>uygulamamızı</a:t>
            </a:r>
            <a:r>
              <a:rPr lang="en-US" sz="2100" dirty="0"/>
              <a:t> optimize </a:t>
            </a:r>
            <a:r>
              <a:rPr lang="en-US" sz="2100" dirty="0" err="1"/>
              <a:t>etmiş</a:t>
            </a:r>
            <a:r>
              <a:rPr lang="en-US" sz="2100" dirty="0"/>
              <a:t> </a:t>
            </a:r>
            <a:r>
              <a:rPr lang="en-US" sz="2100" dirty="0" err="1"/>
              <a:t>olur</a:t>
            </a:r>
            <a:r>
              <a:rPr lang="en-US" sz="2100" dirty="0"/>
              <a:t> hem de </a:t>
            </a:r>
            <a:r>
              <a:rPr lang="en-US" sz="2100" dirty="0" err="1"/>
              <a:t>veri</a:t>
            </a:r>
            <a:r>
              <a:rPr lang="en-US" sz="2100" dirty="0"/>
              <a:t> </a:t>
            </a:r>
            <a:r>
              <a:rPr lang="en-US" sz="2100" dirty="0" err="1"/>
              <a:t>çekme</a:t>
            </a:r>
            <a:r>
              <a:rPr lang="en-US" sz="2100" dirty="0"/>
              <a:t> </a:t>
            </a:r>
            <a:r>
              <a:rPr lang="en-US" sz="2100" dirty="0" err="1"/>
              <a:t>işlemini</a:t>
            </a:r>
            <a:r>
              <a:rPr lang="en-US" sz="2100" dirty="0"/>
              <a:t> </a:t>
            </a:r>
            <a:r>
              <a:rPr lang="en-US" sz="2100" dirty="0" err="1"/>
              <a:t>gerçekleştiren</a:t>
            </a:r>
            <a:r>
              <a:rPr lang="en-US" sz="2100" dirty="0"/>
              <a:t> </a:t>
            </a:r>
            <a:r>
              <a:rPr lang="en-US" sz="2100" dirty="0" err="1"/>
              <a:t>fonksiyon</a:t>
            </a:r>
            <a:r>
              <a:rPr lang="en-US" sz="2100" dirty="0"/>
              <a:t> </a:t>
            </a:r>
            <a:r>
              <a:rPr lang="en-US" sz="2100" dirty="0" err="1"/>
              <a:t>uygulamanın</a:t>
            </a:r>
            <a:r>
              <a:rPr lang="en-US" sz="2100" dirty="0"/>
              <a:t> </a:t>
            </a:r>
            <a:r>
              <a:rPr lang="en-US" sz="2100" dirty="0" err="1"/>
              <a:t>başka</a:t>
            </a:r>
            <a:r>
              <a:rPr lang="en-US" sz="2100" dirty="0"/>
              <a:t> </a:t>
            </a:r>
            <a:r>
              <a:rPr lang="en-US" sz="2100" dirty="0" err="1"/>
              <a:t>yerlerinde</a:t>
            </a:r>
            <a:r>
              <a:rPr lang="en-US" sz="2100" dirty="0"/>
              <a:t> de </a:t>
            </a:r>
            <a:r>
              <a:rPr lang="en-US" sz="2100" dirty="0" err="1"/>
              <a:t>kullanılabilir</a:t>
            </a:r>
            <a:r>
              <a:rPr lang="en-US" sz="2100" dirty="0"/>
              <a:t>.</a:t>
            </a:r>
          </a:p>
        </p:txBody>
      </p:sp>
      <p:sp>
        <p:nvSpPr>
          <p:cNvPr id="5" name="Shape 267"/>
          <p:cNvSpPr/>
          <p:nvPr/>
        </p:nvSpPr>
        <p:spPr>
          <a:xfrm>
            <a:off x="381000" y="681377"/>
            <a:ext cx="537822" cy="537823"/>
          </a:xfrm>
          <a:prstGeom prst="rect">
            <a:avLst/>
          </a:prstGeom>
          <a:solidFill>
            <a:srgbClr val="003366"/>
          </a:solidFill>
          <a:ln w="12700" cap="flat">
            <a:noFill/>
            <a:miter lim="400000"/>
          </a:ln>
          <a:effectLst/>
        </p:spPr>
        <p:txBody>
          <a:bodyPr wrap="square" lIns="34289" tIns="34289" rIns="34289" bIns="34289" numCol="1" anchor="ctr">
            <a:noAutofit/>
          </a:bodyPr>
          <a:lstStyle/>
          <a:p>
            <a:pPr eaLnBrk="1" hangingPunct="1"/>
            <a:r>
              <a:rPr lang="en-US" sz="2400" b="1">
                <a:solidFill>
                  <a:srgbClr val="FFFFFF"/>
                </a:solidFill>
                <a:latin typeface="+mj-lt"/>
                <a:ea typeface="+mn-ea"/>
              </a:rPr>
              <a:t>01</a:t>
            </a:r>
            <a:endParaRPr sz="2400" b="1">
              <a:solidFill>
                <a:srgbClr val="FFFFFF"/>
              </a:solidFill>
              <a:latin typeface="+mj-lt"/>
              <a:ea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FBEC9D-48EB-B87D-5250-43B069B57152}"/>
              </a:ext>
            </a:extLst>
          </p:cNvPr>
          <p:cNvSpPr txBox="1"/>
          <p:nvPr/>
        </p:nvSpPr>
        <p:spPr>
          <a:xfrm>
            <a:off x="190392" y="6580800"/>
            <a:ext cx="5329728" cy="276999"/>
          </a:xfrm>
          <a:prstGeom prst="rect">
            <a:avLst/>
          </a:prstGeom>
          <a:solidFill>
            <a:srgbClr val="28C0BB"/>
          </a:solidFill>
        </p:spPr>
        <p:txBody>
          <a:bodyPr wrap="none" rtlCol="0">
            <a:spAutoFit/>
          </a:bodyPr>
          <a:lstStyle/>
          <a:p>
            <a:r>
              <a:rPr lang="tr-TR" sz="1200" dirty="0">
                <a:solidFill>
                  <a:schemeClr val="tx1"/>
                </a:solidFill>
              </a:rPr>
              <a:t>Doç. Dr. Asım Sinan Yüksel / Web Teknolojileri ve Programlama, 2024-2025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04A87B-4ADF-DA5D-F5F5-F835AE1CCFAF}"/>
              </a:ext>
            </a:extLst>
          </p:cNvPr>
          <p:cNvSpPr txBox="1"/>
          <p:nvPr/>
        </p:nvSpPr>
        <p:spPr>
          <a:xfrm>
            <a:off x="381000" y="5867400"/>
            <a:ext cx="68579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000" b="1" dirty="0"/>
              <a:t>Örnek: </a:t>
            </a:r>
            <a:r>
              <a:rPr lang="tr-TR" sz="2000" dirty="0">
                <a:hlinkClick r:id="rId3"/>
              </a:rPr>
              <a:t>https://codesandbox.io/s/affectionate-driscoll-5lhvzf</a:t>
            </a:r>
            <a:endParaRPr lang="tr-TR" sz="20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4034593-B749-71D2-B2B7-891D596AB9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705" y="3581400"/>
            <a:ext cx="4466095" cy="200662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E4CAB63-EA06-1BFB-0813-5A8ECD1F9D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17024" y="3492500"/>
            <a:ext cx="2781300" cy="86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3155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914400" y="681077"/>
            <a:ext cx="8153400" cy="553998"/>
          </a:xfrm>
        </p:spPr>
        <p:txBody>
          <a:bodyPr/>
          <a:lstStyle/>
          <a:p>
            <a:r>
              <a:rPr lang="tr-TR" dirty="0" err="1"/>
              <a:t>Axios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52400" y="1371600"/>
            <a:ext cx="8839200" cy="5105400"/>
          </a:xfrm>
        </p:spPr>
        <p:txBody>
          <a:bodyPr/>
          <a:lstStyle/>
          <a:p>
            <a:r>
              <a:rPr lang="en-US" sz="2100" dirty="0"/>
              <a:t>Native fetch </a:t>
            </a:r>
            <a:r>
              <a:rPr lang="en-US" sz="2100" dirty="0" err="1"/>
              <a:t>metodu</a:t>
            </a:r>
            <a:r>
              <a:rPr lang="en-US" sz="2100" dirty="0"/>
              <a:t> </a:t>
            </a:r>
            <a:r>
              <a:rPr lang="en-US" sz="2100" dirty="0" err="1"/>
              <a:t>eski</a:t>
            </a:r>
            <a:r>
              <a:rPr lang="en-US" sz="2100" dirty="0"/>
              <a:t> </a:t>
            </a:r>
            <a:r>
              <a:rPr lang="en-US" sz="2100" dirty="0" err="1"/>
              <a:t>tarayıcılarda</a:t>
            </a:r>
            <a:r>
              <a:rPr lang="en-US" sz="2100" dirty="0"/>
              <a:t> </a:t>
            </a:r>
            <a:r>
              <a:rPr lang="en-US" sz="2100" dirty="0" err="1"/>
              <a:t>çalışmayabilir</a:t>
            </a:r>
            <a:r>
              <a:rPr lang="en-US" sz="2100" dirty="0"/>
              <a:t>. Bu </a:t>
            </a:r>
            <a:r>
              <a:rPr lang="en-US" sz="2100" dirty="0" err="1"/>
              <a:t>nedenle</a:t>
            </a:r>
            <a:r>
              <a:rPr lang="en-US" sz="2100" dirty="0"/>
              <a:t> </a:t>
            </a:r>
            <a:r>
              <a:rPr lang="en-US" sz="2100" dirty="0" err="1"/>
              <a:t>daha</a:t>
            </a:r>
            <a:r>
              <a:rPr lang="en-US" sz="2100" dirty="0"/>
              <a:t> </a:t>
            </a:r>
            <a:r>
              <a:rPr lang="en-US" sz="2100" dirty="0" err="1"/>
              <a:t>gelişmiş</a:t>
            </a:r>
            <a:r>
              <a:rPr lang="en-US" sz="2100" dirty="0"/>
              <a:t> </a:t>
            </a:r>
            <a:r>
              <a:rPr lang="en-US" sz="2100" dirty="0" err="1"/>
              <a:t>farklı</a:t>
            </a:r>
            <a:r>
              <a:rPr lang="en-US" sz="2100" dirty="0"/>
              <a:t> </a:t>
            </a:r>
            <a:r>
              <a:rPr lang="en-US" sz="2100" dirty="0" err="1"/>
              <a:t>kütüphaneler</a:t>
            </a:r>
            <a:r>
              <a:rPr lang="en-US" sz="2100" dirty="0"/>
              <a:t> </a:t>
            </a:r>
            <a:r>
              <a:rPr lang="en-US" sz="2100" dirty="0" err="1"/>
              <a:t>aracılığı</a:t>
            </a:r>
            <a:r>
              <a:rPr lang="en-US" sz="2100" dirty="0"/>
              <a:t> </a:t>
            </a:r>
            <a:r>
              <a:rPr lang="en-US" sz="2100" dirty="0" err="1"/>
              <a:t>ile</a:t>
            </a:r>
            <a:r>
              <a:rPr lang="en-US" sz="2100" dirty="0"/>
              <a:t> </a:t>
            </a:r>
            <a:r>
              <a:rPr lang="en-US" sz="2100" dirty="0" err="1"/>
              <a:t>istek</a:t>
            </a:r>
            <a:r>
              <a:rPr lang="en-US" sz="2100" dirty="0"/>
              <a:t> </a:t>
            </a:r>
            <a:r>
              <a:rPr lang="en-US" sz="2100" dirty="0" err="1"/>
              <a:t>gönderebiliriz</a:t>
            </a:r>
            <a:r>
              <a:rPr lang="en-US" sz="2100" dirty="0"/>
              <a:t>.</a:t>
            </a:r>
          </a:p>
          <a:p>
            <a:r>
              <a:rPr lang="en-US" sz="2100" dirty="0"/>
              <a:t>Bu </a:t>
            </a:r>
            <a:r>
              <a:rPr lang="en-US" sz="2100" dirty="0" err="1"/>
              <a:t>kütüphanelerden</a:t>
            </a:r>
            <a:r>
              <a:rPr lang="en-US" sz="2100" dirty="0"/>
              <a:t> </a:t>
            </a:r>
            <a:r>
              <a:rPr lang="en-US" sz="2100" dirty="0" err="1"/>
              <a:t>birisi</a:t>
            </a:r>
            <a:r>
              <a:rPr lang="en-US" sz="2100" dirty="0"/>
              <a:t> de </a:t>
            </a:r>
            <a:r>
              <a:rPr lang="en-US" sz="2100" dirty="0" err="1"/>
              <a:t>Axios’tur</a:t>
            </a:r>
            <a:r>
              <a:rPr lang="en-US" sz="2100" dirty="0"/>
              <a:t>.</a:t>
            </a:r>
          </a:p>
          <a:p>
            <a:r>
              <a:rPr lang="en-US" sz="2100" dirty="0" err="1"/>
              <a:t>Axios</a:t>
            </a:r>
            <a:r>
              <a:rPr lang="en-US" sz="2100" dirty="0"/>
              <a:t>, </a:t>
            </a:r>
            <a:r>
              <a:rPr lang="en-US" sz="2100" dirty="0" err="1"/>
              <a:t>tarayıcı</a:t>
            </a:r>
            <a:r>
              <a:rPr lang="en-US" sz="2100" dirty="0"/>
              <a:t> </a:t>
            </a:r>
            <a:r>
              <a:rPr lang="en-US" sz="2100" dirty="0" err="1"/>
              <a:t>ve</a:t>
            </a:r>
            <a:r>
              <a:rPr lang="en-US" sz="2100" dirty="0"/>
              <a:t> Node.js </a:t>
            </a:r>
            <a:r>
              <a:rPr lang="en-US" sz="2100" dirty="0" err="1"/>
              <a:t>ortamlarında</a:t>
            </a:r>
            <a:r>
              <a:rPr lang="en-US" sz="2100" dirty="0"/>
              <a:t> </a:t>
            </a:r>
            <a:r>
              <a:rPr lang="en-US" sz="2100" dirty="0" err="1"/>
              <a:t>çalışabilir</a:t>
            </a:r>
            <a:r>
              <a:rPr lang="en-US" sz="2100" dirty="0"/>
              <a:t> </a:t>
            </a:r>
            <a:r>
              <a:rPr lang="en-US" sz="2100" dirty="0" err="1"/>
              <a:t>ve</a:t>
            </a:r>
            <a:r>
              <a:rPr lang="en-US" sz="2100" dirty="0"/>
              <a:t> </a:t>
            </a:r>
            <a:r>
              <a:rPr lang="en-US" sz="2100" dirty="0" err="1"/>
              <a:t>basit</a:t>
            </a:r>
            <a:r>
              <a:rPr lang="en-US" sz="2100" dirty="0"/>
              <a:t> </a:t>
            </a:r>
            <a:r>
              <a:rPr lang="en-US" sz="2100" dirty="0" err="1"/>
              <a:t>bir</a:t>
            </a:r>
            <a:r>
              <a:rPr lang="en-US" sz="2100" dirty="0"/>
              <a:t> API </a:t>
            </a:r>
            <a:r>
              <a:rPr lang="en-US" sz="2100" dirty="0" err="1"/>
              <a:t>ile</a:t>
            </a:r>
            <a:r>
              <a:rPr lang="en-US" sz="2100" dirty="0"/>
              <a:t> </a:t>
            </a:r>
            <a:r>
              <a:rPr lang="en-US" sz="2100" dirty="0" err="1"/>
              <a:t>kullanıcı</a:t>
            </a:r>
            <a:r>
              <a:rPr lang="en-US" sz="2100" dirty="0"/>
              <a:t> </a:t>
            </a:r>
            <a:r>
              <a:rPr lang="en-US" sz="2100" dirty="0" err="1"/>
              <a:t>dostu</a:t>
            </a:r>
            <a:r>
              <a:rPr lang="en-US" sz="2100" dirty="0"/>
              <a:t> </a:t>
            </a:r>
            <a:r>
              <a:rPr lang="en-US" sz="2100" dirty="0" err="1"/>
              <a:t>bir</a:t>
            </a:r>
            <a:r>
              <a:rPr lang="en-US" sz="2100" dirty="0"/>
              <a:t> HTTP </a:t>
            </a:r>
            <a:r>
              <a:rPr lang="en-US" sz="2100" dirty="0" err="1"/>
              <a:t>istemcisi</a:t>
            </a:r>
            <a:r>
              <a:rPr lang="en-US" sz="2100" dirty="0"/>
              <a:t> </a:t>
            </a:r>
            <a:r>
              <a:rPr lang="en-US" sz="2100" dirty="0" err="1"/>
              <a:t>sağlar</a:t>
            </a:r>
            <a:r>
              <a:rPr lang="en-US" sz="2100" dirty="0"/>
              <a:t>. </a:t>
            </a:r>
            <a:r>
              <a:rPr lang="en-US" sz="2100" dirty="0" err="1"/>
              <a:t>Axios</a:t>
            </a:r>
            <a:r>
              <a:rPr lang="en-US" sz="2100" dirty="0"/>
              <a:t>, </a:t>
            </a:r>
            <a:r>
              <a:rPr lang="en-US" sz="2100" dirty="0" err="1"/>
              <a:t>XMLHttpRequest</a:t>
            </a:r>
            <a:r>
              <a:rPr lang="en-US" sz="2100" dirty="0"/>
              <a:t> </a:t>
            </a:r>
            <a:r>
              <a:rPr lang="en-US" sz="2100" dirty="0" err="1"/>
              <a:t>veya</a:t>
            </a:r>
            <a:r>
              <a:rPr lang="en-US" sz="2100" dirty="0"/>
              <a:t> Fetch </a:t>
            </a:r>
            <a:r>
              <a:rPr lang="en-US" sz="2100" dirty="0" err="1"/>
              <a:t>API'si</a:t>
            </a:r>
            <a:r>
              <a:rPr lang="en-US" sz="2100" dirty="0"/>
              <a:t> </a:t>
            </a:r>
            <a:r>
              <a:rPr lang="en-US" sz="2100" dirty="0" err="1"/>
              <a:t>üzerine</a:t>
            </a:r>
            <a:r>
              <a:rPr lang="en-US" sz="2100" dirty="0"/>
              <a:t> </a:t>
            </a:r>
            <a:r>
              <a:rPr lang="en-US" sz="2100" dirty="0" err="1"/>
              <a:t>inşa</a:t>
            </a:r>
            <a:r>
              <a:rPr lang="en-US" sz="2100" dirty="0"/>
              <a:t> </a:t>
            </a:r>
            <a:r>
              <a:rPr lang="en-US" sz="2100" dirty="0" err="1"/>
              <a:t>edilmiştir</a:t>
            </a:r>
            <a:r>
              <a:rPr lang="en-US" sz="2100" dirty="0"/>
              <a:t> </a:t>
            </a:r>
            <a:r>
              <a:rPr lang="en-US" sz="2100" dirty="0" err="1"/>
              <a:t>ve</a:t>
            </a:r>
            <a:r>
              <a:rPr lang="en-US" sz="2100" dirty="0"/>
              <a:t> </a:t>
            </a:r>
            <a:r>
              <a:rPr lang="en-US" sz="2100" dirty="0" err="1"/>
              <a:t>birçok</a:t>
            </a:r>
            <a:r>
              <a:rPr lang="en-US" sz="2100" dirty="0"/>
              <a:t> </a:t>
            </a:r>
            <a:r>
              <a:rPr lang="en-US" sz="2100" dirty="0" err="1"/>
              <a:t>kullanışlı</a:t>
            </a:r>
            <a:r>
              <a:rPr lang="en-US" sz="2100" dirty="0"/>
              <a:t> </a:t>
            </a:r>
            <a:r>
              <a:rPr lang="en-US" sz="2100" dirty="0" err="1"/>
              <a:t>özelliğe</a:t>
            </a:r>
            <a:r>
              <a:rPr lang="en-US" sz="2100" dirty="0"/>
              <a:t> </a:t>
            </a:r>
            <a:r>
              <a:rPr lang="en-US" sz="2100" dirty="0" err="1"/>
              <a:t>sahiptir</a:t>
            </a:r>
            <a:r>
              <a:rPr lang="en-US" sz="2100" dirty="0"/>
              <a:t>. Bu, </a:t>
            </a:r>
            <a:r>
              <a:rPr lang="en-US" sz="2100" dirty="0" err="1"/>
              <a:t>çoğu</a:t>
            </a:r>
            <a:r>
              <a:rPr lang="en-US" sz="2100" dirty="0"/>
              <a:t> modern </a:t>
            </a:r>
            <a:r>
              <a:rPr lang="en-US" sz="2100" dirty="0" err="1"/>
              <a:t>tarayıcıda</a:t>
            </a:r>
            <a:r>
              <a:rPr lang="en-US" sz="2100" dirty="0"/>
              <a:t> </a:t>
            </a:r>
            <a:r>
              <a:rPr lang="en-US" sz="2100" dirty="0" err="1"/>
              <a:t>sorunsuz</a:t>
            </a:r>
            <a:r>
              <a:rPr lang="en-US" sz="2100" dirty="0"/>
              <a:t> </a:t>
            </a:r>
            <a:r>
              <a:rPr lang="en-US" sz="2100" dirty="0" err="1"/>
              <a:t>çalışmasını</a:t>
            </a:r>
            <a:r>
              <a:rPr lang="en-US" sz="2100" dirty="0"/>
              <a:t> </a:t>
            </a:r>
            <a:r>
              <a:rPr lang="en-US" sz="2100" dirty="0" err="1"/>
              <a:t>sağlar</a:t>
            </a:r>
            <a:r>
              <a:rPr lang="en-US" sz="2100" dirty="0"/>
              <a:t>.</a:t>
            </a:r>
          </a:p>
          <a:p>
            <a:r>
              <a:rPr lang="en-US" sz="2100" dirty="0" err="1"/>
              <a:t>Axios</a:t>
            </a:r>
            <a:r>
              <a:rPr lang="en-US" sz="2100" dirty="0"/>
              <a:t>, promise </a:t>
            </a:r>
            <a:r>
              <a:rPr lang="en-US" sz="2100" dirty="0" err="1"/>
              <a:t>tabanlı</a:t>
            </a:r>
            <a:r>
              <a:rPr lang="en-US" sz="2100" dirty="0"/>
              <a:t> </a:t>
            </a:r>
            <a:r>
              <a:rPr lang="en-US" sz="2100" dirty="0" err="1"/>
              <a:t>bir</a:t>
            </a:r>
            <a:r>
              <a:rPr lang="en-US" sz="2100" dirty="0"/>
              <a:t> </a:t>
            </a:r>
            <a:r>
              <a:rPr lang="en-US" sz="2100" dirty="0" err="1"/>
              <a:t>yapıya</a:t>
            </a:r>
            <a:r>
              <a:rPr lang="en-US" sz="2100" dirty="0"/>
              <a:t> </a:t>
            </a:r>
            <a:r>
              <a:rPr lang="en-US" sz="2100" dirty="0" err="1"/>
              <a:t>sahiptir</a:t>
            </a:r>
            <a:r>
              <a:rPr lang="en-US" sz="2100" dirty="0"/>
              <a:t>. Bu, </a:t>
            </a:r>
            <a:r>
              <a:rPr lang="en-US" sz="2100" dirty="0" err="1"/>
              <a:t>isteklerin</a:t>
            </a:r>
            <a:r>
              <a:rPr lang="en-US" sz="2100" dirty="0"/>
              <a:t> </a:t>
            </a:r>
            <a:r>
              <a:rPr lang="en-US" sz="2100" dirty="0" err="1"/>
              <a:t>asenkron</a:t>
            </a:r>
            <a:r>
              <a:rPr lang="en-US" sz="2100" dirty="0"/>
              <a:t> </a:t>
            </a:r>
            <a:r>
              <a:rPr lang="en-US" sz="2100" dirty="0" err="1"/>
              <a:t>olarak</a:t>
            </a:r>
            <a:r>
              <a:rPr lang="en-US" sz="2100" dirty="0"/>
              <a:t> </a:t>
            </a:r>
            <a:r>
              <a:rPr lang="en-US" sz="2100" dirty="0" err="1"/>
              <a:t>gerçekleştirilebileceği</a:t>
            </a:r>
            <a:r>
              <a:rPr lang="en-US" sz="2100" dirty="0"/>
              <a:t> </a:t>
            </a:r>
            <a:r>
              <a:rPr lang="en-US" sz="2100" dirty="0" err="1"/>
              <a:t>ve</a:t>
            </a:r>
            <a:r>
              <a:rPr lang="en-US" sz="2100" dirty="0"/>
              <a:t> </a:t>
            </a:r>
            <a:r>
              <a:rPr lang="en-US" sz="2100" dirty="0" err="1"/>
              <a:t>yanıtların</a:t>
            </a:r>
            <a:r>
              <a:rPr lang="en-US" sz="2100" dirty="0"/>
              <a:t> </a:t>
            </a:r>
            <a:r>
              <a:rPr lang="en-US" sz="2100" dirty="0" err="1"/>
              <a:t>beklenmesi</a:t>
            </a:r>
            <a:r>
              <a:rPr lang="en-US" sz="2100" dirty="0"/>
              <a:t> </a:t>
            </a:r>
            <a:r>
              <a:rPr lang="en-US" sz="2100" dirty="0" err="1"/>
              <a:t>için</a:t>
            </a:r>
            <a:r>
              <a:rPr lang="en-US" sz="2100" dirty="0"/>
              <a:t> then() </a:t>
            </a:r>
            <a:r>
              <a:rPr lang="en-US" sz="2100" dirty="0" err="1"/>
              <a:t>ve</a:t>
            </a:r>
            <a:r>
              <a:rPr lang="en-US" sz="2100" dirty="0"/>
              <a:t> catch() </a:t>
            </a:r>
            <a:r>
              <a:rPr lang="en-US" sz="2100" dirty="0" err="1"/>
              <a:t>gibi</a:t>
            </a:r>
            <a:r>
              <a:rPr lang="en-US" sz="2100" dirty="0"/>
              <a:t> promise </a:t>
            </a:r>
            <a:r>
              <a:rPr lang="en-US" sz="2100" dirty="0" err="1"/>
              <a:t>metotlarının</a:t>
            </a:r>
            <a:r>
              <a:rPr lang="en-US" sz="2100" dirty="0"/>
              <a:t> </a:t>
            </a:r>
            <a:r>
              <a:rPr lang="en-US" sz="2100" dirty="0" err="1"/>
              <a:t>kullanılabileceği</a:t>
            </a:r>
            <a:r>
              <a:rPr lang="en-US" sz="2100" dirty="0"/>
              <a:t> </a:t>
            </a:r>
            <a:r>
              <a:rPr lang="en-US" sz="2100" dirty="0" err="1"/>
              <a:t>anlamına</a:t>
            </a:r>
            <a:r>
              <a:rPr lang="en-US" sz="2100" dirty="0"/>
              <a:t> </a:t>
            </a:r>
            <a:r>
              <a:rPr lang="en-US" sz="2100" dirty="0" err="1"/>
              <a:t>gelir</a:t>
            </a:r>
            <a:r>
              <a:rPr lang="en-US" sz="2100" dirty="0"/>
              <a:t>.</a:t>
            </a:r>
          </a:p>
          <a:p>
            <a:r>
              <a:rPr lang="en-US" sz="2100" dirty="0" err="1"/>
              <a:t>Axios’u</a:t>
            </a:r>
            <a:r>
              <a:rPr lang="en-US" sz="2100" dirty="0"/>
              <a:t> </a:t>
            </a:r>
            <a:r>
              <a:rPr lang="en-US" sz="2100" dirty="0" err="1"/>
              <a:t>kullanmadan</a:t>
            </a:r>
            <a:r>
              <a:rPr lang="en-US" sz="2100" dirty="0"/>
              <a:t> </a:t>
            </a:r>
            <a:r>
              <a:rPr lang="en-US" sz="2100" dirty="0" err="1"/>
              <a:t>önce</a:t>
            </a:r>
            <a:r>
              <a:rPr lang="en-US" sz="2100" dirty="0"/>
              <a:t> </a:t>
            </a:r>
            <a:r>
              <a:rPr lang="en-US" sz="2100" dirty="0" err="1"/>
              <a:t>aşağıdaki</a:t>
            </a:r>
            <a:r>
              <a:rPr lang="en-US" sz="2100" dirty="0"/>
              <a:t> </a:t>
            </a:r>
            <a:r>
              <a:rPr lang="en-US" sz="2100" dirty="0" err="1"/>
              <a:t>komutla</a:t>
            </a:r>
            <a:r>
              <a:rPr lang="en-US" sz="2100" dirty="0"/>
              <a:t> </a:t>
            </a:r>
            <a:r>
              <a:rPr lang="en-US" sz="2100" dirty="0" err="1"/>
              <a:t>yükleyerek</a:t>
            </a:r>
            <a:r>
              <a:rPr lang="en-US" sz="2100" dirty="0"/>
              <a:t> </a:t>
            </a:r>
            <a:r>
              <a:rPr lang="en-US" sz="2100" dirty="0" err="1"/>
              <a:t>bağımlılıklara</a:t>
            </a:r>
            <a:r>
              <a:rPr lang="en-US" sz="2100" dirty="0"/>
              <a:t> </a:t>
            </a:r>
            <a:r>
              <a:rPr lang="en-US" sz="2100" dirty="0" err="1"/>
              <a:t>eklememiz</a:t>
            </a:r>
            <a:r>
              <a:rPr lang="en-US" sz="2100" dirty="0"/>
              <a:t> </a:t>
            </a:r>
            <a:r>
              <a:rPr lang="en-US" sz="2100" dirty="0" err="1"/>
              <a:t>gerekir</a:t>
            </a:r>
            <a:r>
              <a:rPr lang="en-US" sz="2100" dirty="0"/>
              <a:t>.</a:t>
            </a:r>
          </a:p>
          <a:p>
            <a:pPr lvl="1"/>
            <a:r>
              <a:rPr lang="en-US" sz="1700" dirty="0" err="1"/>
              <a:t>npm</a:t>
            </a:r>
            <a:r>
              <a:rPr lang="en-US" sz="1700" dirty="0"/>
              <a:t> install </a:t>
            </a:r>
            <a:r>
              <a:rPr lang="en-US" sz="1700" dirty="0" err="1"/>
              <a:t>axios</a:t>
            </a:r>
            <a:endParaRPr lang="en-US" sz="1700" dirty="0"/>
          </a:p>
          <a:p>
            <a:r>
              <a:rPr lang="en-US" sz="2100" dirty="0"/>
              <a:t>App </a:t>
            </a:r>
            <a:r>
              <a:rPr lang="en-US" sz="2100" dirty="0" err="1"/>
              <a:t>bileşeni</a:t>
            </a:r>
            <a:r>
              <a:rPr lang="en-US" sz="2100" dirty="0"/>
              <a:t> </a:t>
            </a:r>
            <a:r>
              <a:rPr lang="en-US" sz="2100" dirty="0" err="1"/>
              <a:t>içinde</a:t>
            </a:r>
            <a:r>
              <a:rPr lang="en-US" sz="2100" dirty="0"/>
              <a:t> de import </a:t>
            </a:r>
            <a:r>
              <a:rPr lang="en-US" sz="2100" dirty="0" err="1"/>
              <a:t>etmemiz</a:t>
            </a:r>
            <a:r>
              <a:rPr lang="en-US" sz="2100" dirty="0"/>
              <a:t> </a:t>
            </a:r>
            <a:r>
              <a:rPr lang="en-US" sz="2100" dirty="0" err="1"/>
              <a:t>gerekir</a:t>
            </a:r>
            <a:r>
              <a:rPr lang="en-US" sz="2100" dirty="0"/>
              <a:t>.</a:t>
            </a:r>
          </a:p>
          <a:p>
            <a:pPr lvl="1"/>
            <a:r>
              <a:rPr lang="en-US" sz="1700" dirty="0"/>
              <a:t>import </a:t>
            </a:r>
            <a:r>
              <a:rPr lang="en-US" sz="1700" dirty="0" err="1"/>
              <a:t>axios</a:t>
            </a:r>
            <a:r>
              <a:rPr lang="en-US" sz="1700" dirty="0"/>
              <a:t> from '</a:t>
            </a:r>
            <a:r>
              <a:rPr lang="en-US" sz="1700" dirty="0" err="1"/>
              <a:t>axios</a:t>
            </a:r>
            <a:r>
              <a:rPr lang="en-US" sz="1700" dirty="0"/>
              <a:t>'; </a:t>
            </a:r>
          </a:p>
          <a:p>
            <a:pPr lvl="1"/>
            <a:endParaRPr lang="en-US" sz="1700" dirty="0"/>
          </a:p>
          <a:p>
            <a:pPr lvl="1"/>
            <a:endParaRPr lang="en-US" sz="1700" dirty="0"/>
          </a:p>
          <a:p>
            <a:endParaRPr lang="en-US" sz="2100" dirty="0"/>
          </a:p>
        </p:txBody>
      </p:sp>
      <p:sp>
        <p:nvSpPr>
          <p:cNvPr id="5" name="Shape 267"/>
          <p:cNvSpPr/>
          <p:nvPr/>
        </p:nvSpPr>
        <p:spPr>
          <a:xfrm>
            <a:off x="381000" y="681377"/>
            <a:ext cx="537822" cy="537823"/>
          </a:xfrm>
          <a:prstGeom prst="rect">
            <a:avLst/>
          </a:prstGeom>
          <a:solidFill>
            <a:srgbClr val="003366"/>
          </a:solidFill>
          <a:ln w="12700" cap="flat">
            <a:noFill/>
            <a:miter lim="400000"/>
          </a:ln>
          <a:effectLst/>
        </p:spPr>
        <p:txBody>
          <a:bodyPr wrap="square" lIns="34289" tIns="34289" rIns="34289" bIns="34289" numCol="1" anchor="ctr">
            <a:noAutofit/>
          </a:bodyPr>
          <a:lstStyle/>
          <a:p>
            <a:pPr eaLnBrk="1" hangingPunct="1"/>
            <a:r>
              <a:rPr lang="en-US" sz="2400" b="1">
                <a:solidFill>
                  <a:srgbClr val="FFFFFF"/>
                </a:solidFill>
                <a:latin typeface="+mj-lt"/>
                <a:ea typeface="+mn-ea"/>
              </a:rPr>
              <a:t>01</a:t>
            </a:r>
            <a:endParaRPr sz="2400" b="1">
              <a:solidFill>
                <a:srgbClr val="FFFFFF"/>
              </a:solidFill>
              <a:latin typeface="+mj-lt"/>
              <a:ea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FBEC9D-48EB-B87D-5250-43B069B57152}"/>
              </a:ext>
            </a:extLst>
          </p:cNvPr>
          <p:cNvSpPr txBox="1"/>
          <p:nvPr/>
        </p:nvSpPr>
        <p:spPr>
          <a:xfrm>
            <a:off x="190392" y="6580800"/>
            <a:ext cx="5329728" cy="276999"/>
          </a:xfrm>
          <a:prstGeom prst="rect">
            <a:avLst/>
          </a:prstGeom>
          <a:solidFill>
            <a:srgbClr val="28C0BB"/>
          </a:solidFill>
        </p:spPr>
        <p:txBody>
          <a:bodyPr wrap="none" rtlCol="0">
            <a:spAutoFit/>
          </a:bodyPr>
          <a:lstStyle/>
          <a:p>
            <a:r>
              <a:rPr lang="tr-TR" sz="1200" dirty="0">
                <a:solidFill>
                  <a:schemeClr val="tx1"/>
                </a:solidFill>
              </a:rPr>
              <a:t>Doç. Dr. Asım Sinan Yüksel / Web Teknolojileri ve Programlama, 2024-2025</a:t>
            </a:r>
          </a:p>
        </p:txBody>
      </p:sp>
    </p:spTree>
    <p:extLst>
      <p:ext uri="{BB962C8B-B14F-4D97-AF65-F5344CB8AC3E}">
        <p14:creationId xmlns:p14="http://schemas.microsoft.com/office/powerpoint/2010/main" val="13045202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914400" y="681077"/>
            <a:ext cx="8153400" cy="553998"/>
          </a:xfrm>
        </p:spPr>
        <p:txBody>
          <a:bodyPr/>
          <a:lstStyle/>
          <a:p>
            <a:r>
              <a:rPr lang="tr-TR" dirty="0" err="1"/>
              <a:t>Axios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52400" y="1371600"/>
            <a:ext cx="8839200" cy="5105400"/>
          </a:xfrm>
        </p:spPr>
        <p:txBody>
          <a:bodyPr/>
          <a:lstStyle/>
          <a:p>
            <a:r>
              <a:rPr lang="en-US" sz="2100" dirty="0" err="1"/>
              <a:t>Axios’ta</a:t>
            </a:r>
            <a:r>
              <a:rPr lang="en-US" sz="2100" dirty="0"/>
              <a:t> </a:t>
            </a:r>
            <a:r>
              <a:rPr lang="en-US" sz="2100" dirty="0" err="1"/>
              <a:t>sonucu</a:t>
            </a:r>
            <a:r>
              <a:rPr lang="en-US" sz="2100" dirty="0"/>
              <a:t> JSON </a:t>
            </a:r>
            <a:r>
              <a:rPr lang="en-US" sz="2100" dirty="0" err="1"/>
              <a:t>formatına</a:t>
            </a:r>
            <a:r>
              <a:rPr lang="en-US" sz="2100" dirty="0"/>
              <a:t> </a:t>
            </a:r>
            <a:r>
              <a:rPr lang="en-US" sz="2100" dirty="0" err="1"/>
              <a:t>döndürmemize</a:t>
            </a:r>
            <a:r>
              <a:rPr lang="en-US" sz="2100" dirty="0"/>
              <a:t> </a:t>
            </a:r>
            <a:r>
              <a:rPr lang="en-US" sz="2100" dirty="0" err="1"/>
              <a:t>gerek</a:t>
            </a:r>
            <a:r>
              <a:rPr lang="en-US" sz="2100" dirty="0"/>
              <a:t> </a:t>
            </a:r>
            <a:r>
              <a:rPr lang="en-US" sz="2100" dirty="0" err="1"/>
              <a:t>yoktur</a:t>
            </a:r>
            <a:r>
              <a:rPr lang="en-US" sz="2100" dirty="0"/>
              <a:t>. </a:t>
            </a:r>
            <a:r>
              <a:rPr lang="en-US" sz="2100" dirty="0" err="1"/>
              <a:t>Çünkü</a:t>
            </a:r>
            <a:r>
              <a:rPr lang="en-US" sz="2100" dirty="0"/>
              <a:t> </a:t>
            </a:r>
            <a:r>
              <a:rPr lang="en-US" sz="2100" dirty="0" err="1"/>
              <a:t>sonucu</a:t>
            </a:r>
            <a:r>
              <a:rPr lang="en-US" sz="2100" dirty="0"/>
              <a:t> </a:t>
            </a:r>
            <a:r>
              <a:rPr lang="en-US" sz="2100" dirty="0" err="1"/>
              <a:t>bir</a:t>
            </a:r>
            <a:r>
              <a:rPr lang="en-US" sz="2100" dirty="0"/>
              <a:t> data </a:t>
            </a:r>
            <a:r>
              <a:rPr lang="en-US" sz="2100" dirty="0" err="1"/>
              <a:t>nesnesine</a:t>
            </a:r>
            <a:r>
              <a:rPr lang="en-US" sz="2100" dirty="0"/>
              <a:t> </a:t>
            </a:r>
            <a:r>
              <a:rPr lang="en-US" sz="2100" dirty="0" err="1"/>
              <a:t>sarmalayarak</a:t>
            </a:r>
            <a:r>
              <a:rPr lang="en-US" sz="2100" dirty="0"/>
              <a:t> JSON </a:t>
            </a:r>
            <a:r>
              <a:rPr lang="en-US" sz="2100" dirty="0" err="1"/>
              <a:t>formatında</a:t>
            </a:r>
            <a:r>
              <a:rPr lang="en-US" sz="2100" dirty="0"/>
              <a:t> </a:t>
            </a:r>
            <a:r>
              <a:rPr lang="en-US" sz="2100" dirty="0" err="1"/>
              <a:t>döndürebilmektedir</a:t>
            </a:r>
            <a:r>
              <a:rPr lang="en-US" sz="2100" dirty="0"/>
              <a:t>.</a:t>
            </a:r>
          </a:p>
        </p:txBody>
      </p:sp>
      <p:sp>
        <p:nvSpPr>
          <p:cNvPr id="5" name="Shape 267"/>
          <p:cNvSpPr/>
          <p:nvPr/>
        </p:nvSpPr>
        <p:spPr>
          <a:xfrm>
            <a:off x="381000" y="681377"/>
            <a:ext cx="537822" cy="537823"/>
          </a:xfrm>
          <a:prstGeom prst="rect">
            <a:avLst/>
          </a:prstGeom>
          <a:solidFill>
            <a:srgbClr val="003366"/>
          </a:solidFill>
          <a:ln w="12700" cap="flat">
            <a:noFill/>
            <a:miter lim="400000"/>
          </a:ln>
          <a:effectLst/>
        </p:spPr>
        <p:txBody>
          <a:bodyPr wrap="square" lIns="34289" tIns="34289" rIns="34289" bIns="34289" numCol="1" anchor="ctr">
            <a:noAutofit/>
          </a:bodyPr>
          <a:lstStyle/>
          <a:p>
            <a:pPr eaLnBrk="1" hangingPunct="1"/>
            <a:r>
              <a:rPr lang="en-US" sz="2400" b="1">
                <a:solidFill>
                  <a:srgbClr val="FFFFFF"/>
                </a:solidFill>
                <a:latin typeface="+mj-lt"/>
                <a:ea typeface="+mn-ea"/>
              </a:rPr>
              <a:t>01</a:t>
            </a:r>
            <a:endParaRPr sz="2400" b="1">
              <a:solidFill>
                <a:srgbClr val="FFFFFF"/>
              </a:solidFill>
              <a:latin typeface="+mj-lt"/>
              <a:ea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FBEC9D-48EB-B87D-5250-43B069B57152}"/>
              </a:ext>
            </a:extLst>
          </p:cNvPr>
          <p:cNvSpPr txBox="1"/>
          <p:nvPr/>
        </p:nvSpPr>
        <p:spPr>
          <a:xfrm>
            <a:off x="190392" y="6580800"/>
            <a:ext cx="5329728" cy="276999"/>
          </a:xfrm>
          <a:prstGeom prst="rect">
            <a:avLst/>
          </a:prstGeom>
          <a:solidFill>
            <a:srgbClr val="28C0BB"/>
          </a:solidFill>
        </p:spPr>
        <p:txBody>
          <a:bodyPr wrap="none" rtlCol="0">
            <a:spAutoFit/>
          </a:bodyPr>
          <a:lstStyle/>
          <a:p>
            <a:r>
              <a:rPr lang="tr-TR" sz="1200" dirty="0">
                <a:solidFill>
                  <a:schemeClr val="tx1"/>
                </a:solidFill>
              </a:rPr>
              <a:t>Doç. Dr. Asım Sinan Yüksel / Web Teknolojileri ve Programlama, 2024-2025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27A3FCF-F134-041E-FD32-403D56A45107}"/>
              </a:ext>
            </a:extLst>
          </p:cNvPr>
          <p:cNvSpPr txBox="1"/>
          <p:nvPr/>
        </p:nvSpPr>
        <p:spPr>
          <a:xfrm>
            <a:off x="381000" y="5768764"/>
            <a:ext cx="68579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000" b="1" dirty="0"/>
              <a:t>Örnek: </a:t>
            </a:r>
            <a:r>
              <a:rPr lang="tr-TR" sz="2000" dirty="0">
                <a:hlinkClick r:id="rId3"/>
              </a:rPr>
              <a:t>https://codesandbox.io/s/quirky-edison-8wkrn2</a:t>
            </a:r>
            <a:endParaRPr lang="tr-TR" sz="20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B17C488-461F-80BB-DF2B-5999B4F871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700" y="2493075"/>
            <a:ext cx="7404100" cy="299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551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914400" y="681077"/>
            <a:ext cx="8153400" cy="553998"/>
          </a:xfrm>
        </p:spPr>
        <p:txBody>
          <a:bodyPr/>
          <a:lstStyle/>
          <a:p>
            <a:r>
              <a:rPr lang="tr-TR" dirty="0" err="1"/>
              <a:t>Async</a:t>
            </a:r>
            <a:r>
              <a:rPr lang="tr-TR" dirty="0"/>
              <a:t>/</a:t>
            </a:r>
            <a:r>
              <a:rPr lang="tr-TR" dirty="0" err="1"/>
              <a:t>Await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52400" y="1371600"/>
            <a:ext cx="8839200" cy="5105400"/>
          </a:xfrm>
        </p:spPr>
        <p:txBody>
          <a:bodyPr/>
          <a:lstStyle/>
          <a:p>
            <a:r>
              <a:rPr lang="en-US" sz="2100" dirty="0" err="1"/>
              <a:t>Asenkron</a:t>
            </a:r>
            <a:r>
              <a:rPr lang="en-US" sz="2100" dirty="0"/>
              <a:t> </a:t>
            </a:r>
            <a:r>
              <a:rPr lang="en-US" sz="2100" dirty="0" err="1"/>
              <a:t>işlemler</a:t>
            </a:r>
            <a:r>
              <a:rPr lang="en-US" sz="2100" dirty="0"/>
              <a:t>, </a:t>
            </a:r>
            <a:r>
              <a:rPr lang="en-US" sz="2100" dirty="0" err="1"/>
              <a:t>belirli</a:t>
            </a:r>
            <a:r>
              <a:rPr lang="en-US" sz="2100" dirty="0"/>
              <a:t> </a:t>
            </a:r>
            <a:r>
              <a:rPr lang="en-US" sz="2100" dirty="0" err="1"/>
              <a:t>bir</a:t>
            </a:r>
            <a:r>
              <a:rPr lang="en-US" sz="2100" dirty="0"/>
              <a:t> zaman </a:t>
            </a:r>
            <a:r>
              <a:rPr lang="en-US" sz="2100" dirty="0" err="1"/>
              <a:t>diliminde</a:t>
            </a:r>
            <a:r>
              <a:rPr lang="en-US" sz="2100" dirty="0"/>
              <a:t> </a:t>
            </a:r>
            <a:r>
              <a:rPr lang="en-US" sz="2100" dirty="0" err="1"/>
              <a:t>tamamlanmayabilecek</a:t>
            </a:r>
            <a:r>
              <a:rPr lang="en-US" sz="2100" dirty="0"/>
              <a:t> </a:t>
            </a:r>
            <a:r>
              <a:rPr lang="en-US" sz="2100" dirty="0" err="1"/>
              <a:t>işlemlerdir</a:t>
            </a:r>
            <a:r>
              <a:rPr lang="en-US" sz="2100" dirty="0"/>
              <a:t>. Bu </a:t>
            </a:r>
            <a:r>
              <a:rPr lang="en-US" sz="2100" dirty="0" err="1"/>
              <a:t>nedenle</a:t>
            </a:r>
            <a:r>
              <a:rPr lang="en-US" sz="2100" dirty="0"/>
              <a:t>, </a:t>
            </a:r>
            <a:r>
              <a:rPr lang="en-US" sz="2100" dirty="0" err="1"/>
              <a:t>uzun</a:t>
            </a:r>
            <a:r>
              <a:rPr lang="en-US" sz="2100" dirty="0"/>
              <a:t> </a:t>
            </a:r>
            <a:r>
              <a:rPr lang="en-US" sz="2100" dirty="0" err="1"/>
              <a:t>sürecek</a:t>
            </a:r>
            <a:r>
              <a:rPr lang="en-US" sz="2100" dirty="0"/>
              <a:t> </a:t>
            </a:r>
            <a:r>
              <a:rPr lang="en-US" sz="2100" dirty="0" err="1"/>
              <a:t>işlemleri</a:t>
            </a:r>
            <a:r>
              <a:rPr lang="en-US" sz="2100" dirty="0"/>
              <a:t> </a:t>
            </a:r>
            <a:r>
              <a:rPr lang="en-US" sz="2100" dirty="0" err="1"/>
              <a:t>arka</a:t>
            </a:r>
            <a:r>
              <a:rPr lang="en-US" sz="2100" dirty="0"/>
              <a:t> </a:t>
            </a:r>
            <a:r>
              <a:rPr lang="en-US" sz="2100" dirty="0" err="1"/>
              <a:t>planda</a:t>
            </a:r>
            <a:r>
              <a:rPr lang="en-US" sz="2100" dirty="0"/>
              <a:t> </a:t>
            </a:r>
            <a:r>
              <a:rPr lang="en-US" sz="2100" dirty="0" err="1"/>
              <a:t>çalıştırarak</a:t>
            </a:r>
            <a:r>
              <a:rPr lang="en-US" sz="2100" dirty="0"/>
              <a:t>, </a:t>
            </a:r>
            <a:r>
              <a:rPr lang="en-US" sz="2100" dirty="0" err="1"/>
              <a:t>kullanıcının</a:t>
            </a:r>
            <a:r>
              <a:rPr lang="en-US" sz="2100" dirty="0"/>
              <a:t> web </a:t>
            </a:r>
            <a:r>
              <a:rPr lang="en-US" sz="2100" dirty="0" err="1"/>
              <a:t>sayfasının</a:t>
            </a:r>
            <a:r>
              <a:rPr lang="en-US" sz="2100" dirty="0"/>
              <a:t> </a:t>
            </a:r>
            <a:r>
              <a:rPr lang="en-US" sz="2100" dirty="0" err="1"/>
              <a:t>kilitlenmesini</a:t>
            </a:r>
            <a:r>
              <a:rPr lang="en-US" sz="2100" dirty="0"/>
              <a:t> </a:t>
            </a:r>
            <a:r>
              <a:rPr lang="en-US" sz="2100" dirty="0" err="1"/>
              <a:t>önlemek</a:t>
            </a:r>
            <a:r>
              <a:rPr lang="en-US" sz="2100" dirty="0"/>
              <a:t> </a:t>
            </a:r>
            <a:r>
              <a:rPr lang="en-US" sz="2100" dirty="0" err="1"/>
              <a:t>için</a:t>
            </a:r>
            <a:r>
              <a:rPr lang="en-US" sz="2100" dirty="0"/>
              <a:t> </a:t>
            </a:r>
            <a:r>
              <a:rPr lang="en-US" sz="2100" dirty="0" err="1"/>
              <a:t>kullanılır</a:t>
            </a:r>
            <a:r>
              <a:rPr lang="en-US" sz="2100" dirty="0"/>
              <a:t>.</a:t>
            </a:r>
          </a:p>
          <a:p>
            <a:r>
              <a:rPr lang="en-US" sz="2100" dirty="0"/>
              <a:t>Async/await, </a:t>
            </a:r>
            <a:r>
              <a:rPr lang="en-US" sz="2100" dirty="0" err="1"/>
              <a:t>asenkron</a:t>
            </a:r>
            <a:r>
              <a:rPr lang="en-US" sz="2100" dirty="0"/>
              <a:t> </a:t>
            </a:r>
            <a:r>
              <a:rPr lang="en-US" sz="2100" dirty="0" err="1"/>
              <a:t>işlemleri</a:t>
            </a:r>
            <a:r>
              <a:rPr lang="en-US" sz="2100" dirty="0"/>
              <a:t> </a:t>
            </a:r>
            <a:r>
              <a:rPr lang="en-US" sz="2100" dirty="0" err="1"/>
              <a:t>yönetmek</a:t>
            </a:r>
            <a:r>
              <a:rPr lang="en-US" sz="2100" dirty="0"/>
              <a:t> </a:t>
            </a:r>
            <a:r>
              <a:rPr lang="en-US" sz="2100" dirty="0" err="1"/>
              <a:t>için</a:t>
            </a:r>
            <a:r>
              <a:rPr lang="en-US" sz="2100" dirty="0"/>
              <a:t> Promise </a:t>
            </a:r>
            <a:r>
              <a:rPr lang="en-US" sz="2100" dirty="0" err="1"/>
              <a:t>nesneleriyle</a:t>
            </a:r>
            <a:r>
              <a:rPr lang="en-US" sz="2100" dirty="0"/>
              <a:t> </a:t>
            </a:r>
            <a:r>
              <a:rPr lang="en-US" sz="2100" dirty="0" err="1"/>
              <a:t>çalışır</a:t>
            </a:r>
            <a:r>
              <a:rPr lang="en-US" sz="2100" dirty="0"/>
              <a:t>. </a:t>
            </a:r>
          </a:p>
          <a:p>
            <a:r>
              <a:rPr lang="en-US" sz="2100" dirty="0"/>
              <a:t>Bir </a:t>
            </a:r>
            <a:r>
              <a:rPr lang="en-US" sz="2100" dirty="0" err="1"/>
              <a:t>fonksiyonu</a:t>
            </a:r>
            <a:r>
              <a:rPr lang="en-US" sz="2100" dirty="0"/>
              <a:t> async </a:t>
            </a:r>
            <a:r>
              <a:rPr lang="en-US" sz="2100" dirty="0" err="1"/>
              <a:t>olarak</a:t>
            </a:r>
            <a:r>
              <a:rPr lang="en-US" sz="2100" dirty="0"/>
              <a:t> </a:t>
            </a:r>
            <a:r>
              <a:rPr lang="en-US" sz="2100" dirty="0" err="1"/>
              <a:t>işaretlemek</a:t>
            </a:r>
            <a:r>
              <a:rPr lang="en-US" sz="2100" dirty="0"/>
              <a:t>, </a:t>
            </a:r>
            <a:r>
              <a:rPr lang="en-US" sz="2100" dirty="0" err="1"/>
              <a:t>içinde</a:t>
            </a:r>
            <a:r>
              <a:rPr lang="en-US" sz="2100" dirty="0"/>
              <a:t> await </a:t>
            </a:r>
            <a:r>
              <a:rPr lang="en-US" sz="2100" dirty="0" err="1"/>
              <a:t>ifadesini</a:t>
            </a:r>
            <a:r>
              <a:rPr lang="en-US" sz="2100" dirty="0"/>
              <a:t> </a:t>
            </a:r>
            <a:r>
              <a:rPr lang="en-US" sz="2100" dirty="0" err="1"/>
              <a:t>kullanmanızı</a:t>
            </a:r>
            <a:r>
              <a:rPr lang="en-US" sz="2100" dirty="0"/>
              <a:t> </a:t>
            </a:r>
            <a:r>
              <a:rPr lang="en-US" sz="2100" dirty="0" err="1"/>
              <a:t>sağlar</a:t>
            </a:r>
            <a:r>
              <a:rPr lang="en-US" sz="2100" dirty="0"/>
              <a:t>. </a:t>
            </a:r>
            <a:r>
              <a:rPr lang="en-US" sz="2100" dirty="0" err="1"/>
              <a:t>Eğer</a:t>
            </a:r>
            <a:r>
              <a:rPr lang="en-US" sz="2100" dirty="0"/>
              <a:t> </a:t>
            </a:r>
            <a:r>
              <a:rPr lang="en-US" sz="2100" dirty="0" err="1"/>
              <a:t>bir</a:t>
            </a:r>
            <a:r>
              <a:rPr lang="en-US" sz="2100" dirty="0"/>
              <a:t> </a:t>
            </a:r>
            <a:r>
              <a:rPr lang="en-US" sz="2100" dirty="0" err="1"/>
              <a:t>fonksiyon</a:t>
            </a:r>
            <a:r>
              <a:rPr lang="en-US" sz="2100" dirty="0"/>
              <a:t> promise </a:t>
            </a:r>
            <a:r>
              <a:rPr lang="en-US" sz="2100" dirty="0" err="1"/>
              <a:t>döndürmüyorsa</a:t>
            </a:r>
            <a:r>
              <a:rPr lang="en-US" sz="2100" dirty="0"/>
              <a:t> await </a:t>
            </a:r>
            <a:r>
              <a:rPr lang="en-US" sz="2100" dirty="0" err="1"/>
              <a:t>kullanılmaz</a:t>
            </a:r>
            <a:r>
              <a:rPr lang="en-US" sz="2100" dirty="0"/>
              <a:t>.</a:t>
            </a:r>
          </a:p>
          <a:p>
            <a:r>
              <a:rPr lang="en-US" sz="2100" dirty="0" err="1"/>
              <a:t>Örneğin</a:t>
            </a:r>
            <a:r>
              <a:rPr lang="en-US" sz="2100" dirty="0"/>
              <a:t>, </a:t>
            </a:r>
            <a:r>
              <a:rPr lang="en-US" sz="2100" dirty="0" err="1"/>
              <a:t>bir</a:t>
            </a:r>
            <a:r>
              <a:rPr lang="en-US" sz="2100" dirty="0"/>
              <a:t> </a:t>
            </a:r>
            <a:r>
              <a:rPr lang="en-US" sz="2100" dirty="0" err="1"/>
              <a:t>API'den</a:t>
            </a:r>
            <a:r>
              <a:rPr lang="en-US" sz="2100" dirty="0"/>
              <a:t> </a:t>
            </a:r>
            <a:r>
              <a:rPr lang="en-US" sz="2100" dirty="0" err="1"/>
              <a:t>veri</a:t>
            </a:r>
            <a:r>
              <a:rPr lang="en-US" sz="2100" dirty="0"/>
              <a:t> </a:t>
            </a:r>
            <a:r>
              <a:rPr lang="en-US" sz="2100" dirty="0" err="1"/>
              <a:t>almak</a:t>
            </a:r>
            <a:r>
              <a:rPr lang="en-US" sz="2100" dirty="0"/>
              <a:t>, </a:t>
            </a:r>
            <a:r>
              <a:rPr lang="en-US" sz="2100" dirty="0" err="1"/>
              <a:t>dosya</a:t>
            </a:r>
            <a:r>
              <a:rPr lang="en-US" sz="2100" dirty="0"/>
              <a:t> </a:t>
            </a:r>
            <a:r>
              <a:rPr lang="en-US" sz="2100" dirty="0" err="1"/>
              <a:t>okumak</a:t>
            </a:r>
            <a:r>
              <a:rPr lang="en-US" sz="2100" dirty="0"/>
              <a:t> </a:t>
            </a:r>
            <a:r>
              <a:rPr lang="en-US" sz="2100" dirty="0" err="1"/>
              <a:t>veya</a:t>
            </a:r>
            <a:r>
              <a:rPr lang="en-US" sz="2100" dirty="0"/>
              <a:t> </a:t>
            </a:r>
            <a:r>
              <a:rPr lang="en-US" sz="2100" dirty="0" err="1"/>
              <a:t>zamanlayıcı</a:t>
            </a:r>
            <a:r>
              <a:rPr lang="en-US" sz="2100" dirty="0"/>
              <a:t> </a:t>
            </a:r>
            <a:r>
              <a:rPr lang="en-US" sz="2100" dirty="0" err="1"/>
              <a:t>kullanmak</a:t>
            </a:r>
            <a:r>
              <a:rPr lang="en-US" sz="2100" dirty="0"/>
              <a:t> </a:t>
            </a:r>
            <a:r>
              <a:rPr lang="en-US" sz="2100" dirty="0" err="1"/>
              <a:t>gibi</a:t>
            </a:r>
            <a:r>
              <a:rPr lang="en-US" sz="2100" dirty="0"/>
              <a:t> </a:t>
            </a:r>
            <a:r>
              <a:rPr lang="en-US" sz="2100" dirty="0" err="1"/>
              <a:t>işlemler</a:t>
            </a:r>
            <a:r>
              <a:rPr lang="en-US" sz="2100" dirty="0"/>
              <a:t> </a:t>
            </a:r>
            <a:r>
              <a:rPr lang="en-US" sz="2100" dirty="0" err="1"/>
              <a:t>asenkron</a:t>
            </a:r>
            <a:r>
              <a:rPr lang="en-US" sz="2100" dirty="0"/>
              <a:t> </a:t>
            </a:r>
            <a:r>
              <a:rPr lang="en-US" sz="2100" dirty="0" err="1"/>
              <a:t>olabilir</a:t>
            </a:r>
            <a:r>
              <a:rPr lang="en-US" sz="2100" dirty="0"/>
              <a:t>. Bu </a:t>
            </a:r>
            <a:r>
              <a:rPr lang="en-US" sz="2100" dirty="0" err="1"/>
              <a:t>işlemler</a:t>
            </a:r>
            <a:r>
              <a:rPr lang="en-US" sz="2100" dirty="0"/>
              <a:t> </a:t>
            </a:r>
            <a:r>
              <a:rPr lang="en-US" sz="2100" dirty="0" err="1"/>
              <a:t>tamamlandığında</a:t>
            </a:r>
            <a:r>
              <a:rPr lang="en-US" sz="2100" dirty="0"/>
              <a:t> </a:t>
            </a:r>
            <a:r>
              <a:rPr lang="en-US" sz="2100" dirty="0" err="1"/>
              <a:t>sonuç</a:t>
            </a:r>
            <a:r>
              <a:rPr lang="en-US" sz="2100" dirty="0"/>
              <a:t> </a:t>
            </a:r>
            <a:r>
              <a:rPr lang="en-US" sz="2100" dirty="0" err="1"/>
              <a:t>döndürürler</a:t>
            </a:r>
            <a:r>
              <a:rPr lang="en-US" sz="2100" dirty="0"/>
              <a:t>.</a:t>
            </a:r>
          </a:p>
          <a:p>
            <a:r>
              <a:rPr lang="en-US" sz="2100" dirty="0"/>
              <a:t>Await </a:t>
            </a:r>
            <a:r>
              <a:rPr lang="en-US" sz="2100" dirty="0" err="1"/>
              <a:t>ifadesi</a:t>
            </a:r>
            <a:r>
              <a:rPr lang="en-US" sz="2100" dirty="0"/>
              <a:t>, </a:t>
            </a:r>
            <a:r>
              <a:rPr lang="en-US" sz="2100" dirty="0" err="1"/>
              <a:t>bir</a:t>
            </a:r>
            <a:r>
              <a:rPr lang="en-US" sz="2100" dirty="0"/>
              <a:t> </a:t>
            </a:r>
            <a:r>
              <a:rPr lang="en-US" sz="2100" dirty="0" err="1"/>
              <a:t>Promise'in</a:t>
            </a:r>
            <a:r>
              <a:rPr lang="en-US" sz="2100" dirty="0"/>
              <a:t> </a:t>
            </a:r>
            <a:r>
              <a:rPr lang="en-US" sz="2100" dirty="0" err="1"/>
              <a:t>tamamlanmasını</a:t>
            </a:r>
            <a:r>
              <a:rPr lang="en-US" sz="2100" dirty="0"/>
              <a:t> </a:t>
            </a:r>
            <a:r>
              <a:rPr lang="en-US" sz="2100" dirty="0" err="1"/>
              <a:t>bekler</a:t>
            </a:r>
            <a:r>
              <a:rPr lang="en-US" sz="2100" dirty="0"/>
              <a:t> </a:t>
            </a:r>
            <a:r>
              <a:rPr lang="en-US" sz="2100" dirty="0" err="1"/>
              <a:t>ve</a:t>
            </a:r>
            <a:r>
              <a:rPr lang="en-US" sz="2100" dirty="0"/>
              <a:t> </a:t>
            </a:r>
            <a:r>
              <a:rPr lang="en-US" sz="2100" dirty="0" err="1"/>
              <a:t>sonucunu</a:t>
            </a:r>
            <a:r>
              <a:rPr lang="en-US" sz="2100" dirty="0"/>
              <a:t> </a:t>
            </a:r>
            <a:r>
              <a:rPr lang="en-US" sz="2100" dirty="0" err="1"/>
              <a:t>döndürür</a:t>
            </a:r>
            <a:r>
              <a:rPr lang="en-US" sz="2100" dirty="0"/>
              <a:t>. Bu </a:t>
            </a:r>
            <a:r>
              <a:rPr lang="en-US" sz="2100" dirty="0" err="1"/>
              <a:t>sayede</a:t>
            </a:r>
            <a:r>
              <a:rPr lang="en-US" sz="2100" dirty="0"/>
              <a:t>, </a:t>
            </a:r>
            <a:r>
              <a:rPr lang="en-US" sz="2100" dirty="0" err="1"/>
              <a:t>asenkron</a:t>
            </a:r>
            <a:r>
              <a:rPr lang="en-US" sz="2100" dirty="0"/>
              <a:t> </a:t>
            </a:r>
            <a:r>
              <a:rPr lang="en-US" sz="2100" dirty="0" err="1"/>
              <a:t>işlemler</a:t>
            </a:r>
            <a:r>
              <a:rPr lang="en-US" sz="2100" dirty="0"/>
              <a:t> </a:t>
            </a:r>
            <a:r>
              <a:rPr lang="en-US" sz="2100" dirty="0" err="1"/>
              <a:t>ardışık</a:t>
            </a:r>
            <a:r>
              <a:rPr lang="en-US" sz="2100" dirty="0"/>
              <a:t> </a:t>
            </a:r>
            <a:r>
              <a:rPr lang="en-US" sz="2100" dirty="0" err="1"/>
              <a:t>bir</a:t>
            </a:r>
            <a:r>
              <a:rPr lang="en-US" sz="2100" dirty="0"/>
              <a:t> </a:t>
            </a:r>
            <a:r>
              <a:rPr lang="en-US" sz="2100" dirty="0" err="1"/>
              <a:t>şekilde</a:t>
            </a:r>
            <a:r>
              <a:rPr lang="en-US" sz="2100" dirty="0"/>
              <a:t> </a:t>
            </a:r>
            <a:r>
              <a:rPr lang="en-US" sz="2100" dirty="0" err="1"/>
              <a:t>ifade</a:t>
            </a:r>
            <a:r>
              <a:rPr lang="en-US" sz="2100" dirty="0"/>
              <a:t> </a:t>
            </a:r>
            <a:r>
              <a:rPr lang="en-US" sz="2100" dirty="0" err="1"/>
              <a:t>edilebilir</a:t>
            </a:r>
            <a:r>
              <a:rPr lang="en-US" sz="2100" dirty="0"/>
              <a:t>.</a:t>
            </a:r>
          </a:p>
        </p:txBody>
      </p:sp>
      <p:sp>
        <p:nvSpPr>
          <p:cNvPr id="5" name="Shape 267"/>
          <p:cNvSpPr/>
          <p:nvPr/>
        </p:nvSpPr>
        <p:spPr>
          <a:xfrm>
            <a:off x="381000" y="681377"/>
            <a:ext cx="537822" cy="537823"/>
          </a:xfrm>
          <a:prstGeom prst="rect">
            <a:avLst/>
          </a:prstGeom>
          <a:solidFill>
            <a:srgbClr val="003366"/>
          </a:solidFill>
          <a:ln w="12700" cap="flat">
            <a:noFill/>
            <a:miter lim="400000"/>
          </a:ln>
          <a:effectLst/>
        </p:spPr>
        <p:txBody>
          <a:bodyPr wrap="square" lIns="34289" tIns="34289" rIns="34289" bIns="34289" numCol="1" anchor="ctr">
            <a:noAutofit/>
          </a:bodyPr>
          <a:lstStyle/>
          <a:p>
            <a:pPr eaLnBrk="1" hangingPunct="1"/>
            <a:r>
              <a:rPr lang="en-US" sz="2400" b="1">
                <a:solidFill>
                  <a:srgbClr val="FFFFFF"/>
                </a:solidFill>
                <a:latin typeface="+mj-lt"/>
                <a:ea typeface="+mn-ea"/>
              </a:rPr>
              <a:t>01</a:t>
            </a:r>
            <a:endParaRPr sz="2400" b="1">
              <a:solidFill>
                <a:srgbClr val="FFFFFF"/>
              </a:solidFill>
              <a:latin typeface="+mj-lt"/>
              <a:ea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FBEC9D-48EB-B87D-5250-43B069B57152}"/>
              </a:ext>
            </a:extLst>
          </p:cNvPr>
          <p:cNvSpPr txBox="1"/>
          <p:nvPr/>
        </p:nvSpPr>
        <p:spPr>
          <a:xfrm>
            <a:off x="190392" y="6580800"/>
            <a:ext cx="5329728" cy="276999"/>
          </a:xfrm>
          <a:prstGeom prst="rect">
            <a:avLst/>
          </a:prstGeom>
          <a:solidFill>
            <a:srgbClr val="28C0BB"/>
          </a:solidFill>
        </p:spPr>
        <p:txBody>
          <a:bodyPr wrap="none" rtlCol="0">
            <a:spAutoFit/>
          </a:bodyPr>
          <a:lstStyle/>
          <a:p>
            <a:r>
              <a:rPr lang="tr-TR" sz="1200" dirty="0">
                <a:solidFill>
                  <a:schemeClr val="tx1"/>
                </a:solidFill>
              </a:rPr>
              <a:t>Doç. Dr. Asım Sinan Yüksel / Web Teknolojileri ve Programlama, 2024-2025</a:t>
            </a:r>
          </a:p>
        </p:txBody>
      </p:sp>
    </p:spTree>
    <p:extLst>
      <p:ext uri="{BB962C8B-B14F-4D97-AF65-F5344CB8AC3E}">
        <p14:creationId xmlns:p14="http://schemas.microsoft.com/office/powerpoint/2010/main" val="40100679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914400" y="681077"/>
            <a:ext cx="8153400" cy="553998"/>
          </a:xfrm>
        </p:spPr>
        <p:txBody>
          <a:bodyPr/>
          <a:lstStyle/>
          <a:p>
            <a:r>
              <a:rPr lang="tr-TR" dirty="0" err="1"/>
              <a:t>Async</a:t>
            </a:r>
            <a:r>
              <a:rPr lang="tr-TR" dirty="0"/>
              <a:t>/</a:t>
            </a:r>
            <a:r>
              <a:rPr lang="tr-TR" dirty="0" err="1"/>
              <a:t>Await</a:t>
            </a:r>
            <a:endParaRPr lang="tr-TR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99E9F1B-D60C-EA05-5777-9B98586077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92444" y="1739900"/>
            <a:ext cx="6692900" cy="3378200"/>
          </a:xfrm>
        </p:spPr>
      </p:pic>
      <p:sp>
        <p:nvSpPr>
          <p:cNvPr id="5" name="Shape 267"/>
          <p:cNvSpPr/>
          <p:nvPr/>
        </p:nvSpPr>
        <p:spPr>
          <a:xfrm>
            <a:off x="381000" y="681377"/>
            <a:ext cx="537822" cy="537823"/>
          </a:xfrm>
          <a:prstGeom prst="rect">
            <a:avLst/>
          </a:prstGeom>
          <a:solidFill>
            <a:srgbClr val="003366"/>
          </a:solidFill>
          <a:ln w="12700" cap="flat">
            <a:noFill/>
            <a:miter lim="400000"/>
          </a:ln>
          <a:effectLst/>
        </p:spPr>
        <p:txBody>
          <a:bodyPr wrap="square" lIns="34289" tIns="34289" rIns="34289" bIns="34289" numCol="1" anchor="ctr">
            <a:noAutofit/>
          </a:bodyPr>
          <a:lstStyle/>
          <a:p>
            <a:pPr eaLnBrk="1" hangingPunct="1"/>
            <a:r>
              <a:rPr lang="en-US" sz="2400" b="1">
                <a:solidFill>
                  <a:srgbClr val="FFFFFF"/>
                </a:solidFill>
                <a:latin typeface="+mj-lt"/>
                <a:ea typeface="+mn-ea"/>
              </a:rPr>
              <a:t>01</a:t>
            </a:r>
            <a:endParaRPr sz="2400" b="1">
              <a:solidFill>
                <a:srgbClr val="FFFFFF"/>
              </a:solidFill>
              <a:latin typeface="+mj-lt"/>
              <a:ea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FBEC9D-48EB-B87D-5250-43B069B57152}"/>
              </a:ext>
            </a:extLst>
          </p:cNvPr>
          <p:cNvSpPr txBox="1"/>
          <p:nvPr/>
        </p:nvSpPr>
        <p:spPr>
          <a:xfrm>
            <a:off x="190392" y="6580800"/>
            <a:ext cx="5329728" cy="276999"/>
          </a:xfrm>
          <a:prstGeom prst="rect">
            <a:avLst/>
          </a:prstGeom>
          <a:solidFill>
            <a:srgbClr val="28C0BB"/>
          </a:solidFill>
        </p:spPr>
        <p:txBody>
          <a:bodyPr wrap="none" rtlCol="0">
            <a:spAutoFit/>
          </a:bodyPr>
          <a:lstStyle/>
          <a:p>
            <a:r>
              <a:rPr lang="tr-TR" sz="1200" dirty="0">
                <a:solidFill>
                  <a:schemeClr val="tx1"/>
                </a:solidFill>
              </a:rPr>
              <a:t>Doç. Dr. Asım Sinan Yüksel / Web Teknolojileri ve Programlama, 2024-2025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88119A3-8083-3087-C75E-2D3025162EB5}"/>
              </a:ext>
            </a:extLst>
          </p:cNvPr>
          <p:cNvSpPr txBox="1"/>
          <p:nvPr/>
        </p:nvSpPr>
        <p:spPr>
          <a:xfrm>
            <a:off x="685801" y="5410200"/>
            <a:ext cx="68579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000" b="1" dirty="0"/>
              <a:t>Örnek: </a:t>
            </a:r>
            <a:r>
              <a:rPr lang="tr-TR" sz="2000" dirty="0">
                <a:hlinkClick r:id="rId4"/>
              </a:rPr>
              <a:t>https://codesandbox.io/s/charming-kalam-6crjmj</a:t>
            </a:r>
            <a:endParaRPr lang="tr-TR" sz="2000" dirty="0"/>
          </a:p>
        </p:txBody>
      </p:sp>
    </p:spTree>
    <p:extLst>
      <p:ext uri="{BB962C8B-B14F-4D97-AF65-F5344CB8AC3E}">
        <p14:creationId xmlns:p14="http://schemas.microsoft.com/office/powerpoint/2010/main" val="7098322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914400" y="681077"/>
            <a:ext cx="8153400" cy="553998"/>
          </a:xfrm>
        </p:spPr>
        <p:txBody>
          <a:bodyPr/>
          <a:lstStyle/>
          <a:p>
            <a:r>
              <a:rPr lang="tr-TR" dirty="0" err="1"/>
              <a:t>Props</a:t>
            </a:r>
            <a:r>
              <a:rPr lang="tr-TR" dirty="0"/>
              <a:t> </a:t>
            </a:r>
            <a:r>
              <a:rPr lang="tr-TR" dirty="0" err="1"/>
              <a:t>Drilling</a:t>
            </a:r>
            <a:endParaRPr lang="tr-TR" dirty="0"/>
          </a:p>
        </p:txBody>
      </p:sp>
      <p:sp>
        <p:nvSpPr>
          <p:cNvPr id="5" name="Shape 267"/>
          <p:cNvSpPr/>
          <p:nvPr/>
        </p:nvSpPr>
        <p:spPr>
          <a:xfrm>
            <a:off x="381000" y="681377"/>
            <a:ext cx="537822" cy="537823"/>
          </a:xfrm>
          <a:prstGeom prst="rect">
            <a:avLst/>
          </a:prstGeom>
          <a:solidFill>
            <a:srgbClr val="003366"/>
          </a:solidFill>
          <a:ln w="12700" cap="flat">
            <a:noFill/>
            <a:miter lim="400000"/>
          </a:ln>
          <a:effectLst/>
        </p:spPr>
        <p:txBody>
          <a:bodyPr wrap="square" lIns="34289" tIns="34289" rIns="34289" bIns="34289" numCol="1" anchor="ctr">
            <a:noAutofit/>
          </a:bodyPr>
          <a:lstStyle/>
          <a:p>
            <a:pPr eaLnBrk="1" hangingPunct="1"/>
            <a:r>
              <a:rPr lang="en-US" sz="2400" b="1">
                <a:solidFill>
                  <a:srgbClr val="FFFFFF"/>
                </a:solidFill>
                <a:latin typeface="+mj-lt"/>
                <a:ea typeface="+mn-ea"/>
              </a:rPr>
              <a:t>01</a:t>
            </a:r>
            <a:endParaRPr sz="2400" b="1">
              <a:solidFill>
                <a:srgbClr val="FFFFFF"/>
              </a:solidFill>
              <a:latin typeface="+mj-lt"/>
              <a:ea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FBEC9D-48EB-B87D-5250-43B069B57152}"/>
              </a:ext>
            </a:extLst>
          </p:cNvPr>
          <p:cNvSpPr txBox="1"/>
          <p:nvPr/>
        </p:nvSpPr>
        <p:spPr>
          <a:xfrm>
            <a:off x="190392" y="6580800"/>
            <a:ext cx="5329728" cy="276999"/>
          </a:xfrm>
          <a:prstGeom prst="rect">
            <a:avLst/>
          </a:prstGeom>
          <a:solidFill>
            <a:srgbClr val="28C0BB"/>
          </a:solidFill>
        </p:spPr>
        <p:txBody>
          <a:bodyPr wrap="none" rtlCol="0">
            <a:spAutoFit/>
          </a:bodyPr>
          <a:lstStyle/>
          <a:p>
            <a:r>
              <a:rPr lang="tr-TR" sz="1200" dirty="0">
                <a:solidFill>
                  <a:schemeClr val="tx1"/>
                </a:solidFill>
              </a:rPr>
              <a:t>Doç. Dr. Asım Sinan Yüksel / Web Teknolojileri ve Programlama, 2023-2024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B669A75-A87F-FD55-F7A5-D2CC8D9035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err="1"/>
              <a:t>Props</a:t>
            </a:r>
            <a:r>
              <a:rPr lang="tr-TR" dirty="0"/>
              <a:t> </a:t>
            </a:r>
            <a:r>
              <a:rPr lang="tr-TR" dirty="0" err="1"/>
              <a:t>drilling</a:t>
            </a:r>
            <a:r>
              <a:rPr lang="tr-TR" dirty="0"/>
              <a:t>, bir bileşenden diğerine veri aktarmak için </a:t>
            </a:r>
            <a:r>
              <a:rPr lang="tr-TR" dirty="0" err="1"/>
              <a:t>props</a:t>
            </a:r>
            <a:r>
              <a:rPr lang="tr-TR" dirty="0"/>
              <a:t> (özellikler) kullanma sürecidir.</a:t>
            </a:r>
          </a:p>
          <a:p>
            <a:r>
              <a:rPr lang="tr-TR" dirty="0"/>
              <a:t>Veri, en üstteki (üst) bileşenden başlayarak en alt bileşenlere iletilir.</a:t>
            </a:r>
          </a:p>
          <a:p>
            <a:r>
              <a:rPr lang="tr-TR" dirty="0"/>
              <a:t>Üst düzey bileşen, alt bileşenleri (çocuk bileşenleri) içerir ve her bir alt bileşene </a:t>
            </a:r>
            <a:r>
              <a:rPr lang="tr-TR" dirty="0" err="1"/>
              <a:t>props</a:t>
            </a:r>
            <a:r>
              <a:rPr lang="tr-TR" dirty="0"/>
              <a:t> gönderir.</a:t>
            </a:r>
          </a:p>
          <a:p>
            <a:r>
              <a:rPr lang="tr-TR" b="1" dirty="0"/>
              <a:t>Dezavantajları:</a:t>
            </a:r>
          </a:p>
          <a:p>
            <a:pPr lvl="1"/>
            <a:r>
              <a:rPr lang="tr-TR" dirty="0"/>
              <a:t>Derin bileşen hiyerarşileri varsa, </a:t>
            </a:r>
            <a:r>
              <a:rPr lang="tr-TR" dirty="0" err="1"/>
              <a:t>props'ları</a:t>
            </a:r>
            <a:r>
              <a:rPr lang="tr-TR" dirty="0"/>
              <a:t> her katmanda iletmek karmaşık hale gelebilir.</a:t>
            </a:r>
          </a:p>
          <a:p>
            <a:pPr lvl="1"/>
            <a:r>
              <a:rPr lang="tr-TR" dirty="0"/>
              <a:t>Bazı alt bileşenler, </a:t>
            </a:r>
            <a:r>
              <a:rPr lang="tr-TR" dirty="0" err="1"/>
              <a:t>prop'lara</a:t>
            </a:r>
            <a:r>
              <a:rPr lang="tr-TR" dirty="0"/>
              <a:t> ihtiyaç duymuyorsa bile gereksiz yere güncellenebilir.</a:t>
            </a:r>
          </a:p>
          <a:p>
            <a:r>
              <a:rPr lang="tr-TR" b="1" dirty="0"/>
              <a:t>Çözümler:</a:t>
            </a:r>
          </a:p>
          <a:p>
            <a:pPr lvl="1"/>
            <a:r>
              <a:rPr lang="tr-TR" dirty="0" err="1"/>
              <a:t>Context</a:t>
            </a:r>
            <a:r>
              <a:rPr lang="tr-TR" dirty="0"/>
              <a:t> API kullanma</a:t>
            </a:r>
          </a:p>
          <a:p>
            <a:pPr lvl="1"/>
            <a:r>
              <a:rPr lang="tr-TR" dirty="0" err="1"/>
              <a:t>Composition</a:t>
            </a:r>
            <a:endParaRPr lang="tr-TR" dirty="0"/>
          </a:p>
          <a:p>
            <a:pPr lvl="1"/>
            <a:r>
              <a:rPr lang="tr-TR" dirty="0">
                <a:hlinkClick r:id="rId3"/>
              </a:rPr>
              <a:t>Redux</a:t>
            </a:r>
            <a:r>
              <a:rPr lang="tr-TR" dirty="0"/>
              <a:t> ya da </a:t>
            </a:r>
            <a:r>
              <a:rPr lang="tr-TR" dirty="0">
                <a:hlinkClick r:id="rId4"/>
              </a:rPr>
              <a:t>Mobx</a:t>
            </a:r>
            <a:r>
              <a:rPr lang="tr-TR" dirty="0"/>
              <a:t> benzeri kütüphaneler kullanma</a:t>
            </a:r>
          </a:p>
          <a:p>
            <a:pPr lvl="1"/>
            <a:endParaRPr lang="tr-TR" dirty="0"/>
          </a:p>
          <a:p>
            <a:pPr lvl="1"/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6948051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914400" y="681077"/>
            <a:ext cx="8153400" cy="553998"/>
          </a:xfrm>
        </p:spPr>
        <p:txBody>
          <a:bodyPr/>
          <a:lstStyle/>
          <a:p>
            <a:r>
              <a:rPr lang="tr-TR" dirty="0" err="1"/>
              <a:t>Context</a:t>
            </a:r>
            <a:endParaRPr lang="tr-TR" dirty="0"/>
          </a:p>
        </p:txBody>
      </p:sp>
      <p:sp>
        <p:nvSpPr>
          <p:cNvPr id="5" name="Shape 267"/>
          <p:cNvSpPr/>
          <p:nvPr/>
        </p:nvSpPr>
        <p:spPr>
          <a:xfrm>
            <a:off x="381000" y="681377"/>
            <a:ext cx="537822" cy="537823"/>
          </a:xfrm>
          <a:prstGeom prst="rect">
            <a:avLst/>
          </a:prstGeom>
          <a:solidFill>
            <a:srgbClr val="003366"/>
          </a:solidFill>
          <a:ln w="12700" cap="flat">
            <a:noFill/>
            <a:miter lim="400000"/>
          </a:ln>
          <a:effectLst/>
        </p:spPr>
        <p:txBody>
          <a:bodyPr wrap="square" lIns="34289" tIns="34289" rIns="34289" bIns="34289" numCol="1" anchor="ctr">
            <a:noAutofit/>
          </a:bodyPr>
          <a:lstStyle/>
          <a:p>
            <a:pPr eaLnBrk="1" hangingPunct="1"/>
            <a:r>
              <a:rPr lang="en-US" sz="2400" b="1">
                <a:solidFill>
                  <a:srgbClr val="FFFFFF"/>
                </a:solidFill>
                <a:latin typeface="+mj-lt"/>
                <a:ea typeface="+mn-ea"/>
              </a:rPr>
              <a:t>01</a:t>
            </a:r>
            <a:endParaRPr sz="2400" b="1">
              <a:solidFill>
                <a:srgbClr val="FFFFFF"/>
              </a:solidFill>
              <a:latin typeface="+mj-lt"/>
              <a:ea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FBEC9D-48EB-B87D-5250-43B069B57152}"/>
              </a:ext>
            </a:extLst>
          </p:cNvPr>
          <p:cNvSpPr txBox="1"/>
          <p:nvPr/>
        </p:nvSpPr>
        <p:spPr>
          <a:xfrm>
            <a:off x="190392" y="6580800"/>
            <a:ext cx="5329728" cy="276999"/>
          </a:xfrm>
          <a:prstGeom prst="rect">
            <a:avLst/>
          </a:prstGeom>
          <a:solidFill>
            <a:srgbClr val="28C0BB"/>
          </a:solidFill>
        </p:spPr>
        <p:txBody>
          <a:bodyPr wrap="none" rtlCol="0">
            <a:spAutoFit/>
          </a:bodyPr>
          <a:lstStyle/>
          <a:p>
            <a:r>
              <a:rPr lang="tr-TR" sz="1200" dirty="0">
                <a:solidFill>
                  <a:schemeClr val="tx1"/>
                </a:solidFill>
              </a:rPr>
              <a:t>Doç. Dr. Asım Sinan Yüksel / Web Teknolojileri ve Programlama, 2023-2024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B669A75-A87F-FD55-F7A5-D2CC8D9035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err="1"/>
              <a:t>Context</a:t>
            </a:r>
            <a:r>
              <a:rPr lang="tr-TR" dirty="0"/>
              <a:t> </a:t>
            </a:r>
            <a:r>
              <a:rPr lang="tr-TR" dirty="0" err="1"/>
              <a:t>API’nin</a:t>
            </a:r>
            <a:r>
              <a:rPr lang="tr-TR" dirty="0"/>
              <a:t> </a:t>
            </a:r>
            <a:r>
              <a:rPr lang="tr-TR" dirty="0" err="1"/>
              <a:t>props</a:t>
            </a:r>
            <a:r>
              <a:rPr lang="tr-TR" dirty="0"/>
              <a:t> </a:t>
            </a:r>
            <a:r>
              <a:rPr lang="tr-TR" dirty="0" err="1"/>
              <a:t>drilling</a:t>
            </a:r>
            <a:r>
              <a:rPr lang="tr-TR" dirty="0"/>
              <a:t> problemi için sunduğu çözüm, aktarılmak istenen değerleri global olarak tutmak ve bu değerleri doğrudan kullanılacak bileşene aktarmaktır. </a:t>
            </a:r>
          </a:p>
          <a:p>
            <a:r>
              <a:rPr lang="tr-TR" b="1" dirty="0"/>
              <a:t>Adımlar:</a:t>
            </a:r>
          </a:p>
          <a:p>
            <a:pPr lvl="1"/>
            <a:r>
              <a:rPr lang="tr-TR" dirty="0"/>
              <a:t>1. </a:t>
            </a:r>
            <a:r>
              <a:rPr lang="tr-TR" dirty="0" err="1"/>
              <a:t>Context</a:t>
            </a:r>
            <a:r>
              <a:rPr lang="tr-TR" dirty="0"/>
              <a:t> oluşturulur.</a:t>
            </a:r>
          </a:p>
          <a:p>
            <a:pPr lvl="1"/>
            <a:endParaRPr lang="tr-TR" dirty="0"/>
          </a:p>
          <a:p>
            <a:pPr lvl="1"/>
            <a:endParaRPr lang="tr-TR" dirty="0"/>
          </a:p>
          <a:p>
            <a:pPr lvl="1"/>
            <a:endParaRPr lang="tr-TR" dirty="0"/>
          </a:p>
          <a:p>
            <a:pPr lvl="1"/>
            <a:endParaRPr lang="tr-TR" dirty="0"/>
          </a:p>
          <a:p>
            <a:pPr lvl="1"/>
            <a:endParaRPr lang="tr-TR" dirty="0"/>
          </a:p>
          <a:p>
            <a:pPr lvl="1"/>
            <a:endParaRPr lang="tr-TR" dirty="0"/>
          </a:p>
          <a:p>
            <a:pPr lvl="1"/>
            <a:endParaRPr lang="tr-TR" dirty="0"/>
          </a:p>
          <a:p>
            <a:pPr lvl="1"/>
            <a:endParaRPr lang="tr-TR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0798D53-434C-1DB9-302D-93730810B9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861" y="3423834"/>
            <a:ext cx="7586516" cy="25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19433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6640E2-98CE-2986-8B0D-3B6A3F22B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5ADDEC8-CCC9-0221-C09E-72F3277F7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81077"/>
            <a:ext cx="8153400" cy="553998"/>
          </a:xfrm>
        </p:spPr>
        <p:txBody>
          <a:bodyPr/>
          <a:lstStyle/>
          <a:p>
            <a:r>
              <a:rPr lang="tr-TR" dirty="0" err="1"/>
              <a:t>Context</a:t>
            </a:r>
            <a:endParaRPr lang="tr-TR" dirty="0"/>
          </a:p>
        </p:txBody>
      </p:sp>
      <p:sp>
        <p:nvSpPr>
          <p:cNvPr id="5" name="Shape 267">
            <a:extLst>
              <a:ext uri="{FF2B5EF4-FFF2-40B4-BE49-F238E27FC236}">
                <a16:creationId xmlns:a16="http://schemas.microsoft.com/office/drawing/2014/main" id="{7A961E14-D404-900E-7EDB-3F6C56941929}"/>
              </a:ext>
            </a:extLst>
          </p:cNvPr>
          <p:cNvSpPr/>
          <p:nvPr/>
        </p:nvSpPr>
        <p:spPr>
          <a:xfrm>
            <a:off x="381000" y="681377"/>
            <a:ext cx="537822" cy="537823"/>
          </a:xfrm>
          <a:prstGeom prst="rect">
            <a:avLst/>
          </a:prstGeom>
          <a:solidFill>
            <a:srgbClr val="003366"/>
          </a:solidFill>
          <a:ln w="12700" cap="flat">
            <a:noFill/>
            <a:miter lim="400000"/>
          </a:ln>
          <a:effectLst/>
        </p:spPr>
        <p:txBody>
          <a:bodyPr wrap="square" lIns="34289" tIns="34289" rIns="34289" bIns="34289" numCol="1" anchor="ctr">
            <a:noAutofit/>
          </a:bodyPr>
          <a:lstStyle/>
          <a:p>
            <a:pPr eaLnBrk="1" hangingPunct="1"/>
            <a:r>
              <a:rPr lang="en-US" sz="2400" b="1">
                <a:solidFill>
                  <a:srgbClr val="FFFFFF"/>
                </a:solidFill>
                <a:latin typeface="+mj-lt"/>
                <a:ea typeface="+mn-ea"/>
              </a:rPr>
              <a:t>01</a:t>
            </a:r>
            <a:endParaRPr sz="2400" b="1">
              <a:solidFill>
                <a:srgbClr val="FFFFFF"/>
              </a:solidFill>
              <a:latin typeface="+mj-lt"/>
              <a:ea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83D0FA-0ACB-2435-636E-067B67BB6368}"/>
              </a:ext>
            </a:extLst>
          </p:cNvPr>
          <p:cNvSpPr txBox="1"/>
          <p:nvPr/>
        </p:nvSpPr>
        <p:spPr>
          <a:xfrm>
            <a:off x="190392" y="6580800"/>
            <a:ext cx="5329728" cy="276999"/>
          </a:xfrm>
          <a:prstGeom prst="rect">
            <a:avLst/>
          </a:prstGeom>
          <a:solidFill>
            <a:srgbClr val="28C0BB"/>
          </a:solidFill>
        </p:spPr>
        <p:txBody>
          <a:bodyPr wrap="none" rtlCol="0">
            <a:spAutoFit/>
          </a:bodyPr>
          <a:lstStyle/>
          <a:p>
            <a:r>
              <a:rPr lang="tr-TR" sz="1200" dirty="0">
                <a:solidFill>
                  <a:schemeClr val="tx1"/>
                </a:solidFill>
              </a:rPr>
              <a:t>Doç. Dr. Asım Sinan Yüksel / Web Teknolojileri ve Programlama, 2023-2024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4D58AEF-A407-8226-FA71-850B426C23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/>
              <a:t>Adımlar:</a:t>
            </a:r>
          </a:p>
          <a:p>
            <a:pPr lvl="1"/>
            <a:r>
              <a:rPr lang="tr-TR" dirty="0"/>
              <a:t>2. Aktarılacak değer için Provider oluşturma.</a:t>
            </a:r>
          </a:p>
          <a:p>
            <a:pPr lvl="1"/>
            <a:endParaRPr lang="tr-TR" dirty="0"/>
          </a:p>
          <a:p>
            <a:pPr lvl="1"/>
            <a:endParaRPr lang="tr-TR" dirty="0"/>
          </a:p>
          <a:p>
            <a:pPr lvl="1"/>
            <a:endParaRPr lang="tr-TR" dirty="0"/>
          </a:p>
          <a:p>
            <a:pPr lvl="1"/>
            <a:endParaRPr lang="tr-TR" dirty="0"/>
          </a:p>
          <a:p>
            <a:pPr lvl="1"/>
            <a:endParaRPr lang="tr-TR" dirty="0"/>
          </a:p>
          <a:p>
            <a:pPr lvl="1"/>
            <a:endParaRPr lang="tr-TR" dirty="0"/>
          </a:p>
          <a:p>
            <a:pPr lvl="1"/>
            <a:endParaRPr lang="tr-TR" dirty="0"/>
          </a:p>
          <a:p>
            <a:pPr lvl="1"/>
            <a:endParaRPr lang="tr-TR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6404D6E-B128-CF60-0B96-26AEE46B77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914" y="2212522"/>
            <a:ext cx="7772400" cy="3654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24915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1DB401-D12E-203E-8288-D6056CD3F8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2D1C49B-3573-7791-D1F7-C3B366BB0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81077"/>
            <a:ext cx="8153400" cy="553998"/>
          </a:xfrm>
        </p:spPr>
        <p:txBody>
          <a:bodyPr/>
          <a:lstStyle/>
          <a:p>
            <a:r>
              <a:rPr lang="tr-TR" dirty="0" err="1"/>
              <a:t>Context</a:t>
            </a:r>
            <a:endParaRPr lang="tr-TR" dirty="0"/>
          </a:p>
        </p:txBody>
      </p:sp>
      <p:sp>
        <p:nvSpPr>
          <p:cNvPr id="5" name="Shape 267">
            <a:extLst>
              <a:ext uri="{FF2B5EF4-FFF2-40B4-BE49-F238E27FC236}">
                <a16:creationId xmlns:a16="http://schemas.microsoft.com/office/drawing/2014/main" id="{DB8A7A17-2891-61A9-E5C9-84D14CFD3105}"/>
              </a:ext>
            </a:extLst>
          </p:cNvPr>
          <p:cNvSpPr/>
          <p:nvPr/>
        </p:nvSpPr>
        <p:spPr>
          <a:xfrm>
            <a:off x="381000" y="681377"/>
            <a:ext cx="537822" cy="537823"/>
          </a:xfrm>
          <a:prstGeom prst="rect">
            <a:avLst/>
          </a:prstGeom>
          <a:solidFill>
            <a:srgbClr val="003366"/>
          </a:solidFill>
          <a:ln w="12700" cap="flat">
            <a:noFill/>
            <a:miter lim="400000"/>
          </a:ln>
          <a:effectLst/>
        </p:spPr>
        <p:txBody>
          <a:bodyPr wrap="square" lIns="34289" tIns="34289" rIns="34289" bIns="34289" numCol="1" anchor="ctr">
            <a:noAutofit/>
          </a:bodyPr>
          <a:lstStyle/>
          <a:p>
            <a:pPr eaLnBrk="1" hangingPunct="1"/>
            <a:r>
              <a:rPr lang="en-US" sz="2400" b="1">
                <a:solidFill>
                  <a:srgbClr val="FFFFFF"/>
                </a:solidFill>
                <a:latin typeface="+mj-lt"/>
                <a:ea typeface="+mn-ea"/>
              </a:rPr>
              <a:t>01</a:t>
            </a:r>
            <a:endParaRPr sz="2400" b="1">
              <a:solidFill>
                <a:srgbClr val="FFFFFF"/>
              </a:solidFill>
              <a:latin typeface="+mj-lt"/>
              <a:ea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38BB94-F01F-BA3E-F1A3-0E82A7EC91C6}"/>
              </a:ext>
            </a:extLst>
          </p:cNvPr>
          <p:cNvSpPr txBox="1"/>
          <p:nvPr/>
        </p:nvSpPr>
        <p:spPr>
          <a:xfrm>
            <a:off x="190392" y="6580800"/>
            <a:ext cx="5329728" cy="276999"/>
          </a:xfrm>
          <a:prstGeom prst="rect">
            <a:avLst/>
          </a:prstGeom>
          <a:solidFill>
            <a:srgbClr val="28C0BB"/>
          </a:solidFill>
        </p:spPr>
        <p:txBody>
          <a:bodyPr wrap="none" rtlCol="0">
            <a:spAutoFit/>
          </a:bodyPr>
          <a:lstStyle/>
          <a:p>
            <a:r>
              <a:rPr lang="tr-TR" sz="1200" dirty="0">
                <a:solidFill>
                  <a:schemeClr val="tx1"/>
                </a:solidFill>
              </a:rPr>
              <a:t>Doç. Dr. Asım Sinan Yüksel / Web Teknolojileri ve Programlama, 2023-2024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A8700B6-5D3C-786F-649D-DFC8B1A6AE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/>
              <a:t>Adımlar:</a:t>
            </a:r>
          </a:p>
          <a:p>
            <a:pPr lvl="1"/>
            <a:r>
              <a:rPr lang="tr-TR" dirty="0"/>
              <a:t>3. Provider bileşenini uygulamanızın üst seviyesinde kullanarak, alt bileşenlerin bu veriye erişmesini sağlama</a:t>
            </a:r>
          </a:p>
          <a:p>
            <a:pPr lvl="1"/>
            <a:endParaRPr lang="tr-TR" dirty="0"/>
          </a:p>
          <a:p>
            <a:pPr lvl="1"/>
            <a:endParaRPr lang="tr-TR" dirty="0"/>
          </a:p>
          <a:p>
            <a:pPr marL="457200" lvl="1" indent="0">
              <a:buNone/>
            </a:pPr>
            <a:endParaRPr lang="tr-TR" dirty="0"/>
          </a:p>
          <a:p>
            <a:pPr lvl="1"/>
            <a:r>
              <a:rPr lang="tr-TR" dirty="0"/>
              <a:t>4. 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Alt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bileşen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 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useContext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 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hook'unu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kullanarak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Context'te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sağlanan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verilere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erişebilir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tr-TR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/>
            <a:endParaRPr lang="tr-TR" dirty="0"/>
          </a:p>
          <a:p>
            <a:pPr lvl="1"/>
            <a:endParaRPr lang="tr-TR" dirty="0"/>
          </a:p>
          <a:p>
            <a:pPr lvl="1"/>
            <a:endParaRPr lang="tr-TR" dirty="0"/>
          </a:p>
          <a:p>
            <a:pPr lvl="1"/>
            <a:endParaRPr lang="tr-TR" dirty="0"/>
          </a:p>
          <a:p>
            <a:pPr lvl="1"/>
            <a:endParaRPr lang="tr-TR" dirty="0"/>
          </a:p>
          <a:p>
            <a:pPr lvl="1"/>
            <a:endParaRPr lang="tr-TR" dirty="0"/>
          </a:p>
          <a:p>
            <a:pPr lvl="1"/>
            <a:endParaRPr lang="tr-TR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264E452-F2DA-1B33-58E4-52B53C1B85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514600"/>
            <a:ext cx="7772400" cy="84983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84766BF-AC66-6CF1-01F2-BE94A347F4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511" y="4038600"/>
            <a:ext cx="7008834" cy="19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32146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914400" y="681077"/>
            <a:ext cx="8153400" cy="553998"/>
          </a:xfrm>
        </p:spPr>
        <p:txBody>
          <a:bodyPr/>
          <a:lstStyle/>
          <a:p>
            <a:r>
              <a:rPr lang="tr-TR" dirty="0" err="1"/>
              <a:t>Composition</a:t>
            </a:r>
            <a:endParaRPr lang="tr-TR" dirty="0"/>
          </a:p>
        </p:txBody>
      </p:sp>
      <p:sp>
        <p:nvSpPr>
          <p:cNvPr id="5" name="Shape 267"/>
          <p:cNvSpPr/>
          <p:nvPr/>
        </p:nvSpPr>
        <p:spPr>
          <a:xfrm>
            <a:off x="381000" y="681377"/>
            <a:ext cx="537822" cy="537823"/>
          </a:xfrm>
          <a:prstGeom prst="rect">
            <a:avLst/>
          </a:prstGeom>
          <a:solidFill>
            <a:srgbClr val="003366"/>
          </a:solidFill>
          <a:ln w="12700" cap="flat">
            <a:noFill/>
            <a:miter lim="400000"/>
          </a:ln>
          <a:effectLst/>
        </p:spPr>
        <p:txBody>
          <a:bodyPr wrap="square" lIns="34289" tIns="34289" rIns="34289" bIns="34289" numCol="1" anchor="ctr">
            <a:noAutofit/>
          </a:bodyPr>
          <a:lstStyle/>
          <a:p>
            <a:pPr eaLnBrk="1" hangingPunct="1"/>
            <a:r>
              <a:rPr lang="en-US" sz="2400" b="1">
                <a:solidFill>
                  <a:srgbClr val="FFFFFF"/>
                </a:solidFill>
                <a:latin typeface="+mj-lt"/>
                <a:ea typeface="+mn-ea"/>
              </a:rPr>
              <a:t>01</a:t>
            </a:r>
            <a:endParaRPr sz="2400" b="1">
              <a:solidFill>
                <a:srgbClr val="FFFFFF"/>
              </a:solidFill>
              <a:latin typeface="+mj-lt"/>
              <a:ea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FBEC9D-48EB-B87D-5250-43B069B57152}"/>
              </a:ext>
            </a:extLst>
          </p:cNvPr>
          <p:cNvSpPr txBox="1"/>
          <p:nvPr/>
        </p:nvSpPr>
        <p:spPr>
          <a:xfrm>
            <a:off x="190392" y="6580800"/>
            <a:ext cx="5329728" cy="276999"/>
          </a:xfrm>
          <a:prstGeom prst="rect">
            <a:avLst/>
          </a:prstGeom>
          <a:solidFill>
            <a:srgbClr val="28C0BB"/>
          </a:solidFill>
        </p:spPr>
        <p:txBody>
          <a:bodyPr wrap="none" rtlCol="0">
            <a:spAutoFit/>
          </a:bodyPr>
          <a:lstStyle/>
          <a:p>
            <a:r>
              <a:rPr lang="tr-TR" sz="1200" dirty="0">
                <a:solidFill>
                  <a:schemeClr val="tx1"/>
                </a:solidFill>
              </a:rPr>
              <a:t>Doç. Dr. Asım Sinan Yüksel / Web Teknolojileri ve Programlama, 2023-2024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B669A75-A87F-FD55-F7A5-D2CC8D9035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sz="2100" dirty="0" err="1"/>
              <a:t>Context</a:t>
            </a:r>
            <a:r>
              <a:rPr lang="tr-TR" sz="2100" dirty="0"/>
              <a:t>, bazı verilerin farklı hiyerarşik düzeylerde birçok bileşen tarafından erişilebilir olması gerektiğinde öncelikli olarak kullanılır.</a:t>
            </a:r>
          </a:p>
          <a:p>
            <a:r>
              <a:rPr lang="tr-TR" sz="2100" dirty="0"/>
              <a:t>Ancak, bileşenlerden herhangi birini </a:t>
            </a:r>
            <a:r>
              <a:rPr lang="tr-TR" sz="2100" dirty="0" err="1"/>
              <a:t>Context</a:t>
            </a:r>
            <a:r>
              <a:rPr lang="tr-TR" sz="2100" dirty="0"/>
              <a:t> Provider sınırları dışında kullanılmak istendiğinde problem meydana gelecektir.</a:t>
            </a:r>
          </a:p>
          <a:p>
            <a:r>
              <a:rPr lang="tr-TR" sz="2100" dirty="0"/>
              <a:t>Dolayısıyla </a:t>
            </a:r>
            <a:r>
              <a:rPr lang="tr-TR" sz="2100" dirty="0" err="1"/>
              <a:t>Context</a:t>
            </a:r>
            <a:r>
              <a:rPr lang="tr-TR" sz="2100" dirty="0"/>
              <a:t> API bileşenin yeniden kullanımını (</a:t>
            </a:r>
            <a:r>
              <a:rPr lang="tr-TR" sz="2100" dirty="0" err="1"/>
              <a:t>reusability</a:t>
            </a:r>
            <a:r>
              <a:rPr lang="tr-TR" sz="2100" dirty="0"/>
              <a:t>) daha zor hale getirecektir. O nedenle seyrek uygulayın.</a:t>
            </a:r>
          </a:p>
          <a:p>
            <a:r>
              <a:rPr lang="tr-TR" sz="2100" dirty="0"/>
              <a:t>Sadece </a:t>
            </a:r>
            <a:r>
              <a:rPr lang="tr-TR" sz="2100" dirty="0" err="1"/>
              <a:t>propsları</a:t>
            </a:r>
            <a:r>
              <a:rPr lang="tr-TR" sz="2100" dirty="0"/>
              <a:t> birçok düzeyden aşağıya doğru geçirmek istemiyorsanız, </a:t>
            </a:r>
            <a:r>
              <a:rPr lang="tr-TR" sz="2100" dirty="0" err="1"/>
              <a:t>composition</a:t>
            </a:r>
            <a:r>
              <a:rPr lang="tr-TR" sz="2100" dirty="0"/>
              <a:t> genellikle </a:t>
            </a:r>
            <a:r>
              <a:rPr lang="tr-TR" sz="2100" dirty="0" err="1"/>
              <a:t>context</a:t>
            </a:r>
            <a:r>
              <a:rPr lang="tr-TR" sz="2100" dirty="0"/>
              <a:t> den daha basit ve etkili bir çözümdür.</a:t>
            </a:r>
          </a:p>
          <a:p>
            <a:r>
              <a:rPr lang="tr-TR" sz="2100" dirty="0" err="1"/>
              <a:t>React</a:t>
            </a:r>
            <a:r>
              <a:rPr lang="tr-TR" sz="2100" dirty="0"/>
              <a:t> uygulamaları geliştirirken, neredeyse bağımsız Lego blokları gibi görülebilen, birden fazla yeniden kullanılabilir bileşen oluşturmalıyız.</a:t>
            </a:r>
          </a:p>
          <a:p>
            <a:r>
              <a:rPr lang="tr-TR" sz="2100" dirty="0"/>
              <a:t>Her Lego bloğu (bileşeni), son arayüzümüzün bir parçası olarak kabul edilir ve birleştirildiğinde veya bir araya getirildiğinde uygulamamızın tam arayüzünü oluşturur.</a:t>
            </a:r>
          </a:p>
        </p:txBody>
      </p:sp>
    </p:spTree>
    <p:extLst>
      <p:ext uri="{BB962C8B-B14F-4D97-AF65-F5344CB8AC3E}">
        <p14:creationId xmlns:p14="http://schemas.microsoft.com/office/powerpoint/2010/main" val="39113316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CD340C-2D60-E5AC-1C85-34882ED55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438BF52-40AE-2087-FE5F-1E97664AFE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81077"/>
            <a:ext cx="8153400" cy="553998"/>
          </a:xfrm>
        </p:spPr>
        <p:txBody>
          <a:bodyPr/>
          <a:lstStyle/>
          <a:p>
            <a:r>
              <a:rPr lang="tr-TR" dirty="0" err="1"/>
              <a:t>Composition</a:t>
            </a:r>
            <a:endParaRPr lang="tr-TR" dirty="0"/>
          </a:p>
        </p:txBody>
      </p:sp>
      <p:sp>
        <p:nvSpPr>
          <p:cNvPr id="5" name="Shape 267">
            <a:extLst>
              <a:ext uri="{FF2B5EF4-FFF2-40B4-BE49-F238E27FC236}">
                <a16:creationId xmlns:a16="http://schemas.microsoft.com/office/drawing/2014/main" id="{1513CDAD-C1C6-04E3-6666-C9DBAF99800C}"/>
              </a:ext>
            </a:extLst>
          </p:cNvPr>
          <p:cNvSpPr/>
          <p:nvPr/>
        </p:nvSpPr>
        <p:spPr>
          <a:xfrm>
            <a:off x="381000" y="681377"/>
            <a:ext cx="537822" cy="537823"/>
          </a:xfrm>
          <a:prstGeom prst="rect">
            <a:avLst/>
          </a:prstGeom>
          <a:solidFill>
            <a:srgbClr val="003366"/>
          </a:solidFill>
          <a:ln w="12700" cap="flat">
            <a:noFill/>
            <a:miter lim="400000"/>
          </a:ln>
          <a:effectLst/>
        </p:spPr>
        <p:txBody>
          <a:bodyPr wrap="square" lIns="34289" tIns="34289" rIns="34289" bIns="34289" numCol="1" anchor="ctr">
            <a:noAutofit/>
          </a:bodyPr>
          <a:lstStyle/>
          <a:p>
            <a:pPr eaLnBrk="1" hangingPunct="1"/>
            <a:r>
              <a:rPr lang="en-US" sz="2400" b="1">
                <a:solidFill>
                  <a:srgbClr val="FFFFFF"/>
                </a:solidFill>
                <a:latin typeface="+mj-lt"/>
                <a:ea typeface="+mn-ea"/>
              </a:rPr>
              <a:t>01</a:t>
            </a:r>
            <a:endParaRPr sz="2400" b="1">
              <a:solidFill>
                <a:srgbClr val="FFFFFF"/>
              </a:solidFill>
              <a:latin typeface="+mj-lt"/>
              <a:ea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B36353-4948-0155-049B-93A85C59E60C}"/>
              </a:ext>
            </a:extLst>
          </p:cNvPr>
          <p:cNvSpPr txBox="1"/>
          <p:nvPr/>
        </p:nvSpPr>
        <p:spPr>
          <a:xfrm>
            <a:off x="190392" y="6580800"/>
            <a:ext cx="5329728" cy="276999"/>
          </a:xfrm>
          <a:prstGeom prst="rect">
            <a:avLst/>
          </a:prstGeom>
          <a:solidFill>
            <a:srgbClr val="28C0BB"/>
          </a:solidFill>
        </p:spPr>
        <p:txBody>
          <a:bodyPr wrap="none" rtlCol="0">
            <a:spAutoFit/>
          </a:bodyPr>
          <a:lstStyle/>
          <a:p>
            <a:r>
              <a:rPr lang="tr-TR" sz="1200" dirty="0">
                <a:solidFill>
                  <a:schemeClr val="tx1"/>
                </a:solidFill>
              </a:rPr>
              <a:t>Doç. Dr. Asım Sinan Yüksel / Web Teknolojileri ve Programlama, 2023-2024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4205452-A2AD-9D6C-63D1-82B43A3482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sz="2100" dirty="0"/>
              <a:t>Bileşenlerin Lego blokları şeklinde bir araya getirilmesi işlemine bileşen kompozisyonu (</a:t>
            </a:r>
            <a:r>
              <a:rPr lang="tr-TR" sz="2100" dirty="0" err="1"/>
              <a:t>component</a:t>
            </a:r>
            <a:r>
              <a:rPr lang="tr-TR" sz="2100" dirty="0"/>
              <a:t> </a:t>
            </a:r>
            <a:r>
              <a:rPr lang="tr-TR" sz="2100" dirty="0" err="1"/>
              <a:t>composition</a:t>
            </a:r>
            <a:r>
              <a:rPr lang="tr-TR" sz="2100" dirty="0"/>
              <a:t>) denir.</a:t>
            </a:r>
          </a:p>
          <a:p>
            <a:r>
              <a:rPr lang="tr-TR" sz="2100" dirty="0" err="1"/>
              <a:t>Composition</a:t>
            </a:r>
            <a:r>
              <a:rPr lang="tr-TR" sz="2100" dirty="0"/>
              <a:t> 2 şekilde yapılabilir:</a:t>
            </a:r>
          </a:p>
          <a:p>
            <a:pPr lvl="1"/>
            <a:r>
              <a:rPr lang="tr-TR" sz="1700" b="1" dirty="0"/>
              <a:t>1. </a:t>
            </a:r>
            <a:r>
              <a:rPr lang="tr-TR" sz="1700" dirty="0"/>
              <a:t>Bir veya daha fazla bileşeni, o bileşenin özelliği olarak başka bir bileşene geçirerek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280BB09-BFA5-1F59-0639-476E567955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3224349"/>
            <a:ext cx="6096000" cy="2939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22446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44FB68-AFAB-F1F4-F522-0C85405D24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A49C569-9560-1F9A-4DEC-D571894C81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81077"/>
            <a:ext cx="8153400" cy="553998"/>
          </a:xfrm>
        </p:spPr>
        <p:txBody>
          <a:bodyPr/>
          <a:lstStyle/>
          <a:p>
            <a:r>
              <a:rPr lang="tr-TR" dirty="0" err="1"/>
              <a:t>Composition</a:t>
            </a:r>
            <a:endParaRPr lang="tr-TR" dirty="0"/>
          </a:p>
        </p:txBody>
      </p:sp>
      <p:sp>
        <p:nvSpPr>
          <p:cNvPr id="5" name="Shape 267">
            <a:extLst>
              <a:ext uri="{FF2B5EF4-FFF2-40B4-BE49-F238E27FC236}">
                <a16:creationId xmlns:a16="http://schemas.microsoft.com/office/drawing/2014/main" id="{71E77309-D251-1F7D-A3D5-1E14A7F80248}"/>
              </a:ext>
            </a:extLst>
          </p:cNvPr>
          <p:cNvSpPr/>
          <p:nvPr/>
        </p:nvSpPr>
        <p:spPr>
          <a:xfrm>
            <a:off x="381000" y="681377"/>
            <a:ext cx="537822" cy="537823"/>
          </a:xfrm>
          <a:prstGeom prst="rect">
            <a:avLst/>
          </a:prstGeom>
          <a:solidFill>
            <a:srgbClr val="003366"/>
          </a:solidFill>
          <a:ln w="12700" cap="flat">
            <a:noFill/>
            <a:miter lim="400000"/>
          </a:ln>
          <a:effectLst/>
        </p:spPr>
        <p:txBody>
          <a:bodyPr wrap="square" lIns="34289" tIns="34289" rIns="34289" bIns="34289" numCol="1" anchor="ctr">
            <a:noAutofit/>
          </a:bodyPr>
          <a:lstStyle/>
          <a:p>
            <a:pPr eaLnBrk="1" hangingPunct="1"/>
            <a:r>
              <a:rPr lang="en-US" sz="2400" b="1">
                <a:solidFill>
                  <a:srgbClr val="FFFFFF"/>
                </a:solidFill>
                <a:latin typeface="+mj-lt"/>
                <a:ea typeface="+mn-ea"/>
              </a:rPr>
              <a:t>01</a:t>
            </a:r>
            <a:endParaRPr sz="2400" b="1">
              <a:solidFill>
                <a:srgbClr val="FFFFFF"/>
              </a:solidFill>
              <a:latin typeface="+mj-lt"/>
              <a:ea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C84A96-4046-0C81-D74B-44678DA2892D}"/>
              </a:ext>
            </a:extLst>
          </p:cNvPr>
          <p:cNvSpPr txBox="1"/>
          <p:nvPr/>
        </p:nvSpPr>
        <p:spPr>
          <a:xfrm>
            <a:off x="190392" y="6580800"/>
            <a:ext cx="5329728" cy="276999"/>
          </a:xfrm>
          <a:prstGeom prst="rect">
            <a:avLst/>
          </a:prstGeom>
          <a:solidFill>
            <a:srgbClr val="28C0BB"/>
          </a:solidFill>
        </p:spPr>
        <p:txBody>
          <a:bodyPr wrap="none" rtlCol="0">
            <a:spAutoFit/>
          </a:bodyPr>
          <a:lstStyle/>
          <a:p>
            <a:r>
              <a:rPr lang="tr-TR" sz="1200" dirty="0">
                <a:solidFill>
                  <a:schemeClr val="tx1"/>
                </a:solidFill>
              </a:rPr>
              <a:t>Doç. Dr. Asım Sinan Yüksel / Web Teknolojileri ve Programlama, 2023-2024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B54EB62-0F34-BC76-21E4-1FBF8622F7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7150" indent="0">
              <a:buNone/>
            </a:pPr>
            <a:r>
              <a:rPr lang="tr-TR" sz="2100" b="1" dirty="0"/>
              <a:t>2. </a:t>
            </a:r>
            <a:r>
              <a:rPr lang="tr-TR" sz="2100" dirty="0"/>
              <a:t>Bir ana bileşeni bir veya daha fazla alt bileşenin etrafına sararak (</a:t>
            </a:r>
            <a:r>
              <a:rPr lang="tr-TR" sz="2100" dirty="0" err="1"/>
              <a:t>wrapping</a:t>
            </a:r>
            <a:r>
              <a:rPr lang="tr-TR" sz="2100" dirty="0"/>
              <a:t>) ve ardından bu alt bileşenleri varsayılan </a:t>
            </a:r>
            <a:r>
              <a:rPr lang="tr-TR" sz="2100" dirty="0" err="1"/>
              <a:t>children</a:t>
            </a:r>
            <a:r>
              <a:rPr lang="tr-TR" sz="2100" dirty="0"/>
              <a:t> özelliğini kullanarak</a:t>
            </a:r>
          </a:p>
          <a:p>
            <a:pPr lvl="1"/>
            <a:endParaRPr lang="tr-TR" sz="17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5626A48-3EF1-3324-79EC-F591AC2D14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3600" y="2133600"/>
            <a:ext cx="4114799" cy="4302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9027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E22B56-3D4D-6516-4023-3E41C9CCA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0FDA260-C10B-C1BD-9C67-C95688363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81077"/>
            <a:ext cx="8153400" cy="553998"/>
          </a:xfrm>
        </p:spPr>
        <p:txBody>
          <a:bodyPr/>
          <a:lstStyle/>
          <a:p>
            <a:r>
              <a:rPr lang="tr-TR" dirty="0" err="1"/>
              <a:t>Composition</a:t>
            </a:r>
            <a:endParaRPr lang="tr-TR" dirty="0"/>
          </a:p>
        </p:txBody>
      </p:sp>
      <p:sp>
        <p:nvSpPr>
          <p:cNvPr id="5" name="Shape 267">
            <a:extLst>
              <a:ext uri="{FF2B5EF4-FFF2-40B4-BE49-F238E27FC236}">
                <a16:creationId xmlns:a16="http://schemas.microsoft.com/office/drawing/2014/main" id="{B0069E76-1137-033F-CE38-15D0A66843C3}"/>
              </a:ext>
            </a:extLst>
          </p:cNvPr>
          <p:cNvSpPr/>
          <p:nvPr/>
        </p:nvSpPr>
        <p:spPr>
          <a:xfrm>
            <a:off x="381000" y="681377"/>
            <a:ext cx="537822" cy="537823"/>
          </a:xfrm>
          <a:prstGeom prst="rect">
            <a:avLst/>
          </a:prstGeom>
          <a:solidFill>
            <a:srgbClr val="003366"/>
          </a:solidFill>
          <a:ln w="12700" cap="flat">
            <a:noFill/>
            <a:miter lim="400000"/>
          </a:ln>
          <a:effectLst/>
        </p:spPr>
        <p:txBody>
          <a:bodyPr wrap="square" lIns="34289" tIns="34289" rIns="34289" bIns="34289" numCol="1" anchor="ctr">
            <a:noAutofit/>
          </a:bodyPr>
          <a:lstStyle/>
          <a:p>
            <a:pPr eaLnBrk="1" hangingPunct="1"/>
            <a:r>
              <a:rPr lang="en-US" sz="2400" b="1">
                <a:solidFill>
                  <a:srgbClr val="FFFFFF"/>
                </a:solidFill>
                <a:latin typeface="+mj-lt"/>
                <a:ea typeface="+mn-ea"/>
              </a:rPr>
              <a:t>01</a:t>
            </a:r>
            <a:endParaRPr sz="2400" b="1">
              <a:solidFill>
                <a:srgbClr val="FFFFFF"/>
              </a:solidFill>
              <a:latin typeface="+mj-lt"/>
              <a:ea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183C0F-AA9E-2962-6D79-97FDF5657DFC}"/>
              </a:ext>
            </a:extLst>
          </p:cNvPr>
          <p:cNvSpPr txBox="1"/>
          <p:nvPr/>
        </p:nvSpPr>
        <p:spPr>
          <a:xfrm>
            <a:off x="190392" y="6580800"/>
            <a:ext cx="5329728" cy="276999"/>
          </a:xfrm>
          <a:prstGeom prst="rect">
            <a:avLst/>
          </a:prstGeom>
          <a:solidFill>
            <a:srgbClr val="28C0BB"/>
          </a:solidFill>
        </p:spPr>
        <p:txBody>
          <a:bodyPr wrap="none" rtlCol="0">
            <a:spAutoFit/>
          </a:bodyPr>
          <a:lstStyle/>
          <a:p>
            <a:r>
              <a:rPr lang="tr-TR" sz="1200" dirty="0">
                <a:solidFill>
                  <a:schemeClr val="tx1"/>
                </a:solidFill>
              </a:rPr>
              <a:t>Doç. Dr. Asım Sinan Yüksel / Web Teknolojileri ve Programlama, 2023-2024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23BAE77-048C-C37D-AA70-D93EBC0B27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sz="2100" dirty="0"/>
              <a:t>Faydaları:</a:t>
            </a:r>
          </a:p>
          <a:p>
            <a:pPr lvl="1"/>
            <a:r>
              <a:rPr lang="tr-TR" sz="1700" dirty="0"/>
              <a:t>Bileşenlerimizin yeniden kullanılabilirliğini sağlar.</a:t>
            </a:r>
          </a:p>
          <a:p>
            <a:pPr lvl="1"/>
            <a:r>
              <a:rPr lang="tr-TR" sz="1700" dirty="0"/>
              <a:t>Harici kütüphaneler olmadan varsayılan </a:t>
            </a:r>
            <a:r>
              <a:rPr lang="tr-TR" sz="1700" dirty="0" err="1"/>
              <a:t>props</a:t>
            </a:r>
            <a:r>
              <a:rPr lang="tr-TR" sz="1700" dirty="0"/>
              <a:t> </a:t>
            </a:r>
            <a:r>
              <a:rPr lang="tr-TR" sz="1700" dirty="0" err="1"/>
              <a:t>drilling</a:t>
            </a:r>
            <a:r>
              <a:rPr lang="tr-TR" sz="1700" dirty="0"/>
              <a:t> sorununu kolayca çözer.</a:t>
            </a:r>
          </a:p>
          <a:p>
            <a:pPr lvl="1"/>
            <a:r>
              <a:rPr lang="tr-TR" sz="1700" dirty="0"/>
              <a:t>Bileşenlerimizin çoğunu kök seviyeye taşıyarak ve çeşitli kompozisyon yöntemlerini akıllıca birleştirerek, durum yönetimi için etkili bir alternatif olabilir.</a:t>
            </a:r>
          </a:p>
          <a:p>
            <a:pPr lvl="1"/>
            <a:r>
              <a:rPr lang="tr-TR" sz="1700" dirty="0"/>
              <a:t>Kompozisyon, kodunuzu daha öngörülebilir ve hata ayıklaması daha kolay hale getirir.</a:t>
            </a:r>
          </a:p>
          <a:p>
            <a:pPr lvl="1"/>
            <a:r>
              <a:rPr lang="tr-TR" sz="1700" dirty="0"/>
              <a:t>Durum ve işlevleri diğer bileşenlerle paylaşma yeteneğini kolayca geliştirir.</a:t>
            </a:r>
          </a:p>
          <a:p>
            <a:pPr lvl="1"/>
            <a:r>
              <a:rPr lang="tr-TR" sz="1700" dirty="0"/>
              <a:t>Arayüzler oluşturmanın </a:t>
            </a:r>
            <a:r>
              <a:rPr lang="tr-TR" sz="1700"/>
              <a:t>en iyi </a:t>
            </a:r>
            <a:r>
              <a:rPr lang="tr-TR" sz="1700" dirty="0" err="1"/>
              <a:t>React</a:t>
            </a:r>
            <a:r>
              <a:rPr lang="tr-TR" sz="1700" dirty="0"/>
              <a:t> yoludur.</a:t>
            </a:r>
          </a:p>
        </p:txBody>
      </p:sp>
    </p:spTree>
    <p:extLst>
      <p:ext uri="{BB962C8B-B14F-4D97-AF65-F5344CB8AC3E}">
        <p14:creationId xmlns:p14="http://schemas.microsoft.com/office/powerpoint/2010/main" val="248031090"/>
      </p:ext>
    </p:extLst>
  </p:cSld>
  <p:clrMapOvr>
    <a:masterClrMapping/>
  </p:clrMapOvr>
</p:sld>
</file>

<file path=ppt/theme/theme1.xml><?xml version="1.0" encoding="utf-8"?>
<a:theme xmlns:a="http://schemas.openxmlformats.org/drawingml/2006/main" name="Blank Presentation">
  <a:themeElements>
    <a:clrScheme name="Custom 1">
      <a:dk1>
        <a:srgbClr val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Blank Presentatio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4000" b="0" i="0" u="none" strike="noStrike" cap="none" normalizeH="0" baseline="0">
            <a:ln>
              <a:noFill/>
            </a:ln>
            <a:solidFill>
              <a:schemeClr val="bg1"/>
            </a:solidFill>
            <a:effectLst/>
            <a:latin typeface="Arial" pitchFamily="-110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4000" b="0" i="0" u="none" strike="noStrike" cap="none" normalizeH="0" baseline="0">
            <a:ln>
              <a:noFill/>
            </a:ln>
            <a:solidFill>
              <a:schemeClr val="bg1"/>
            </a:solidFill>
            <a:effectLst/>
            <a:latin typeface="Arial" pitchFamily="-110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Designs\Network Blitz.pot</Template>
  <TotalTime>21833</TotalTime>
  <Words>2211</Words>
  <Application>Microsoft Macintosh PowerPoint</Application>
  <PresentationFormat>On-screen Show (4:3)</PresentationFormat>
  <Paragraphs>288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Arial</vt:lpstr>
      <vt:lpstr>Tahoma</vt:lpstr>
      <vt:lpstr>Times</vt:lpstr>
      <vt:lpstr>Blank Presentation</vt:lpstr>
      <vt:lpstr>PowerPoint Presentation</vt:lpstr>
      <vt:lpstr>Asynchronous Data</vt:lpstr>
      <vt:lpstr>Asynchronous Data</vt:lpstr>
      <vt:lpstr>Asynchronous Data</vt:lpstr>
      <vt:lpstr>Conditional Rendering</vt:lpstr>
      <vt:lpstr>Conditional Rendering</vt:lpstr>
      <vt:lpstr>Conditional Rendering</vt:lpstr>
      <vt:lpstr>Reducer</vt:lpstr>
      <vt:lpstr>Recuder</vt:lpstr>
      <vt:lpstr>Reducer</vt:lpstr>
      <vt:lpstr>Reducer</vt:lpstr>
      <vt:lpstr>Reducer</vt:lpstr>
      <vt:lpstr>Data Fetching</vt:lpstr>
      <vt:lpstr>Memoized Function</vt:lpstr>
      <vt:lpstr>Memoized Functions</vt:lpstr>
      <vt:lpstr>Axios</vt:lpstr>
      <vt:lpstr>Axios</vt:lpstr>
      <vt:lpstr>Async/Await</vt:lpstr>
      <vt:lpstr>Async/Await</vt:lpstr>
      <vt:lpstr>Props Drilling</vt:lpstr>
      <vt:lpstr>Context</vt:lpstr>
      <vt:lpstr>Context</vt:lpstr>
      <vt:lpstr>Context</vt:lpstr>
      <vt:lpstr>Composition</vt:lpstr>
      <vt:lpstr>Composition</vt:lpstr>
      <vt:lpstr>Composition</vt:lpstr>
      <vt:lpstr>Composition</vt:lpstr>
    </vt:vector>
  </TitlesOfParts>
  <Company>TEES Communications Division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Amy Yarbrough</dc:creator>
  <cp:lastModifiedBy>Asım Sinan Yüksel</cp:lastModifiedBy>
  <cp:revision>3104</cp:revision>
  <cp:lastPrinted>1999-07-13T10:45:18Z</cp:lastPrinted>
  <dcterms:created xsi:type="dcterms:W3CDTF">1999-06-28T14:13:43Z</dcterms:created>
  <dcterms:modified xsi:type="dcterms:W3CDTF">2025-10-21T12:22:46Z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NewReviewCycle">
    <vt:lpwstr/>
  </property>
</Properties>
</file>